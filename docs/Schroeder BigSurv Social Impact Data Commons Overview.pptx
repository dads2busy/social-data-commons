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3"/>
    <p:sldMasterId id="2147483713" r:id="rId4"/>
    <p:sldMasterId id="2147483673" r:id="rId5"/>
    <p:sldMasterId id="2147483687" r:id="rId6"/>
    <p:sldMasterId id="2147483699" r:id="rId7"/>
    <p:sldMasterId id="2147483648" r:id="rId8"/>
  </p:sldMasterIdLst>
  <p:notesMasterIdLst>
    <p:notesMasterId r:id="rId30"/>
  </p:notesMasterIdLst>
  <p:sldIdLst>
    <p:sldId id="360" r:id="rId9"/>
    <p:sldId id="358" r:id="rId10"/>
    <p:sldId id="357" r:id="rId11"/>
    <p:sldId id="259" r:id="rId12"/>
    <p:sldId id="359" r:id="rId13"/>
    <p:sldId id="334" r:id="rId14"/>
    <p:sldId id="335" r:id="rId15"/>
    <p:sldId id="341" r:id="rId16"/>
    <p:sldId id="323" r:id="rId17"/>
    <p:sldId id="347" r:id="rId18"/>
    <p:sldId id="362" r:id="rId19"/>
    <p:sldId id="363" r:id="rId20"/>
    <p:sldId id="354" r:id="rId21"/>
    <p:sldId id="353" r:id="rId22"/>
    <p:sldId id="361" r:id="rId23"/>
    <p:sldId id="355" r:id="rId24"/>
    <p:sldId id="352" r:id="rId25"/>
    <p:sldId id="351" r:id="rId26"/>
    <p:sldId id="364" r:id="rId27"/>
    <p:sldId id="350" r:id="rId28"/>
    <p:sldId id="34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088B9-10D0-DEE5-D4C0-5097B0E37D79}" v="276" dt="2023-10-26T15:45:33.495"/>
    <p1510:client id="{6FFEB45C-8E5C-BF40-8BD4-6D8A39BB7ABD}" v="1" dt="2023-09-20T15:05:04.307"/>
    <p1510:client id="{8149330F-C160-E915-273F-DA01EB5EA525}" v="12" dt="2023-10-13T12:59:11.424"/>
    <p1510:client id="{AFB79931-3D2B-9C6D-AD11-5E83BBE773C8}" v="245" dt="2023-09-20T18:01:00.575"/>
    <p1510:client id="{E6148425-C063-C171-A991-E1938D081516}" v="31" dt="2023-09-27T19:54:53.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p:restoredTop sz="94726"/>
  </p:normalViewPr>
  <p:slideViewPr>
    <p:cSldViewPr snapToGrid="0">
      <p:cViewPr varScale="1">
        <p:scale>
          <a:sx n="116" d="100"/>
          <a:sy n="116" d="100"/>
        </p:scale>
        <p:origin x="9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1.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5.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Master" Target="slideMasters/slideMaster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16.355"/>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0 18 16383,'41'0'0,"-8"0"0,-17 0 0,-3 0 0,4 0 0,1 0 0,-1 0 0,0 0 0,5 0 0,-3 0 0,3 0 0,0 0 0,-3 0 0,8 0 0,-9 0 0,9 0 0,-8 0 0,8 0 0,-8 0 0,3 0 0,0 0 0,-3 0 0,3 0 0,-5 0 0,0 0 0,4 0 0,-3 0 0,-1 0 0,-1 0 0,-3 0 0,8 0 0,-3 0 0,-2 0 0,1 0 0,-4 0 0,4 0 0,0 0 0,0 0 0,1 0 0,-1 0 0,0 0 0,4 0 0,-3 0 0,3 0 0,-8 0 0,3 0 0,5 0 0,-6 0 0,9 0 0,-11 0 0,0 0 0,11 0 0,-9 0 0,10 0 0,-12 0 0,3 0 0,-3 4 0,4-3 0,1 3 0,-1-4 0,0 0 0,1 0 0,2 0 0,-6 0 0,6 0 0,-8 0 0,5 0 0,1 0 0,-5 0 0,9 0 0,-8 0 0,6 0 0,-2 0 0,-5 0 0,7 0 0,-7 0 0,3 0 0,2 0 0,-5 0 0,7 0 0,-3 0 0,0 0 0,1 0 0,-1 0 0,0 0 0,-1 0 0,0 0 0,-1 0 0,5 0 0,-3 0 0,4 0 0,-4 0 0,0 0 0,5-5 0,-8 4 0,8-7 0,-10 7 0,1-6 0,5 6 0,-6-2 0,11 3 0,-6 0 0,4 0 0,-8 0 0,3 0 0,0 0 0,-2 0 0,7 0 0,-9 6 0,3-4 0,3 4 0,-5-6 0,5 0 0,-2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33.569"/>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1 16383,'43'0'0,"-10"0"0,-16 0 0,-4 0 0,7 0 0,-2 0 0,3 0 0,-3 0 0,2 0 0,-2 0 0,-1 0 0,-1 0 0,-4 0 0,5 4 0,3-3 0,-6 3 0,9-4 0,-13 0 0,10 0 0,-4 0 0,-3 0 0,9 0 0,-9 3 0,2-2 0,3 2 0,-5-3 0,6 4 0,-3-3 0,-1 2 0,1-3 0,0 0 0,-1 0 0,1 0 0,-1 0 0,1 0 0,0 0 0,-1 0 0,1 0 0,-1 0 0,1 0 0,-1 0 0,1 0 0,-1 0 0,0 0 0,1 0 0,-1 0 0,5 0 0,-3 0 0,9 0 0,-8 0 0,4 0 0,1 0 0,-5 0 0,4 0 0,-4 0 0,-1 0 0,0 0 0,0 0 0,0 0 0,-1 0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37.460"/>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65 16383,'47'0'0,"-6"0"0,-24 0 0,5 0 0,-3 0 0,3 0 0,0 0 0,-3 0 0,3 0 0,0 0 0,-3 0 0,3 0 0,0 0 0,-4 0 0,10 0 0,-10 0 0,9 0 0,-8 0 0,8 0 0,-4 0 0,6 0 0,-6 0 0,4 0 0,-3 0 0,-1 0 0,4 0 0,-8 0 0,8 0 0,-8 0 0,3 0 0,-5 0 0,0 0 0,6 0 0,-5 0 0,4 0 0,-4 0 0,-1 0 0,3 0 0,-6-3 0,6 2 0,-8-3 0,5 4 0,-1 0 0,1-4 0,-1 3 0,0-2 0,1 3 0,-1 0 0,0 0 0,-1 0 0,1 0 0,3 0 0,-2 0 0,4 0 0,-4 0 0,1 0 0,-1 0 0,0 0 0,1 0 0,-1 0 0,-1 0 0,1 0 0,-2 0 0,5 0 0,-3 0 0,8 0 0,-6 0 0,8 0 0,2-5 0,1 0 0,4-1 0,-6-2 0,-4 6 0,-2-2 0,-5 4 0,1 0 0,-2 0 0,0 0 0,0 0 0,3 0 0,-6 0 0,6 0 0,-4 0 0,-2 0 0,9 0 0,-8 0 0,11-8 0,-2 6 0,11-7 0,-4 9 0,4 0 0,-5 0 0,-1 0 0,-5 0 0,0 0 0,-10 0 0,2 0 0,0 0 0,2 0 0,2 0 0,2 0 0,-2 0 0,3 0 0,-9 0 0,3 0 0,0 0 0,5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40.011"/>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 0 16383,'43'0'0,"-3"0"0,-31 0 0,7 0 0,0 0 0,-2 0 0,5 0 0,-7 0 0,3 0 0,9 0 0,-11 0 0,6 0 0,-4 0 0,-1 0 0,5 0 0,-3 0 0,0 0 0,1 0 0,5 0 0,-4 0 0,4 0 0,1 0 0,-9 0 0,7 0 0,-9 0 0,4 0 0,3 0 0,-7 0 0,8 0 0,-8 0 0,5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43.779"/>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 81 16383,'52'0'0,"-1"0"0,-33 0 0,9-5 0,-8 4 0,3-3 0,-5 4 0,6-4 0,-5 3 0,4-7 0,1 7 0,-5-7 0,9 7 0,-8-7 0,3 7 0,-5-2 0,1-1 0,-1 3 0,0-3 0,0 4 0,1 0 0,2 0 0,-1 0 0,-3 0 0,0 0 0,-3 0 0,5 0 0,2 0 0,-2 0 0,3 0 0,-8 0 0,3 0 0,5 0 0,-2 0 0,11 0 0,-12 0 0,9 0 0,-8 0 0,8 0 0,-9 0 0,10 0 0,-10 0 0,4 0 0,1 0 0,-5 0 0,4-4 0,-4 3 0,-1-3 0,0 1 0,0 2 0,1-3 0,-2 4 0,1 0 0,-2 0 0,5 0 0,-3 0 0,3 0 0,2 0 0,-3 0 0,8 0 0,-3 0 0,4 0 0,-5 0 0,4-5 0,-8 4 0,8-3 0,-8 4 0,3 0 0,0 0 0,-3 0 0,3 0 0,-5 0 0,0 0 0,1 0 0,-1 0 0,5 0 0,-3 0 0,3 0 0,-5 0 0,5 0 0,-4 0 0,5 0 0,-6 0 0,0 0 0,5 0 0,-3 0 0,8 0 0,-9 0 0,5 0 0,-10 0 0,2 0 0,1 0 0,-1 0 0,5 0 0,-4 0 0,6 0 0,7 0 0,1 0 0,10 0 0,-10 0 0,10 0 0,-11 0 0,5 0 0,-10 0 0,-2 0 0,-9 0 0,3 0 0,1 0 0,-3 0 0,5 0 0,-6 0 0,5 0 0,2 0 0,-2 0 0,3 0 0,-4 0 0,1 0 0,-2 0 0,1 0 0,-2 0 0,0 0 0,10 0 0,-2 0 0,8 0 0,4 0 0,-6 0 0,11 0 0,-10 0 0,4 0 0,-11 0 0,-1 0 0,-9 0 0,3 0 0,-1 0 0,4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47.744"/>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0 16383,'62'0'0,"-7"0"0,-27 0 0,1 0 0,-1 5 0,6-4 0,2 3 0,0-4 0,3 4 0,-9-2 0,10 2 0,-10-4 0,4 0 0,-5 0 0,-1 4 0,-5-3 0,5 4 0,-10-5 0,4 0 0,-9 3 0,4-2 0,-2 2 0,3 1 0,-2-3 0,4 3 0,-6 0 0,7-3 0,-4 3 0,0-4 0,5 0 0,-3 0 0,8 0 0,-4 0 0,6 0 0,5 0 0,-4 0 0,10 0 0,-11 0 0,11 0 0,-10 0 0,10 0 0,-4 0 0,-1 0 0,5 0 0,-10 0 0,4 0 0,-6 0 0,-4 0 0,3 0 0,-8 0 0,3 0 0,0 0 0,-3 0 0,3 0 0,-9 0 0,3 0 0,5 0 0,3 0 0,2 0 0,-4 0 0,0 0 0,2 0 0,4 0 0,1 0 0,-1 0 0,6 0 0,-5 0 0,5 0 0,0 0 0,-4 0 0,4 0 0,1 0 0,-6 0 0,6 0 0,-7 0 0,-5 0 0,5 0 0,-10 0 0,4 0 0,-4 0 0,-1 0 0,0 0 0,0 0 0,1 0 0,-1 0 0,5 0 0,-3 0 0,3 0 0,0 0 0,-3 0 0,3 0 0,-5 0 0,6 0 0,-5 0 0,4 0 0,-5 0 0,6 0 0,-5 0 0,4 0 0,1 0 0,-5 0 0,4 0 0,-4 0 0,-1 0 0,0 0 0,0 0 0,1 0 0,-1 0 0,0 0 0,4 0 0,-3 0 0,-1 0 0,-1 0 0,-3 0 0,4 0 0,4 0 0,-3 0 0,3 0 0,-8 0 0,3 0 0,-3-4 0,4 3 0,1-7 0,-1 7 0,0-3 0,0 1 0,1 2 0,-1-3 0,0 4 0,5 0 0,-7 0 0,6-4 0,-8 3 0,4-3 0,0 4 0,1 0 0,2 0 0,-6 0 0,6 0 0,-3 0 0,1 0 0,2 0 0,3 0 0,-5 0 0,4 0 0,1 0 0,-5 0 0,9 0 0,-8 0 0,3 0 0,-5 0 0,1 0 0,-1 0 0,0 0 0,5 0 0,-3 0 0,3 0 0,-5 0 0,1 0 0,4 0 0,-4 0 0,10 0 0,-10 0 0,9 0 0,-3 0 0,4 0 0,1 0 0,-1 0 0,0 0 0,-4 0 0,3 0 0,-3 0 0,-1 0 0,-1 0 0,-5 0 0,1 0 0,-1 0 0,0 0 0,1 0 0,2 0 0,-2 0 0,-1 0 0,-1 0 0,1 0 0,-3 0 0,5 0 0,-7 0 0,3 0 0,4 0 0,-7 0 0,7 0 0,-6 0 0,5 0 0,-1 0 0,0 0 0,0 0 0,1 0 0,-1 0 0,4 0 0,-3 0 0,3 0 0,-8 0 0,3 0 0,0 0 0,-3 0 0,9 0 0,-6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51.815"/>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43 16383,'51'0'0,"-7"0"0,-22 0 0,-4 0 0,10 0 0,-5 0 0,1 0 0,3 0 0,-4 0 0,6 0 0,-6 0 0,4 0 0,-8 0 0,3 0 0,-5 0 0,1 0 0,-1 0 0,5 0 0,-8 0 0,7 0 0,-3 0 0,-3 0 0,11 0 0,-16 0 0,11 0 0,-8 0 0,5 0 0,-1-4 0,0 3 0,-4-3 0,11 4 0,-9 0 0,10-4 0,-8 3 0,5-2 0,-3 3 0,8 0 0,-4-5 0,1 4 0,3-3 0,-4 4 0,6 0 0,-6 0 0,4 0 0,-3 0 0,-1 0 0,0 0 0,-1 0 0,-4 0 0,4 0 0,1 0 0,-5 0 0,4 0 0,-4 0 0,-1 0 0,0 0 0,0 0 0,4 0 0,-3 0 0,3 0 0,-4 0 0,-4 0 0,11 0 0,-9 0 0,6 0 0,-5 0 0,1 0 0,1 0 0,-2 0 0,1 0 0,-4 0 0,7 0 0,-1 0 0,-3 0 0,0 0 0,-1 0 0,1 0 0,7 0 0,-6 0 0,4 0 0,-4 0 0,1 0 0,-1 0 0,0 0 0,0 0 0,-1 0 0,0 0 0,-1 0 0,7 0 0,-9-3 0,10 2 0,-11-6 0,1 6 0,5-3 0,-1 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54.870"/>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 62 16383,'45'0'0,"-8"0"0,-25 0 0,-3 0 0,14 0 0,-8 0 0,5 0 0,-4 0 0,0 0 0,3 0 0,1 0 0,-2 0 0,-1 0 0,0 0 0,0 0 0,0 0 0,6 0 0,-5 4 0,4-3 0,-4 3 0,4-4 0,-4 0 0,5 0 0,-6 0 0,0 3 0,5-2 0,-3 3 0,3 0 0,-9-3 0,3 3 0,1-1 0,1-2 0,-2 3 0,4-1 0,-10-2 0,13 2 0,-10-3 0,3 0 0,2 0 0,-4 0 0,6 0 0,-3 0 0,1 0 0,4 0 0,-4 0 0,5 0 0,-1 0 0,-4 0 0,5 0 0,-6 0 0,0-3 0,0 2 0,1-3 0,-1 4 0,-4-4 0,3 3 0,-3-2 0,5-1 0,7-1 0,-10 0 0,10-3 0,-12 7 0,4-3 0,1 0 0,-5 3 0,3-6 0,-3 6 0,4-3 0,0 0 0,1 3 0,-5-6 0,3 6 0,-3-2 0,4-1 0,0 3 0,1-7 0,4 7 0,-8-3 0,7 4 0,-8 0 0,5-4 0,-1 4 0,0-4 0,0 4 0,1 0 0,4 0 0,-4 0 0,10 0 0,-10 0 0,9 0 0,-8 0 0,3 0 0,0 0 0,-4 0 0,0 0 0,-1 0 0,-4 0 0,4 0 0,4 0 0,-8 0 0,11 0 0,-15 0 0,10 0 0,-3 0 0,-4 0 0,10 0 0,-9 0 0,2 0 0,7 0 0,-7 0 0,9 0 0,-2 0 0,-3 0 0,8 0 0,-9 0 0,5 0 0,-1 0 0,-8 0 0,7 0 0,-8 0 0,3 0 0,2 3 0,-1-2 0,3 2 0,-7-3 0,3 0 0,0 0 0,-3 0 0,2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8:57.616"/>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1 16383,'47'0'0,"-2"0"0,-21 0 0,4 0 0,1 0 0,-6 0 0,4 0 0,-3 0 0,4 0 0,0 0 0,-4 0 0,3 0 0,-4 0 0,6 0 0,-6 0 0,5 0 0,-10 0 0,9 0 0,-8 0 0,8 0 0,-9 0 0,5 0 0,-6 0 0,5 0 0,-3 0 0,3 0 0,0 0 0,-4 0 0,5 0 0,-6 0 0,0 0 0,5 0 0,-3 0 0,8 0 0,-8 0 0,3 0 0,0 0 0,-4 0 0,4 0 0,1 0 0,-5 0 0,4 0 0,-4 0 0,-1 0 0,0 0 0,1 0 0,-1 0 0,0 0 0,0 0 0,4 0 0,-3 0 0,-2 0 0,4 0 0,-10 0 0,9 0 0,-4 0 0,-2 0 0,6 0 0,-7 0 0,4 0 0,3 0 0,-6 0 0,5 0 0,2 0 0,-7 0 0,9 0 0,-9 0 0,2 0 0,0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9:01.069"/>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 62 16383,'55'0'0,"-10"0"0,-18 0 0,-8 0 0,8 0 0,-4 0 0,6 0 0,-6 0 0,4 0 0,-8 0 0,3 0 0,0 0 0,-3 0 0,3 0 0,-5 0 0,-4 0 0,3-4 0,4 3 0,-5-2 0,4 3 0,-3 0 0,-7-4 0,15 3 0,-11-2 0,8-1 0,-4 3 0,1-3 0,2 0 0,-2 3 0,3-3 0,1 0 0,4 3 0,4-3 0,1 0 0,-3 3 0,0-3 0,1 4 0,-1-5 0,-4 4 0,9-3 0,-13 4 0,12 0 0,-8 0 0,-1 0 0,0 0 0,-6 0 0,0 0 0,1 0 0,2 0 0,-2 0 0,-1 0 0,-1 0 0,-3 0 0,8 0 0,-3 0 0,-1 0 0,-1 0 0,-4 0 0,5 0 0,-1 0 0,1 0 0,3 0 0,-6 0 0,5 0 0,-6 0 0,5 0 0,-1 0 0,0 0 0,1 0 0,-1 0 0,0 0 0,0 0 0,0 0 0,1 0 0,-1 0 0,4 0 0,-3 0 0,-2 0 0,1 0 0,-1 0 0,-2 0 0,6 0 0,-4 0 0,-2 0 0,6 0 0,-8 4 0,5-4 0,-1 7 0,1-6 0,2 7 0,-6-8 0,6 4 0,-6 0 0,7-3 0,-2 3 0,3 0 0,-4-3 0,1 2 0,-1 1 0,5-3 0,2 3 0,-1-4 0,4 4 0,-8-3 0,3 4 0,-5-5 0,-4 0 0,6 3 0,-2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6T21:19:04.717"/>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0 1 16383,'52'0'0,"-4"0"0,-14 0 0,-5 0 0,6 4 0,-1-3 0,1 8 0,6-3 0,1 0 0,-1-2 0,7 1 0,-5-4 0,11 4 0,-11 0 0,4-4 0,-5 4 0,-1-1 0,0-3 0,0 4 0,-5-5 0,-2 4 0,-6-3 0,1 3 0,-1 1 0,-4-4 0,3 3 0,-9 0 0,5-3 0,-6 6 0,0-6 0,0 7 0,1-7 0,-5 3 0,8 0 0,-11-3 0,11 3 0,-8-4 0,5 0 0,-1 0 0,0 4 0,0-3 0,1 3 0,-1-4 0,5 0 0,-3 0 0,3 4 0,0-3 0,-3 2 0,8-3 0,-9 0 0,9 0 0,-8 0 0,8 0 0,-9 0 0,10 0 0,-10 0 0,4 0 0,-4 0 0,-1 0 0,4 0 0,-3 0 0,3 0 0,-8 0 0,3 0 0,4 0 0,-5 0 0,4 0 0,-5 0 0,-1 0 0,7 0 0,0 0 0,-2 0 0,3 0 0,-8 0 0,8 0 0,-6 0 0,7 0 0,0 0 0,-4 0 0,10 0 0,-10 0 0,9 0 0,-8 4 0,3-3 0,0 3 0,-3-4 0,3 0 0,-5 0 0,1 0 0,-1 0 0,0 0 0,0 0 0,1 0 0,2 0 0,-1 0 0,1 0 0,-7 0 0,4 0 0,3 0 0,-5 0 0,9 0 0,-11 0 0,4 0 0,-1 0 0,0 0 0,0-4 0,0 3 0,1-6 0,3 6 0,-6-3 0,5 4 0,-7 0 0,3-3 0,5 2 0,-3-2 0,8 3 0,-6-4 0,8 3 0,-3-3 0,4 0 0,-5 3 0,-5-3 0,3 4 0,-10 0 0,9 0 0,-5 0 0,5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2EC83-37A8-264B-84E6-93B2A353B80E}"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BD09B4-8F3D-1248-B089-9C22C0AAEB1D}" type="slidenum">
              <a:rPr lang="en-US" smtClean="0"/>
              <a:t>‹#›</a:t>
            </a:fld>
            <a:endParaRPr lang="en-US"/>
          </a:p>
        </p:txBody>
      </p:sp>
    </p:spTree>
    <p:extLst>
      <p:ext uri="{BB962C8B-B14F-4D97-AF65-F5344CB8AC3E}">
        <p14:creationId xmlns:p14="http://schemas.microsoft.com/office/powerpoint/2010/main" val="380786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64A359-BE06-8145-BA9C-EC5542A0B674}" type="slidenum">
              <a:rPr lang="en-US" smtClean="0"/>
              <a:t>8</a:t>
            </a:fld>
            <a:endParaRPr lang="en-US"/>
          </a:p>
        </p:txBody>
      </p:sp>
    </p:spTree>
    <p:extLst>
      <p:ext uri="{BB962C8B-B14F-4D97-AF65-F5344CB8AC3E}">
        <p14:creationId xmlns:p14="http://schemas.microsoft.com/office/powerpoint/2010/main" val="3638939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1A2D-C4F6-3F72-C53C-DE383BC6D6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94DCC4-5D3E-C45E-C7FF-DA9976B852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2761CE-B1CE-C668-F28C-DDEC27EB8E62}"/>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6843F4AB-1990-2BA1-D18E-0865B63F0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0EC50-EA39-7173-D8AC-7DD5E1FEB9B2}"/>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674251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DCB9-7165-49C6-4BBE-E02ED06C0A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6629B3-05ED-4496-C04C-448A6FA946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3506D4-EDD0-0419-3004-7B38FDF9CBB5}"/>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EDE11672-8951-A9C1-513A-BF39EC848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632FF-9A66-D189-DE10-A93D56BA8AEE}"/>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3526934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2582-4641-FC96-D6F1-CC5734287F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FDC66B-CB45-4BCC-EFB8-46A6AAFE91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3EBACF-68FC-33EE-C5B4-C83F44E55A1F}"/>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851489C2-EDC8-7509-41AA-1EBED2BF2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B98E6-43BF-0224-1987-CDD61033D998}"/>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200508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7F4A-B05E-F408-45A5-0F75CE30D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B13B05-5F9E-48FD-3F95-30CB69EAB5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A789B-916E-E77A-A949-9E581FD787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A4FAD1-E71D-4DEF-9649-EBCA8D2A8D22}"/>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6" name="Footer Placeholder 5">
            <a:extLst>
              <a:ext uri="{FF2B5EF4-FFF2-40B4-BE49-F238E27FC236}">
                <a16:creationId xmlns:a16="http://schemas.microsoft.com/office/drawing/2014/main" id="{8202E65B-7159-CD36-9199-6C680AADD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8AFBDC-534E-E9EC-6FE6-6033DD1F5D18}"/>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4146136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1EF7-2EEA-032C-5F90-F36472B869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E2FBAF-7351-B9B5-F83B-F86D2E1C31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2C2A2F-1C45-709C-7972-2CAC7E2083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9D4A3A-40B3-BCC5-0808-31E5F9205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655A4-503F-3E9A-A134-CEEE424DE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F17CC5-E799-F175-0FCD-977732597749}"/>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8" name="Footer Placeholder 7">
            <a:extLst>
              <a:ext uri="{FF2B5EF4-FFF2-40B4-BE49-F238E27FC236}">
                <a16:creationId xmlns:a16="http://schemas.microsoft.com/office/drawing/2014/main" id="{FE70A7DA-18D9-3A48-0DA2-BCAC3A59FF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7A0420-FCED-A9A7-E510-E1CB6D688CE2}"/>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925288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64E15-A6D0-6B3D-1199-BA79510388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6B08E6-6825-0778-6A57-B9FBFF79BE0C}"/>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4" name="Footer Placeholder 3">
            <a:extLst>
              <a:ext uri="{FF2B5EF4-FFF2-40B4-BE49-F238E27FC236}">
                <a16:creationId xmlns:a16="http://schemas.microsoft.com/office/drawing/2014/main" id="{E45E6BAB-C076-40B8-41E1-75C6F9A24E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230D-AC3C-1272-B841-4AFD452E5DEF}"/>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142194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7A7AD5-5BE5-2A21-1B24-4B8060C5E78B}"/>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3" name="Footer Placeholder 2">
            <a:extLst>
              <a:ext uri="{FF2B5EF4-FFF2-40B4-BE49-F238E27FC236}">
                <a16:creationId xmlns:a16="http://schemas.microsoft.com/office/drawing/2014/main" id="{7CAE634B-61E7-461D-37B4-C0994571C1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B7A115-CAC3-9CE1-E958-04B286A11F10}"/>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4199054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550B-E0FE-BEF2-DD90-8CDCDDC69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A58A63-44FE-CDC6-F4DA-F4EA9199B3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CD9721-22A8-D294-0E91-238607166B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C7E4D-2A34-5F78-4D45-CB2F49AC7F38}"/>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6" name="Footer Placeholder 5">
            <a:extLst>
              <a:ext uri="{FF2B5EF4-FFF2-40B4-BE49-F238E27FC236}">
                <a16:creationId xmlns:a16="http://schemas.microsoft.com/office/drawing/2014/main" id="{8576C2C5-EF05-98C7-7138-9A45B2504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3C4F05-8ED5-69E4-5319-CF38324373F8}"/>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2529108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0C0A-9125-9435-E7A5-70DDB8DB8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1B1DA1-BEAF-B86B-63FD-2938D967D0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377DC-1C39-C23E-19DD-B0B58806D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80E1D-1861-438C-8D40-84CA252104CC}"/>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6" name="Footer Placeholder 5">
            <a:extLst>
              <a:ext uri="{FF2B5EF4-FFF2-40B4-BE49-F238E27FC236}">
                <a16:creationId xmlns:a16="http://schemas.microsoft.com/office/drawing/2014/main" id="{D51A9F74-2739-FD3B-9735-E5CF533F4E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A3474F-9183-AA62-FA13-42C9DC1B9E27}"/>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538604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E4655-C461-B598-EB7C-154954E0D7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E431C0-4AAA-BE49-5777-73C998B75B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40FE5A-14D0-0E62-625D-CBBC595718A4}"/>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D75B157C-A345-122C-F8A1-338CE002E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09858-4413-A1EF-9068-F4E9615BBC82}"/>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2316017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3F3DA0-2F1B-B259-96E8-A321D6B803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273D78-BE41-C675-97CA-ED0C1D8FF3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2A5D1-B794-D861-00FC-8BB1D756DA9C}"/>
              </a:ext>
            </a:extLst>
          </p:cNvPr>
          <p:cNvSpPr>
            <a:spLocks noGrp="1"/>
          </p:cNvSpPr>
          <p:nvPr>
            <p:ph type="dt" sz="half" idx="10"/>
          </p:nvPr>
        </p:nvSpPr>
        <p:spPr/>
        <p:txBody>
          <a:body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0981AD58-E5A7-E97E-7A6C-D5541549F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98380-F4A5-482F-49F9-F6CFA456BBA0}"/>
              </a:ext>
            </a:extLst>
          </p:cNvPr>
          <p:cNvSpPr>
            <a:spLocks noGrp="1"/>
          </p:cNvSpPr>
          <p:nvPr>
            <p:ph type="sldNum" sz="quarter" idx="12"/>
          </p:nvPr>
        </p:nvSpPr>
        <p:spPr/>
        <p:txBody>
          <a:bodyPr/>
          <a:lstStyle/>
          <a:p>
            <a:fld id="{62A74409-29D5-0447-983A-8F246C0BB1B6}" type="slidenum">
              <a:rPr lang="en-US" smtClean="0"/>
              <a:t>‹#›</a:t>
            </a:fld>
            <a:endParaRPr lang="en-US"/>
          </a:p>
        </p:txBody>
      </p:sp>
    </p:spTree>
    <p:extLst>
      <p:ext uri="{BB962C8B-B14F-4D97-AF65-F5344CB8AC3E}">
        <p14:creationId xmlns:p14="http://schemas.microsoft.com/office/powerpoint/2010/main" val="1919025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85C2F2-65B4-004E-B289-5B2A6D53015E}"/>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2C67CE6E-32F8-CE44-A82B-8D649A784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0E7CA-2811-614B-9615-A54884E0B944}"/>
              </a:ext>
            </a:extLst>
          </p:cNvPr>
          <p:cNvSpPr>
            <a:spLocks noGrp="1"/>
          </p:cNvSpPr>
          <p:nvPr>
            <p:ph type="sldNum" sz="quarter" idx="12"/>
          </p:nvPr>
        </p:nvSpPr>
        <p:spPr/>
        <p:txBody>
          <a:bodyPr/>
          <a:lstStyle/>
          <a:p>
            <a:fld id="{3222A9F1-9C4F-914D-914C-EB3E02B4145C}" type="slidenum">
              <a:rPr lang="en-US" smtClean="0"/>
              <a:t>‹#›</a:t>
            </a:fld>
            <a:endParaRPr lang="en-US"/>
          </a:p>
        </p:txBody>
      </p:sp>
      <p:sp>
        <p:nvSpPr>
          <p:cNvPr id="9" name="Rectangle 8">
            <a:extLst>
              <a:ext uri="{FF2B5EF4-FFF2-40B4-BE49-F238E27FC236}">
                <a16:creationId xmlns:a16="http://schemas.microsoft.com/office/drawing/2014/main" id="{475D2581-E290-D04C-B169-F2B3289EBF35}"/>
              </a:ext>
            </a:extLst>
          </p:cNvPr>
          <p:cNvSpPr/>
          <p:nvPr userDrawn="1"/>
        </p:nvSpPr>
        <p:spPr>
          <a:xfrm>
            <a:off x="490451" y="681037"/>
            <a:ext cx="11280371" cy="5811837"/>
          </a:xfrm>
          <a:prstGeom prst="rect">
            <a:avLst/>
          </a:prstGeom>
          <a:ln w="52354">
            <a:solidFill>
              <a:srgbClr val="E57200"/>
            </a:solidFill>
          </a:ln>
        </p:spPr>
        <p:txBody>
          <a:bodyPr wrap="square" lIns="0" tIns="0" rIns="0" bIns="0" rtlCol="0"/>
          <a:lstStyle/>
          <a:p>
            <a:endParaRPr lang="en-US" sz="1092">
              <a:solidFill>
                <a:schemeClr val="tx1"/>
              </a:solidFill>
            </a:endParaRPr>
          </a:p>
        </p:txBody>
      </p:sp>
      <p:sp>
        <p:nvSpPr>
          <p:cNvPr id="13" name="Text Placeholder 12">
            <a:extLst>
              <a:ext uri="{FF2B5EF4-FFF2-40B4-BE49-F238E27FC236}">
                <a16:creationId xmlns:a16="http://schemas.microsoft.com/office/drawing/2014/main" id="{714A42C6-AB3F-1C4D-8E02-AB78991E66FE}"/>
              </a:ext>
            </a:extLst>
          </p:cNvPr>
          <p:cNvSpPr>
            <a:spLocks noGrp="1"/>
          </p:cNvSpPr>
          <p:nvPr>
            <p:ph type="body" sz="quarter" idx="13" hasCustomPrompt="1"/>
          </p:nvPr>
        </p:nvSpPr>
        <p:spPr>
          <a:xfrm>
            <a:off x="838199" y="236801"/>
            <a:ext cx="10575924" cy="650875"/>
          </a:xfrm>
          <a:prstGeom prst="rect">
            <a:avLst/>
          </a:prstGeom>
        </p:spPr>
        <p:txBody>
          <a:bodyPr/>
          <a:lstStyle>
            <a:lvl1pPr marL="0" indent="0">
              <a:buNone/>
              <a:defRPr sz="4400" spc="100" baseline="0">
                <a:latin typeface="Impact" panose="020B0806030902050204" pitchFamily="34" charset="0"/>
              </a:defRPr>
            </a:lvl1pPr>
          </a:lstStyle>
          <a:p>
            <a:pPr lvl="0"/>
            <a:r>
              <a:rPr lang="en-US"/>
              <a:t>Click to edit title</a:t>
            </a:r>
          </a:p>
        </p:txBody>
      </p:sp>
      <p:sp>
        <p:nvSpPr>
          <p:cNvPr id="15" name="Text Placeholder 14">
            <a:extLst>
              <a:ext uri="{FF2B5EF4-FFF2-40B4-BE49-F238E27FC236}">
                <a16:creationId xmlns:a16="http://schemas.microsoft.com/office/drawing/2014/main" id="{F8D1AD34-1DD0-C142-BF4C-E70E15A96B6E}"/>
              </a:ext>
            </a:extLst>
          </p:cNvPr>
          <p:cNvSpPr>
            <a:spLocks noGrp="1"/>
          </p:cNvSpPr>
          <p:nvPr>
            <p:ph type="body" sz="quarter" idx="14" hasCustomPrompt="1"/>
          </p:nvPr>
        </p:nvSpPr>
        <p:spPr>
          <a:xfrm>
            <a:off x="887183" y="838884"/>
            <a:ext cx="10575925" cy="482600"/>
          </a:xfrm>
          <a:prstGeom prst="rect">
            <a:avLst/>
          </a:prstGeom>
        </p:spPr>
        <p:txBody>
          <a:bodyPr/>
          <a:lstStyle>
            <a:lvl1pPr marL="0" indent="0">
              <a:buNone/>
              <a:defRPr sz="2400">
                <a:latin typeface="Avenir Book" panose="02000503020000020003" pitchFamily="2" charset="0"/>
                <a:cs typeface="Arial" panose="020B0604020202020204" pitchFamily="34" charset="0"/>
              </a:defRPr>
            </a:lvl1pPr>
            <a:lvl2pPr>
              <a:defRPr sz="2400"/>
            </a:lvl2pPr>
            <a:lvl3pPr>
              <a:defRPr sz="2000"/>
            </a:lvl3pPr>
            <a:lvl4pPr>
              <a:defRPr sz="1800"/>
            </a:lvl4pPr>
            <a:lvl5pPr>
              <a:defRPr sz="1800"/>
            </a:lvl5pPr>
          </a:lstStyle>
          <a:p>
            <a:pPr lvl="0"/>
            <a:r>
              <a:rPr lang="en-US"/>
              <a:t>Click to edit subtitle</a:t>
            </a:r>
          </a:p>
        </p:txBody>
      </p:sp>
      <p:sp>
        <p:nvSpPr>
          <p:cNvPr id="17" name="Text Placeholder 16">
            <a:extLst>
              <a:ext uri="{FF2B5EF4-FFF2-40B4-BE49-F238E27FC236}">
                <a16:creationId xmlns:a16="http://schemas.microsoft.com/office/drawing/2014/main" id="{CB4C8B6C-1BCB-F144-959A-50375CDD8274}"/>
              </a:ext>
            </a:extLst>
          </p:cNvPr>
          <p:cNvSpPr>
            <a:spLocks noGrp="1"/>
          </p:cNvSpPr>
          <p:nvPr>
            <p:ph type="body" sz="quarter" idx="15"/>
          </p:nvPr>
        </p:nvSpPr>
        <p:spPr>
          <a:xfrm>
            <a:off x="887183" y="1429432"/>
            <a:ext cx="10526942" cy="4808537"/>
          </a:xfrm>
          <a:prstGeom prst="rect">
            <a:avLst/>
          </a:prstGeom>
        </p:spPr>
        <p:txBody>
          <a:bodyPr/>
          <a:lstStyle>
            <a:lvl1pPr>
              <a:defRPr sz="2400">
                <a:latin typeface="Avenir Book" panose="02000503020000020003" pitchFamily="2" charset="0"/>
              </a:defRPr>
            </a:lvl1pPr>
            <a:lvl2pPr>
              <a:defRPr sz="2000">
                <a:latin typeface="Avenir Book" panose="02000503020000020003" pitchFamily="2" charset="0"/>
              </a:defRPr>
            </a:lvl2pPr>
            <a:lvl3pPr>
              <a:defRPr sz="1800">
                <a:latin typeface="Avenir Book" panose="02000503020000020003" pitchFamily="2" charset="0"/>
              </a:defRPr>
            </a:lvl3pPr>
            <a:lvl4pPr>
              <a:defRPr sz="1600">
                <a:latin typeface="Avenir Book" panose="02000503020000020003" pitchFamily="2" charset="0"/>
              </a:defRPr>
            </a:lvl4pPr>
            <a:lvl5pPr>
              <a:defRPr sz="1600">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AC08C6E3-1C7C-AC4B-8DCE-23B363BAFD7C}"/>
              </a:ext>
            </a:extLst>
          </p:cNvPr>
          <p:cNvSpPr/>
          <p:nvPr userDrawn="1"/>
        </p:nvSpPr>
        <p:spPr>
          <a:xfrm>
            <a:off x="10989129" y="6254297"/>
            <a:ext cx="971550" cy="412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bject 9">
            <a:extLst>
              <a:ext uri="{FF2B5EF4-FFF2-40B4-BE49-F238E27FC236}">
                <a16:creationId xmlns:a16="http://schemas.microsoft.com/office/drawing/2014/main" id="{A1DECD65-9FF5-5E43-8F88-50CEC19B2F39}"/>
              </a:ext>
            </a:extLst>
          </p:cNvPr>
          <p:cNvSpPr/>
          <p:nvPr userDrawn="1"/>
        </p:nvSpPr>
        <p:spPr>
          <a:xfrm>
            <a:off x="11048399" y="6305108"/>
            <a:ext cx="841572" cy="29893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616430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85C2F2-65B4-004E-B289-5B2A6D53015E}"/>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2C67CE6E-32F8-CE44-A82B-8D649A784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0E7CA-2811-614B-9615-A54884E0B944}"/>
              </a:ext>
            </a:extLst>
          </p:cNvPr>
          <p:cNvSpPr>
            <a:spLocks noGrp="1"/>
          </p:cNvSpPr>
          <p:nvPr>
            <p:ph type="sldNum" sz="quarter" idx="12"/>
          </p:nvPr>
        </p:nvSpPr>
        <p:spPr/>
        <p:txBody>
          <a:bodyPr/>
          <a:lstStyle/>
          <a:p>
            <a:fld id="{3222A9F1-9C4F-914D-914C-EB3E02B4145C}" type="slidenum">
              <a:rPr lang="en-US" smtClean="0"/>
              <a:t>‹#›</a:t>
            </a:fld>
            <a:endParaRPr lang="en-US"/>
          </a:p>
        </p:txBody>
      </p:sp>
      <p:sp>
        <p:nvSpPr>
          <p:cNvPr id="9" name="Rectangle 8">
            <a:extLst>
              <a:ext uri="{FF2B5EF4-FFF2-40B4-BE49-F238E27FC236}">
                <a16:creationId xmlns:a16="http://schemas.microsoft.com/office/drawing/2014/main" id="{475D2581-E290-D04C-B169-F2B3289EBF35}"/>
              </a:ext>
            </a:extLst>
          </p:cNvPr>
          <p:cNvSpPr/>
          <p:nvPr userDrawn="1"/>
        </p:nvSpPr>
        <p:spPr>
          <a:xfrm>
            <a:off x="490451" y="681037"/>
            <a:ext cx="11280371" cy="5811837"/>
          </a:xfrm>
          <a:prstGeom prst="rect">
            <a:avLst/>
          </a:prstGeom>
          <a:ln w="52354">
            <a:solidFill>
              <a:srgbClr val="E57200"/>
            </a:solidFill>
          </a:ln>
        </p:spPr>
        <p:txBody>
          <a:bodyPr wrap="square" lIns="0" tIns="0" rIns="0" bIns="0" rtlCol="0"/>
          <a:lstStyle/>
          <a:p>
            <a:endParaRPr lang="en-US" sz="1092">
              <a:solidFill>
                <a:schemeClr val="tx1"/>
              </a:solidFill>
            </a:endParaRPr>
          </a:p>
        </p:txBody>
      </p:sp>
      <p:sp>
        <p:nvSpPr>
          <p:cNvPr id="13" name="Text Placeholder 12">
            <a:extLst>
              <a:ext uri="{FF2B5EF4-FFF2-40B4-BE49-F238E27FC236}">
                <a16:creationId xmlns:a16="http://schemas.microsoft.com/office/drawing/2014/main" id="{714A42C6-AB3F-1C4D-8E02-AB78991E66FE}"/>
              </a:ext>
            </a:extLst>
          </p:cNvPr>
          <p:cNvSpPr>
            <a:spLocks noGrp="1"/>
          </p:cNvSpPr>
          <p:nvPr>
            <p:ph type="body" sz="quarter" idx="13" hasCustomPrompt="1"/>
          </p:nvPr>
        </p:nvSpPr>
        <p:spPr>
          <a:xfrm>
            <a:off x="838199" y="236801"/>
            <a:ext cx="10575924" cy="650875"/>
          </a:xfrm>
          <a:prstGeom prst="rect">
            <a:avLst/>
          </a:prstGeom>
        </p:spPr>
        <p:txBody>
          <a:bodyPr/>
          <a:lstStyle>
            <a:lvl1pPr marL="0" indent="0">
              <a:buNone/>
              <a:defRPr sz="4400" spc="100" baseline="0">
                <a:latin typeface="Impact" panose="020B0806030902050204" pitchFamily="34" charset="0"/>
              </a:defRPr>
            </a:lvl1pPr>
          </a:lstStyle>
          <a:p>
            <a:pPr lvl="0"/>
            <a:r>
              <a:rPr lang="en-US"/>
              <a:t>Click to edit title</a:t>
            </a:r>
          </a:p>
        </p:txBody>
      </p:sp>
      <p:sp>
        <p:nvSpPr>
          <p:cNvPr id="15" name="Text Placeholder 14">
            <a:extLst>
              <a:ext uri="{FF2B5EF4-FFF2-40B4-BE49-F238E27FC236}">
                <a16:creationId xmlns:a16="http://schemas.microsoft.com/office/drawing/2014/main" id="{F8D1AD34-1DD0-C142-BF4C-E70E15A96B6E}"/>
              </a:ext>
            </a:extLst>
          </p:cNvPr>
          <p:cNvSpPr>
            <a:spLocks noGrp="1"/>
          </p:cNvSpPr>
          <p:nvPr>
            <p:ph type="body" sz="quarter" idx="14" hasCustomPrompt="1"/>
          </p:nvPr>
        </p:nvSpPr>
        <p:spPr>
          <a:xfrm>
            <a:off x="887183" y="838884"/>
            <a:ext cx="10575925" cy="482600"/>
          </a:xfrm>
          <a:prstGeom prst="rect">
            <a:avLst/>
          </a:prstGeom>
        </p:spPr>
        <p:txBody>
          <a:bodyPr/>
          <a:lstStyle>
            <a:lvl1pPr marL="0" indent="0">
              <a:buNone/>
              <a:defRPr sz="2400">
                <a:latin typeface="Avenir Book" panose="02000503020000020003" pitchFamily="2" charset="0"/>
                <a:cs typeface="Arial" panose="020B0604020202020204" pitchFamily="34" charset="0"/>
              </a:defRPr>
            </a:lvl1pPr>
            <a:lvl2pPr>
              <a:defRPr sz="2400"/>
            </a:lvl2pPr>
            <a:lvl3pPr>
              <a:defRPr sz="2000"/>
            </a:lvl3pPr>
            <a:lvl4pPr>
              <a:defRPr sz="1800"/>
            </a:lvl4pPr>
            <a:lvl5pPr>
              <a:defRPr sz="1800"/>
            </a:lvl5pPr>
          </a:lstStyle>
          <a:p>
            <a:pPr lvl="0"/>
            <a:r>
              <a:rPr lang="en-US"/>
              <a:t>Click to edit subtitle</a:t>
            </a:r>
          </a:p>
        </p:txBody>
      </p:sp>
      <p:sp>
        <p:nvSpPr>
          <p:cNvPr id="17" name="Text Placeholder 16">
            <a:extLst>
              <a:ext uri="{FF2B5EF4-FFF2-40B4-BE49-F238E27FC236}">
                <a16:creationId xmlns:a16="http://schemas.microsoft.com/office/drawing/2014/main" id="{CB4C8B6C-1BCB-F144-959A-50375CDD8274}"/>
              </a:ext>
            </a:extLst>
          </p:cNvPr>
          <p:cNvSpPr>
            <a:spLocks noGrp="1"/>
          </p:cNvSpPr>
          <p:nvPr>
            <p:ph type="body" sz="quarter" idx="15"/>
          </p:nvPr>
        </p:nvSpPr>
        <p:spPr>
          <a:xfrm>
            <a:off x="887183" y="1429432"/>
            <a:ext cx="10526942" cy="4808537"/>
          </a:xfrm>
          <a:prstGeom prst="rect">
            <a:avLst/>
          </a:prstGeom>
        </p:spPr>
        <p:txBody>
          <a:bodyPr/>
          <a:lstStyle>
            <a:lvl1pPr>
              <a:defRPr sz="2400">
                <a:latin typeface="Avenir Book" panose="02000503020000020003" pitchFamily="2" charset="0"/>
              </a:defRPr>
            </a:lvl1pPr>
            <a:lvl2pPr>
              <a:defRPr sz="2000">
                <a:latin typeface="Avenir Book" panose="02000503020000020003" pitchFamily="2" charset="0"/>
              </a:defRPr>
            </a:lvl2pPr>
            <a:lvl3pPr>
              <a:defRPr sz="1800">
                <a:latin typeface="Avenir Book" panose="02000503020000020003" pitchFamily="2" charset="0"/>
              </a:defRPr>
            </a:lvl3pPr>
            <a:lvl4pPr>
              <a:defRPr sz="1600">
                <a:latin typeface="Avenir Book" panose="02000503020000020003" pitchFamily="2" charset="0"/>
              </a:defRPr>
            </a:lvl4pPr>
            <a:lvl5pPr>
              <a:defRPr sz="1600">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AC08C6E3-1C7C-AC4B-8DCE-23B363BAFD7C}"/>
              </a:ext>
            </a:extLst>
          </p:cNvPr>
          <p:cNvSpPr/>
          <p:nvPr userDrawn="1"/>
        </p:nvSpPr>
        <p:spPr>
          <a:xfrm>
            <a:off x="10989129" y="6254297"/>
            <a:ext cx="971550" cy="412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bject 9">
            <a:extLst>
              <a:ext uri="{FF2B5EF4-FFF2-40B4-BE49-F238E27FC236}">
                <a16:creationId xmlns:a16="http://schemas.microsoft.com/office/drawing/2014/main" id="{A1DECD65-9FF5-5E43-8F88-50CEC19B2F39}"/>
              </a:ext>
            </a:extLst>
          </p:cNvPr>
          <p:cNvSpPr/>
          <p:nvPr userDrawn="1"/>
        </p:nvSpPr>
        <p:spPr>
          <a:xfrm>
            <a:off x="11048399" y="6305108"/>
            <a:ext cx="841572" cy="29893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616430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4315-2C33-3D4E-B22E-13E5F59FF0B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3C33A6-BE7B-EC4D-B567-B49FD8F15B9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3233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A3E5-051A-D345-A0EE-57CD053C55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B3B0208-E52F-1D43-B74D-5998963844F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676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4B92-906F-4145-AE89-1EE879A52D9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6DB41B-56F8-C44B-8DE8-14095AA0099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602364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2B3B-35FB-8A42-9F5F-1AD0EB17AE1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D050AD5-6484-5640-9E99-12BEFF3E1B5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BBFA2C-927C-8349-8FF8-2ED8E20AC1A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0865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CE762-45F9-7D45-99D1-309DA6F962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7591110-40BE-0E40-A4DA-8776F378BA7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2A4C5F-56CF-F14F-8F94-DE219818CE7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629399-3F68-2A43-A703-CD18838F29F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FD6F9-6B38-5D44-B33F-9938910F82CD}"/>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91494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6001F-F37B-9B45-8960-062C9ACCAD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1276719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776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3B7C-3D02-FB47-8EE1-202FD3D68A3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D8459-4E26-EF4C-83E0-B6D35F13EEB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E43129-3A51-7A42-9A32-ECB5884BA9D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63473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225E8-A933-F948-885E-A2A1A44DE2C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353DD0-97AD-504C-9ED2-B072B027ABF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2C2839-AE38-8B41-ADF0-C24CDF67F85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60145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0F3CF-9D8D-6344-BBDA-6106D87D476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F50095-2067-5C46-B06B-AAF8C1A9053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6120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3928D-D62D-7945-987C-AFE74C80923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8CE6EA-A8B9-0840-954C-DE593BFCC46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99193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5C15-C6AE-8B4A-8E87-85C93E669BC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83258D-AE6F-A540-9E55-1F70BEE33CF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EE9D6F-4343-1644-B650-2DFBC89B187C}"/>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7EDE35A2-84B7-6D44-A2D6-E95E6A953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BEE66-CE0E-3E45-A9F5-21F9E9F64CCF}"/>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7363517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85C2F2-65B4-004E-B289-5B2A6D53015E}"/>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2C67CE6E-32F8-CE44-A82B-8D649A784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0E7CA-2811-614B-9615-A54884E0B944}"/>
              </a:ext>
            </a:extLst>
          </p:cNvPr>
          <p:cNvSpPr>
            <a:spLocks noGrp="1"/>
          </p:cNvSpPr>
          <p:nvPr>
            <p:ph type="sldNum" sz="quarter" idx="12"/>
          </p:nvPr>
        </p:nvSpPr>
        <p:spPr/>
        <p:txBody>
          <a:bodyPr/>
          <a:lstStyle/>
          <a:p>
            <a:fld id="{3222A9F1-9C4F-914D-914C-EB3E02B4145C}" type="slidenum">
              <a:rPr lang="en-US" smtClean="0"/>
              <a:t>‹#›</a:t>
            </a:fld>
            <a:endParaRPr lang="en-US"/>
          </a:p>
        </p:txBody>
      </p:sp>
      <p:sp>
        <p:nvSpPr>
          <p:cNvPr id="9" name="Rectangle 8">
            <a:extLst>
              <a:ext uri="{FF2B5EF4-FFF2-40B4-BE49-F238E27FC236}">
                <a16:creationId xmlns:a16="http://schemas.microsoft.com/office/drawing/2014/main" id="{475D2581-E290-D04C-B169-F2B3289EBF35}"/>
              </a:ext>
            </a:extLst>
          </p:cNvPr>
          <p:cNvSpPr/>
          <p:nvPr userDrawn="1"/>
        </p:nvSpPr>
        <p:spPr>
          <a:xfrm>
            <a:off x="490451" y="681037"/>
            <a:ext cx="11280371" cy="5811837"/>
          </a:xfrm>
          <a:prstGeom prst="rect">
            <a:avLst/>
          </a:prstGeom>
          <a:ln w="52354">
            <a:solidFill>
              <a:srgbClr val="E57200"/>
            </a:solidFill>
          </a:ln>
        </p:spPr>
        <p:txBody>
          <a:bodyPr wrap="square" lIns="0" tIns="0" rIns="0" bIns="0" rtlCol="0"/>
          <a:lstStyle/>
          <a:p>
            <a:endParaRPr lang="en-US" sz="1092">
              <a:solidFill>
                <a:schemeClr val="tx1"/>
              </a:solidFill>
            </a:endParaRPr>
          </a:p>
        </p:txBody>
      </p:sp>
      <p:sp>
        <p:nvSpPr>
          <p:cNvPr id="13" name="Text Placeholder 12">
            <a:extLst>
              <a:ext uri="{FF2B5EF4-FFF2-40B4-BE49-F238E27FC236}">
                <a16:creationId xmlns:a16="http://schemas.microsoft.com/office/drawing/2014/main" id="{714A42C6-AB3F-1C4D-8E02-AB78991E66FE}"/>
              </a:ext>
            </a:extLst>
          </p:cNvPr>
          <p:cNvSpPr>
            <a:spLocks noGrp="1"/>
          </p:cNvSpPr>
          <p:nvPr>
            <p:ph type="body" sz="quarter" idx="13" hasCustomPrompt="1"/>
          </p:nvPr>
        </p:nvSpPr>
        <p:spPr>
          <a:xfrm>
            <a:off x="838199" y="236801"/>
            <a:ext cx="10575924" cy="650875"/>
          </a:xfrm>
          <a:prstGeom prst="rect">
            <a:avLst/>
          </a:prstGeom>
        </p:spPr>
        <p:txBody>
          <a:bodyPr/>
          <a:lstStyle>
            <a:lvl1pPr marL="0" indent="0">
              <a:buNone/>
              <a:defRPr sz="4400" spc="100" baseline="0">
                <a:latin typeface="Impact" panose="020B0806030902050204" pitchFamily="34" charset="0"/>
              </a:defRPr>
            </a:lvl1pPr>
          </a:lstStyle>
          <a:p>
            <a:pPr lvl="0"/>
            <a:r>
              <a:rPr lang="en-US"/>
              <a:t>Click to edit title</a:t>
            </a:r>
          </a:p>
        </p:txBody>
      </p:sp>
      <p:sp>
        <p:nvSpPr>
          <p:cNvPr id="15" name="Text Placeholder 14">
            <a:extLst>
              <a:ext uri="{FF2B5EF4-FFF2-40B4-BE49-F238E27FC236}">
                <a16:creationId xmlns:a16="http://schemas.microsoft.com/office/drawing/2014/main" id="{F8D1AD34-1DD0-C142-BF4C-E70E15A96B6E}"/>
              </a:ext>
            </a:extLst>
          </p:cNvPr>
          <p:cNvSpPr>
            <a:spLocks noGrp="1"/>
          </p:cNvSpPr>
          <p:nvPr>
            <p:ph type="body" sz="quarter" idx="14" hasCustomPrompt="1"/>
          </p:nvPr>
        </p:nvSpPr>
        <p:spPr>
          <a:xfrm>
            <a:off x="887183" y="838884"/>
            <a:ext cx="10575925" cy="482600"/>
          </a:xfrm>
          <a:prstGeom prst="rect">
            <a:avLst/>
          </a:prstGeom>
        </p:spPr>
        <p:txBody>
          <a:bodyPr/>
          <a:lstStyle>
            <a:lvl1pPr marL="0" indent="0">
              <a:buNone/>
              <a:defRPr sz="2400">
                <a:latin typeface="Avenir Book" panose="02000503020000020003" pitchFamily="2" charset="0"/>
                <a:cs typeface="Arial" panose="020B0604020202020204" pitchFamily="34" charset="0"/>
              </a:defRPr>
            </a:lvl1pPr>
            <a:lvl2pPr>
              <a:defRPr sz="2400"/>
            </a:lvl2pPr>
            <a:lvl3pPr>
              <a:defRPr sz="2000"/>
            </a:lvl3pPr>
            <a:lvl4pPr>
              <a:defRPr sz="1800"/>
            </a:lvl4pPr>
            <a:lvl5pPr>
              <a:defRPr sz="1800"/>
            </a:lvl5pPr>
          </a:lstStyle>
          <a:p>
            <a:pPr lvl="0"/>
            <a:r>
              <a:rPr lang="en-US"/>
              <a:t>Click to edit subtitle</a:t>
            </a:r>
          </a:p>
        </p:txBody>
      </p:sp>
      <p:sp>
        <p:nvSpPr>
          <p:cNvPr id="17" name="Text Placeholder 16">
            <a:extLst>
              <a:ext uri="{FF2B5EF4-FFF2-40B4-BE49-F238E27FC236}">
                <a16:creationId xmlns:a16="http://schemas.microsoft.com/office/drawing/2014/main" id="{CB4C8B6C-1BCB-F144-959A-50375CDD8274}"/>
              </a:ext>
            </a:extLst>
          </p:cNvPr>
          <p:cNvSpPr>
            <a:spLocks noGrp="1"/>
          </p:cNvSpPr>
          <p:nvPr>
            <p:ph type="body" sz="quarter" idx="15"/>
          </p:nvPr>
        </p:nvSpPr>
        <p:spPr>
          <a:xfrm>
            <a:off x="887183" y="1429432"/>
            <a:ext cx="10526942" cy="4808537"/>
          </a:xfrm>
          <a:prstGeom prst="rect">
            <a:avLst/>
          </a:prstGeom>
        </p:spPr>
        <p:txBody>
          <a:bodyPr/>
          <a:lstStyle>
            <a:lvl1pPr>
              <a:defRPr sz="2400">
                <a:latin typeface="Avenir Book" panose="02000503020000020003" pitchFamily="2" charset="0"/>
              </a:defRPr>
            </a:lvl1pPr>
            <a:lvl2pPr>
              <a:defRPr sz="2000">
                <a:latin typeface="Avenir Book" panose="02000503020000020003" pitchFamily="2" charset="0"/>
              </a:defRPr>
            </a:lvl2pPr>
            <a:lvl3pPr>
              <a:defRPr sz="1800">
                <a:latin typeface="Avenir Book" panose="02000503020000020003" pitchFamily="2" charset="0"/>
              </a:defRPr>
            </a:lvl3pPr>
            <a:lvl4pPr>
              <a:defRPr sz="1600">
                <a:latin typeface="Avenir Book" panose="02000503020000020003" pitchFamily="2" charset="0"/>
              </a:defRPr>
            </a:lvl4pPr>
            <a:lvl5pPr>
              <a:defRPr sz="1600">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AC08C6E3-1C7C-AC4B-8DCE-23B363BAFD7C}"/>
              </a:ext>
            </a:extLst>
          </p:cNvPr>
          <p:cNvSpPr/>
          <p:nvPr userDrawn="1"/>
        </p:nvSpPr>
        <p:spPr>
          <a:xfrm>
            <a:off x="10989129" y="6254297"/>
            <a:ext cx="971550" cy="412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bject 9">
            <a:extLst>
              <a:ext uri="{FF2B5EF4-FFF2-40B4-BE49-F238E27FC236}">
                <a16:creationId xmlns:a16="http://schemas.microsoft.com/office/drawing/2014/main" id="{A1DECD65-9FF5-5E43-8F88-50CEC19B2F39}"/>
              </a:ext>
            </a:extLst>
          </p:cNvPr>
          <p:cNvSpPr/>
          <p:nvPr userDrawn="1"/>
        </p:nvSpPr>
        <p:spPr>
          <a:xfrm>
            <a:off x="11048399" y="6305108"/>
            <a:ext cx="841572" cy="29893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18654545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483E-5F5E-094B-AA7E-9C9009D239A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D68BAD-947C-A44A-B537-D5ECEDE537E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4FDE87-86D7-8344-A390-9D9ABFF07FE0}"/>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C338DD20-6E47-554F-AA74-29A68D9C4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9C52E-76F0-5C4A-BCE4-8755737AAE52}"/>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1258035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05F0-3A93-5043-A130-E0D0A712E2F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0E49EDA-CC6B-4D41-81B8-0104207F029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2940A7-10D0-EC43-B272-829BA40A8C9F}"/>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EA088F-6CFF-434E-A527-3A3DC227819B}"/>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D99A90DC-D877-E243-8A30-ADF5DB2839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FB2ADA-EE03-784F-B90C-FDF6088295A5}"/>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62033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2B4EA-6550-AC45-85DA-52EB658CADA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08CBBEF-8384-A64C-9347-C1559C17662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65EB9-D101-334D-9B55-9EE9352EBB9B}"/>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40F9A-ED4A-BC46-8672-66C345C172FA}"/>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52B9D-C7EF-124C-819B-B91794C2BED4}"/>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0BD071-6376-7C49-871B-5EE4475C9B28}"/>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8" name="Footer Placeholder 7">
            <a:extLst>
              <a:ext uri="{FF2B5EF4-FFF2-40B4-BE49-F238E27FC236}">
                <a16:creationId xmlns:a16="http://schemas.microsoft.com/office/drawing/2014/main" id="{21EFE286-BA1A-EB47-8B45-0F6515E5BF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3E8FBC-BBBC-3A4F-A509-3E15468D39CF}"/>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3994186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1BB10-954B-514C-8850-3404837030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F5D035F6-02EB-AA49-95C3-FDFA3D91F832}"/>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4" name="Footer Placeholder 3">
            <a:extLst>
              <a:ext uri="{FF2B5EF4-FFF2-40B4-BE49-F238E27FC236}">
                <a16:creationId xmlns:a16="http://schemas.microsoft.com/office/drawing/2014/main" id="{0BD26B58-2ED1-6A49-A46F-264D581858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959FE1-DB1E-214C-8C92-3F470CF1368E}"/>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13896719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F9F26F-AD06-E446-8A11-515EC8B8A736}"/>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3" name="Footer Placeholder 2">
            <a:extLst>
              <a:ext uri="{FF2B5EF4-FFF2-40B4-BE49-F238E27FC236}">
                <a16:creationId xmlns:a16="http://schemas.microsoft.com/office/drawing/2014/main" id="{270A755D-FE6C-2241-A225-139AD0053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636159-22A0-2546-81DA-BFF878472550}"/>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8425279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B24E-CF51-E14E-9BE0-43BA4C904AF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BE892D-6C49-AC4E-81A8-E5844AF7CF9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8EEAEA-12F7-0A41-92E8-1AAD77B9E7F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B8894-5E1D-F54E-9B59-9D36A041D491}"/>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4E461BA1-2F48-F34B-ACE3-A3DE0AB5D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293E9-C876-8546-BEB8-11861FBF0B5E}"/>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1620630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EFF0-6044-E443-8A17-23C7B4CCDBD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D33FA0-BB37-0F4B-AE5D-67C810BA542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8C8CCE-8498-A04B-9F53-820273EA2E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8881E-6E0D-6D4B-A8EE-960D6BB1EDAF}"/>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FB92C2E7-DB1C-4045-BBF7-F9A26A567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A128CD-A221-C44D-946B-50C5568F1DF4}"/>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4510500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9213E-9384-CD42-AC52-9CB4758FF50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E350B5-A77F-EE45-9716-48EE72E2C92C}"/>
              </a:ext>
            </a:extLst>
          </p:cNvPr>
          <p:cNvSpPr>
            <a:spLocks noGrp="1"/>
          </p:cNvSpPr>
          <p:nvPr>
            <p:ph type="body" orient="vert" idx="1"/>
          </p:nvPr>
        </p:nvSpPr>
        <p:spPr>
          <a:xfrm>
            <a:off x="838199" y="1411286"/>
            <a:ext cx="10515600" cy="489179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6CCC1-6FB6-AE4D-A4B1-CE23792E5A42}"/>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6FB7A6A0-C8F5-1D4F-BF45-0E6682CC08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1E7E4-E9B1-1C45-8D1B-EF202CF84237}"/>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8953065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F89DAE-6F79-C440-9E6A-3A02AE68BC7F}"/>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9B25EA-D819-7A44-B096-AF271FA7BF92}"/>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28FC8-2867-C044-BE65-0EF97A6DE184}"/>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8EA303AE-AD83-3144-946D-D2D773AD4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A3F09-2980-0948-BF92-96B0898483B1}"/>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353920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87" b="1" i="0">
                <a:solidFill>
                  <a:srgbClr val="000D3D"/>
                </a:solidFill>
                <a:latin typeface="Impact"/>
                <a:cs typeface="Impact"/>
              </a:defRPr>
            </a:lvl1pPr>
          </a:lstStyle>
          <a:p>
            <a:endParaRPr/>
          </a:p>
        </p:txBody>
      </p:sp>
      <p:sp>
        <p:nvSpPr>
          <p:cNvPr id="3" name="Holder 3"/>
          <p:cNvSpPr>
            <a:spLocks noGrp="1"/>
          </p:cNvSpPr>
          <p:nvPr>
            <p:ph type="body" idx="1"/>
          </p:nvPr>
        </p:nvSpPr>
        <p:spPr/>
        <p:txBody>
          <a:bodyPr lIns="0" tIns="0" rIns="0" bIns="0"/>
          <a:lstStyle>
            <a:lvl1pPr>
              <a:defRPr sz="3002" b="0" i="0">
                <a:solidFill>
                  <a:srgbClr val="000D3D"/>
                </a:solidFill>
                <a:latin typeface="Avenir-Book"/>
                <a:cs typeface="Avenir-Boo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14687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4315-2C33-3D4E-B22E-13E5F59FF0B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3C33A6-BE7B-EC4D-B567-B49FD8F15B9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32335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A3E5-051A-D345-A0EE-57CD053C55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B3B0208-E52F-1D43-B74D-5998963844F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6762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4B92-906F-4145-AE89-1EE879A52D9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6DB41B-56F8-C44B-8DE8-14095AA0099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6023645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2B3B-35FB-8A42-9F5F-1AD0EB17AE1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D050AD5-6484-5640-9E99-12BEFF3E1B5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BBFA2C-927C-8349-8FF8-2ED8E20AC1A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08652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CE762-45F9-7D45-99D1-309DA6F962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7591110-40BE-0E40-A4DA-8776F378BA7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2A4C5F-56CF-F14F-8F94-DE219818CE7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629399-3F68-2A43-A703-CD18838F29F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FD6F9-6B38-5D44-B33F-9938910F82CD}"/>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91494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6001F-F37B-9B45-8960-062C9ACCAD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1276719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7767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3B7C-3D02-FB47-8EE1-202FD3D68A3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D8459-4E26-EF4C-83E0-B6D35F13EEB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E43129-3A51-7A42-9A32-ECB5884BA9D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634737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225E8-A933-F948-885E-A2A1A44DE2C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353DD0-97AD-504C-9ED2-B072B027ABF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2C2839-AE38-8B41-ADF0-C24CDF67F85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601459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0F3CF-9D8D-6344-BBDA-6106D87D476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F50095-2067-5C46-B06B-AAF8C1A9053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6120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3928D-D62D-7945-987C-AFE74C80923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8CE6EA-A8B9-0840-954C-DE593BFCC46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99193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5C15-C6AE-8B4A-8E87-85C93E669BC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83258D-AE6F-A540-9E55-1F70BEE33CF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EE9D6F-4343-1644-B650-2DFBC89B187C}"/>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7EDE35A2-84B7-6D44-A2D6-E95E6A953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BEE66-CE0E-3E45-A9F5-21F9E9F64CCF}"/>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7363517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85C2F2-65B4-004E-B289-5B2A6D53015E}"/>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2C67CE6E-32F8-CE44-A82B-8D649A784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0E7CA-2811-614B-9615-A54884E0B944}"/>
              </a:ext>
            </a:extLst>
          </p:cNvPr>
          <p:cNvSpPr>
            <a:spLocks noGrp="1"/>
          </p:cNvSpPr>
          <p:nvPr>
            <p:ph type="sldNum" sz="quarter" idx="12"/>
          </p:nvPr>
        </p:nvSpPr>
        <p:spPr/>
        <p:txBody>
          <a:bodyPr/>
          <a:lstStyle/>
          <a:p>
            <a:fld id="{3222A9F1-9C4F-914D-914C-EB3E02B4145C}" type="slidenum">
              <a:rPr lang="en-US" smtClean="0"/>
              <a:t>‹#›</a:t>
            </a:fld>
            <a:endParaRPr lang="en-US"/>
          </a:p>
        </p:txBody>
      </p:sp>
      <p:sp>
        <p:nvSpPr>
          <p:cNvPr id="9" name="Rectangle 8">
            <a:extLst>
              <a:ext uri="{FF2B5EF4-FFF2-40B4-BE49-F238E27FC236}">
                <a16:creationId xmlns:a16="http://schemas.microsoft.com/office/drawing/2014/main" id="{475D2581-E290-D04C-B169-F2B3289EBF35}"/>
              </a:ext>
            </a:extLst>
          </p:cNvPr>
          <p:cNvSpPr/>
          <p:nvPr userDrawn="1"/>
        </p:nvSpPr>
        <p:spPr>
          <a:xfrm>
            <a:off x="490451" y="681037"/>
            <a:ext cx="11280371" cy="5811837"/>
          </a:xfrm>
          <a:prstGeom prst="rect">
            <a:avLst/>
          </a:prstGeom>
          <a:ln w="52354">
            <a:solidFill>
              <a:srgbClr val="E57200"/>
            </a:solidFill>
          </a:ln>
        </p:spPr>
        <p:txBody>
          <a:bodyPr wrap="square" lIns="0" tIns="0" rIns="0" bIns="0" rtlCol="0"/>
          <a:lstStyle/>
          <a:p>
            <a:endParaRPr lang="en-US" sz="1092">
              <a:solidFill>
                <a:schemeClr val="tx1"/>
              </a:solidFill>
            </a:endParaRPr>
          </a:p>
        </p:txBody>
      </p:sp>
      <p:sp>
        <p:nvSpPr>
          <p:cNvPr id="13" name="Text Placeholder 12">
            <a:extLst>
              <a:ext uri="{FF2B5EF4-FFF2-40B4-BE49-F238E27FC236}">
                <a16:creationId xmlns:a16="http://schemas.microsoft.com/office/drawing/2014/main" id="{714A42C6-AB3F-1C4D-8E02-AB78991E66FE}"/>
              </a:ext>
            </a:extLst>
          </p:cNvPr>
          <p:cNvSpPr>
            <a:spLocks noGrp="1"/>
          </p:cNvSpPr>
          <p:nvPr>
            <p:ph type="body" sz="quarter" idx="13" hasCustomPrompt="1"/>
          </p:nvPr>
        </p:nvSpPr>
        <p:spPr>
          <a:xfrm>
            <a:off x="838199" y="236801"/>
            <a:ext cx="10575924" cy="650875"/>
          </a:xfrm>
          <a:prstGeom prst="rect">
            <a:avLst/>
          </a:prstGeom>
        </p:spPr>
        <p:txBody>
          <a:bodyPr/>
          <a:lstStyle>
            <a:lvl1pPr marL="0" indent="0">
              <a:buNone/>
              <a:defRPr sz="4400" spc="100" baseline="0">
                <a:latin typeface="Impact" panose="020B0806030902050204" pitchFamily="34" charset="0"/>
              </a:defRPr>
            </a:lvl1pPr>
          </a:lstStyle>
          <a:p>
            <a:pPr lvl="0"/>
            <a:r>
              <a:rPr lang="en-US"/>
              <a:t>Click to edit title</a:t>
            </a:r>
          </a:p>
        </p:txBody>
      </p:sp>
      <p:sp>
        <p:nvSpPr>
          <p:cNvPr id="15" name="Text Placeholder 14">
            <a:extLst>
              <a:ext uri="{FF2B5EF4-FFF2-40B4-BE49-F238E27FC236}">
                <a16:creationId xmlns:a16="http://schemas.microsoft.com/office/drawing/2014/main" id="{F8D1AD34-1DD0-C142-BF4C-E70E15A96B6E}"/>
              </a:ext>
            </a:extLst>
          </p:cNvPr>
          <p:cNvSpPr>
            <a:spLocks noGrp="1"/>
          </p:cNvSpPr>
          <p:nvPr>
            <p:ph type="body" sz="quarter" idx="14" hasCustomPrompt="1"/>
          </p:nvPr>
        </p:nvSpPr>
        <p:spPr>
          <a:xfrm>
            <a:off x="887183" y="838884"/>
            <a:ext cx="10575925" cy="482600"/>
          </a:xfrm>
          <a:prstGeom prst="rect">
            <a:avLst/>
          </a:prstGeom>
        </p:spPr>
        <p:txBody>
          <a:bodyPr/>
          <a:lstStyle>
            <a:lvl1pPr marL="0" indent="0">
              <a:buNone/>
              <a:defRPr sz="2400">
                <a:latin typeface="Avenir Book" panose="02000503020000020003" pitchFamily="2" charset="0"/>
                <a:cs typeface="Arial" panose="020B0604020202020204" pitchFamily="34" charset="0"/>
              </a:defRPr>
            </a:lvl1pPr>
            <a:lvl2pPr>
              <a:defRPr sz="2400"/>
            </a:lvl2pPr>
            <a:lvl3pPr>
              <a:defRPr sz="2000"/>
            </a:lvl3pPr>
            <a:lvl4pPr>
              <a:defRPr sz="1800"/>
            </a:lvl4pPr>
            <a:lvl5pPr>
              <a:defRPr sz="1800"/>
            </a:lvl5pPr>
          </a:lstStyle>
          <a:p>
            <a:pPr lvl="0"/>
            <a:r>
              <a:rPr lang="en-US"/>
              <a:t>Click to edit subtitle</a:t>
            </a:r>
          </a:p>
        </p:txBody>
      </p:sp>
      <p:sp>
        <p:nvSpPr>
          <p:cNvPr id="17" name="Text Placeholder 16">
            <a:extLst>
              <a:ext uri="{FF2B5EF4-FFF2-40B4-BE49-F238E27FC236}">
                <a16:creationId xmlns:a16="http://schemas.microsoft.com/office/drawing/2014/main" id="{CB4C8B6C-1BCB-F144-959A-50375CDD8274}"/>
              </a:ext>
            </a:extLst>
          </p:cNvPr>
          <p:cNvSpPr>
            <a:spLocks noGrp="1"/>
          </p:cNvSpPr>
          <p:nvPr>
            <p:ph type="body" sz="quarter" idx="15"/>
          </p:nvPr>
        </p:nvSpPr>
        <p:spPr>
          <a:xfrm>
            <a:off x="887183" y="1429432"/>
            <a:ext cx="10526942" cy="4808537"/>
          </a:xfrm>
          <a:prstGeom prst="rect">
            <a:avLst/>
          </a:prstGeom>
        </p:spPr>
        <p:txBody>
          <a:bodyPr/>
          <a:lstStyle>
            <a:lvl1pPr>
              <a:defRPr sz="2400">
                <a:latin typeface="Avenir Book" panose="02000503020000020003" pitchFamily="2" charset="0"/>
              </a:defRPr>
            </a:lvl1pPr>
            <a:lvl2pPr>
              <a:defRPr sz="2000">
                <a:latin typeface="Avenir Book" panose="02000503020000020003" pitchFamily="2" charset="0"/>
              </a:defRPr>
            </a:lvl2pPr>
            <a:lvl3pPr>
              <a:defRPr sz="1800">
                <a:latin typeface="Avenir Book" panose="02000503020000020003" pitchFamily="2" charset="0"/>
              </a:defRPr>
            </a:lvl3pPr>
            <a:lvl4pPr>
              <a:defRPr sz="1600">
                <a:latin typeface="Avenir Book" panose="02000503020000020003" pitchFamily="2" charset="0"/>
              </a:defRPr>
            </a:lvl4pPr>
            <a:lvl5pPr>
              <a:defRPr sz="1600">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AC08C6E3-1C7C-AC4B-8DCE-23B363BAFD7C}"/>
              </a:ext>
            </a:extLst>
          </p:cNvPr>
          <p:cNvSpPr/>
          <p:nvPr userDrawn="1"/>
        </p:nvSpPr>
        <p:spPr>
          <a:xfrm>
            <a:off x="10989129" y="6254297"/>
            <a:ext cx="971550" cy="412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bject 9">
            <a:extLst>
              <a:ext uri="{FF2B5EF4-FFF2-40B4-BE49-F238E27FC236}">
                <a16:creationId xmlns:a16="http://schemas.microsoft.com/office/drawing/2014/main" id="{A1DECD65-9FF5-5E43-8F88-50CEC19B2F39}"/>
              </a:ext>
            </a:extLst>
          </p:cNvPr>
          <p:cNvSpPr/>
          <p:nvPr userDrawn="1"/>
        </p:nvSpPr>
        <p:spPr>
          <a:xfrm>
            <a:off x="11048399" y="6305108"/>
            <a:ext cx="841572" cy="29893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18654545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483E-5F5E-094B-AA7E-9C9009D239A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D68BAD-947C-A44A-B537-D5ECEDE537E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4FDE87-86D7-8344-A390-9D9ABFF07FE0}"/>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C338DD20-6E47-554F-AA74-29A68D9C4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9C52E-76F0-5C4A-BCE4-8755737AAE52}"/>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125803572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05F0-3A93-5043-A130-E0D0A712E2F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0E49EDA-CC6B-4D41-81B8-0104207F029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2940A7-10D0-EC43-B272-829BA40A8C9F}"/>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EA088F-6CFF-434E-A527-3A3DC227819B}"/>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D99A90DC-D877-E243-8A30-ADF5DB2839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FB2ADA-EE03-784F-B90C-FDF6088295A5}"/>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620339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2B4EA-6550-AC45-85DA-52EB658CADA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08CBBEF-8384-A64C-9347-C1559C17662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65EB9-D101-334D-9B55-9EE9352EBB9B}"/>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40F9A-ED4A-BC46-8672-66C345C172FA}"/>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52B9D-C7EF-124C-819B-B91794C2BED4}"/>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0BD071-6376-7C49-871B-5EE4475C9B28}"/>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8" name="Footer Placeholder 7">
            <a:extLst>
              <a:ext uri="{FF2B5EF4-FFF2-40B4-BE49-F238E27FC236}">
                <a16:creationId xmlns:a16="http://schemas.microsoft.com/office/drawing/2014/main" id="{21EFE286-BA1A-EB47-8B45-0F6515E5BF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3E8FBC-BBBC-3A4F-A509-3E15468D39CF}"/>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3994186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1BB10-954B-514C-8850-3404837030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F5D035F6-02EB-AA49-95C3-FDFA3D91F832}"/>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4" name="Footer Placeholder 3">
            <a:extLst>
              <a:ext uri="{FF2B5EF4-FFF2-40B4-BE49-F238E27FC236}">
                <a16:creationId xmlns:a16="http://schemas.microsoft.com/office/drawing/2014/main" id="{0BD26B58-2ED1-6A49-A46F-264D581858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959FE1-DB1E-214C-8C92-3F470CF1368E}"/>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13896719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F9F26F-AD06-E446-8A11-515EC8B8A736}"/>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3" name="Footer Placeholder 2">
            <a:extLst>
              <a:ext uri="{FF2B5EF4-FFF2-40B4-BE49-F238E27FC236}">
                <a16:creationId xmlns:a16="http://schemas.microsoft.com/office/drawing/2014/main" id="{270A755D-FE6C-2241-A225-139AD0053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636159-22A0-2546-81DA-BFF878472550}"/>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8425279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B24E-CF51-E14E-9BE0-43BA4C904AF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BE892D-6C49-AC4E-81A8-E5844AF7CF9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8EEAEA-12F7-0A41-92E8-1AAD77B9E7F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B8894-5E1D-F54E-9B59-9D36A041D491}"/>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4E461BA1-2F48-F34B-ACE3-A3DE0AB5D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293E9-C876-8546-BEB8-11861FBF0B5E}"/>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21620630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EFF0-6044-E443-8A17-23C7B4CCDBD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D33FA0-BB37-0F4B-AE5D-67C810BA542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8C8CCE-8498-A04B-9F53-820273EA2E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8881E-6E0D-6D4B-A8EE-960D6BB1EDAF}"/>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6" name="Footer Placeholder 5">
            <a:extLst>
              <a:ext uri="{FF2B5EF4-FFF2-40B4-BE49-F238E27FC236}">
                <a16:creationId xmlns:a16="http://schemas.microsoft.com/office/drawing/2014/main" id="{FB92C2E7-DB1C-4045-BBF7-F9A26A567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A128CD-A221-C44D-946B-50C5568F1DF4}"/>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4510500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9213E-9384-CD42-AC52-9CB4758FF50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E350B5-A77F-EE45-9716-48EE72E2C92C}"/>
              </a:ext>
            </a:extLst>
          </p:cNvPr>
          <p:cNvSpPr>
            <a:spLocks noGrp="1"/>
          </p:cNvSpPr>
          <p:nvPr>
            <p:ph type="body" orient="vert" idx="1"/>
          </p:nvPr>
        </p:nvSpPr>
        <p:spPr>
          <a:xfrm>
            <a:off x="838199" y="1411286"/>
            <a:ext cx="10515600" cy="489179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6CCC1-6FB6-AE4D-A4B1-CE23792E5A42}"/>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6FB7A6A0-C8F5-1D4F-BF45-0E6682CC08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1E7E4-E9B1-1C45-8D1B-EF202CF84237}"/>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8953065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F89DAE-6F79-C440-9E6A-3A02AE68BC7F}"/>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9B25EA-D819-7A44-B096-AF271FA7BF92}"/>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28FC8-2867-C044-BE65-0EF97A6DE184}"/>
              </a:ext>
            </a:extLst>
          </p:cNvPr>
          <p:cNvSpPr>
            <a:spLocks noGrp="1"/>
          </p:cNvSpPr>
          <p:nvPr>
            <p:ph type="dt" sz="half" idx="10"/>
          </p:nvPr>
        </p:nvSpPr>
        <p:spPr/>
        <p:txBody>
          <a:body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8EA303AE-AD83-3144-946D-D2D773AD4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A3F09-2980-0948-BF92-96B0898483B1}"/>
              </a:ext>
            </a:extLst>
          </p:cNvPr>
          <p:cNvSpPr>
            <a:spLocks noGrp="1"/>
          </p:cNvSpPr>
          <p:nvPr>
            <p:ph type="sldNum" sz="quarter" idx="12"/>
          </p:nvPr>
        </p:nvSpPr>
        <p:spPr/>
        <p:txBody>
          <a:bodyPr/>
          <a:lstStyle/>
          <a:p>
            <a:fld id="{3222A9F1-9C4F-914D-914C-EB3E02B4145C}" type="slidenum">
              <a:rPr lang="en-US" smtClean="0"/>
              <a:t>‹#›</a:t>
            </a:fld>
            <a:endParaRPr lang="en-US"/>
          </a:p>
        </p:txBody>
      </p:sp>
    </p:spTree>
    <p:extLst>
      <p:ext uri="{BB962C8B-B14F-4D97-AF65-F5344CB8AC3E}">
        <p14:creationId xmlns:p14="http://schemas.microsoft.com/office/powerpoint/2010/main" val="3353920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87" b="1" i="0">
                <a:solidFill>
                  <a:srgbClr val="000D3D"/>
                </a:solidFill>
                <a:latin typeface="Impact"/>
                <a:cs typeface="Impact"/>
              </a:defRPr>
            </a:lvl1pPr>
          </a:lstStyle>
          <a:p>
            <a:endParaRPr/>
          </a:p>
        </p:txBody>
      </p:sp>
      <p:sp>
        <p:nvSpPr>
          <p:cNvPr id="3" name="Holder 3"/>
          <p:cNvSpPr>
            <a:spLocks noGrp="1"/>
          </p:cNvSpPr>
          <p:nvPr>
            <p:ph type="body" idx="1"/>
          </p:nvPr>
        </p:nvSpPr>
        <p:spPr/>
        <p:txBody>
          <a:bodyPr lIns="0" tIns="0" rIns="0" bIns="0"/>
          <a:lstStyle>
            <a:lvl1pPr>
              <a:defRPr sz="3002" b="0" i="0">
                <a:solidFill>
                  <a:srgbClr val="000D3D"/>
                </a:solidFill>
                <a:latin typeface="Avenir-Book"/>
                <a:cs typeface="Avenir-Boo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146875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4515" y="136905"/>
            <a:ext cx="5946140" cy="655320"/>
          </a:xfrm>
          <a:prstGeom prst="rect">
            <a:avLst/>
          </a:prstGeom>
        </p:spPr>
        <p:txBody>
          <a:bodyPr wrap="square" lIns="0" tIns="0" rIns="0" bIns="0">
            <a:spAutoFit/>
          </a:bodyPr>
          <a:lstStyle>
            <a:lvl1pPr>
              <a:defRPr sz="4400" b="1" i="0">
                <a:solidFill>
                  <a:schemeClr val="tx1"/>
                </a:solidFill>
                <a:latin typeface="Impact"/>
                <a:cs typeface="Impac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Impact"/>
                <a:cs typeface="Impact"/>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Impact"/>
                <a:cs typeface="Impac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Impact"/>
                <a:cs typeface="Impac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62.xml"/><Relationship Id="rId7" Type="http://schemas.openxmlformats.org/officeDocument/2006/relationships/image" Target="../media/image2.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theme" Target="../theme/theme6.xml"/><Relationship Id="rId5" Type="http://schemas.openxmlformats.org/officeDocument/2006/relationships/slideLayout" Target="../slideLayouts/slideLayout64.xml"/><Relationship Id="rId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573B41-24D5-AE29-6434-7C20A3B887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DF0786-0922-0E52-7AFD-585B5D0313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CBB6C1-8320-3988-B938-491284ECC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71D32A-E5C6-B743-B546-EFD339824BB8}" type="datetimeFigureOut">
              <a:rPr lang="en-US" smtClean="0"/>
              <a:t>10/6/26</a:t>
            </a:fld>
            <a:endParaRPr lang="en-US"/>
          </a:p>
        </p:txBody>
      </p:sp>
      <p:sp>
        <p:nvSpPr>
          <p:cNvPr id="5" name="Footer Placeholder 4">
            <a:extLst>
              <a:ext uri="{FF2B5EF4-FFF2-40B4-BE49-F238E27FC236}">
                <a16:creationId xmlns:a16="http://schemas.microsoft.com/office/drawing/2014/main" id="{7FCF8217-072A-EFB5-DD63-BE39AF3A8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82B9B5-C622-7AF8-BA65-3847E1B529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74409-29D5-0447-983A-8F246C0BB1B6}" type="slidenum">
              <a:rPr lang="en-US" smtClean="0"/>
              <a:t>‹#›</a:t>
            </a:fld>
            <a:endParaRPr lang="en-US"/>
          </a:p>
        </p:txBody>
      </p:sp>
    </p:spTree>
    <p:extLst>
      <p:ext uri="{BB962C8B-B14F-4D97-AF65-F5344CB8AC3E}">
        <p14:creationId xmlns:p14="http://schemas.microsoft.com/office/powerpoint/2010/main" val="2260182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15093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701DE8-E8CF-5B49-8D24-85A7740F6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71AAB307-7E7C-2047-8DE7-7828E77355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5A8D47-678C-3141-A0FE-7AF986330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22A9F1-9C4F-914D-914C-EB3E02B4145C}" type="slidenum">
              <a:rPr lang="en-US" smtClean="0"/>
              <a:t>‹#›</a:t>
            </a:fld>
            <a:endParaRPr lang="en-US"/>
          </a:p>
        </p:txBody>
      </p:sp>
    </p:spTree>
    <p:extLst>
      <p:ext uri="{BB962C8B-B14F-4D97-AF65-F5344CB8AC3E}">
        <p14:creationId xmlns:p14="http://schemas.microsoft.com/office/powerpoint/2010/main" val="394046067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15093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701DE8-E8CF-5B49-8D24-85A7740F6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79BF20-FCEE-2746-9C9A-F14CA4278012}" type="datetimeFigureOut">
              <a:rPr lang="en-US" smtClean="0"/>
              <a:t>10/6/26</a:t>
            </a:fld>
            <a:endParaRPr lang="en-US"/>
          </a:p>
        </p:txBody>
      </p:sp>
      <p:sp>
        <p:nvSpPr>
          <p:cNvPr id="5" name="Footer Placeholder 4">
            <a:extLst>
              <a:ext uri="{FF2B5EF4-FFF2-40B4-BE49-F238E27FC236}">
                <a16:creationId xmlns:a16="http://schemas.microsoft.com/office/drawing/2014/main" id="{71AAB307-7E7C-2047-8DE7-7828E77355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5A8D47-678C-3141-A0FE-7AF986330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22A9F1-9C4F-914D-914C-EB3E02B4145C}" type="slidenum">
              <a:rPr lang="en-US" smtClean="0"/>
              <a:t>‹#›</a:t>
            </a:fld>
            <a:endParaRPr lang="en-US"/>
          </a:p>
        </p:txBody>
      </p:sp>
    </p:spTree>
    <p:extLst>
      <p:ext uri="{BB962C8B-B14F-4D97-AF65-F5344CB8AC3E}">
        <p14:creationId xmlns:p14="http://schemas.microsoft.com/office/powerpoint/2010/main" val="394046067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90537" y="681037"/>
            <a:ext cx="11287125" cy="5819775"/>
          </a:xfrm>
          <a:custGeom>
            <a:avLst/>
            <a:gdLst/>
            <a:ahLst/>
            <a:cxnLst/>
            <a:rect l="l" t="t" r="r" b="b"/>
            <a:pathLst>
              <a:path w="11287125" h="5819775">
                <a:moveTo>
                  <a:pt x="0" y="5819775"/>
                </a:moveTo>
                <a:lnTo>
                  <a:pt x="11287125" y="5819775"/>
                </a:lnTo>
                <a:lnTo>
                  <a:pt x="11287125" y="0"/>
                </a:lnTo>
                <a:lnTo>
                  <a:pt x="0" y="0"/>
                </a:lnTo>
                <a:lnTo>
                  <a:pt x="0" y="5819775"/>
                </a:lnTo>
                <a:close/>
              </a:path>
            </a:pathLst>
          </a:custGeom>
          <a:ln w="52349">
            <a:solidFill>
              <a:srgbClr val="E47100"/>
            </a:solidFill>
          </a:ln>
        </p:spPr>
        <p:txBody>
          <a:bodyPr wrap="square" lIns="0" tIns="0" rIns="0" bIns="0" rtlCol="0"/>
          <a:lstStyle/>
          <a:p>
            <a:endParaRPr dirty="0"/>
          </a:p>
        </p:txBody>
      </p:sp>
      <p:sp>
        <p:nvSpPr>
          <p:cNvPr id="17" name="bg object 17"/>
          <p:cNvSpPr/>
          <p:nvPr/>
        </p:nvSpPr>
        <p:spPr>
          <a:xfrm>
            <a:off x="10991849" y="6257925"/>
            <a:ext cx="971550" cy="409575"/>
          </a:xfrm>
          <a:custGeom>
            <a:avLst/>
            <a:gdLst/>
            <a:ahLst/>
            <a:cxnLst/>
            <a:rect l="l" t="t" r="r" b="b"/>
            <a:pathLst>
              <a:path w="971550" h="409575">
                <a:moveTo>
                  <a:pt x="971550" y="0"/>
                </a:moveTo>
                <a:lnTo>
                  <a:pt x="0" y="0"/>
                </a:lnTo>
                <a:lnTo>
                  <a:pt x="0" y="409575"/>
                </a:lnTo>
                <a:lnTo>
                  <a:pt x="971550" y="409575"/>
                </a:lnTo>
                <a:lnTo>
                  <a:pt x="971550" y="0"/>
                </a:lnTo>
                <a:close/>
              </a:path>
            </a:pathLst>
          </a:custGeom>
          <a:solidFill>
            <a:srgbClr val="FFFFFF"/>
          </a:solidFill>
        </p:spPr>
        <p:txBody>
          <a:bodyPr wrap="square" lIns="0" tIns="0" rIns="0" bIns="0" rtlCol="0"/>
          <a:lstStyle/>
          <a:p>
            <a:endParaRPr dirty="0"/>
          </a:p>
        </p:txBody>
      </p:sp>
      <p:pic>
        <p:nvPicPr>
          <p:cNvPr id="18" name="bg object 18"/>
          <p:cNvPicPr/>
          <p:nvPr/>
        </p:nvPicPr>
        <p:blipFill>
          <a:blip r:embed="rId7" cstate="print"/>
          <a:stretch>
            <a:fillRect/>
          </a:stretch>
        </p:blipFill>
        <p:spPr>
          <a:xfrm>
            <a:off x="11048999" y="6305550"/>
            <a:ext cx="838200" cy="295275"/>
          </a:xfrm>
          <a:prstGeom prst="rect">
            <a:avLst/>
          </a:prstGeom>
        </p:spPr>
      </p:pic>
      <p:sp>
        <p:nvSpPr>
          <p:cNvPr id="2" name="Holder 2"/>
          <p:cNvSpPr>
            <a:spLocks noGrp="1"/>
          </p:cNvSpPr>
          <p:nvPr>
            <p:ph type="title"/>
          </p:nvPr>
        </p:nvSpPr>
        <p:spPr>
          <a:xfrm>
            <a:off x="564515" y="136905"/>
            <a:ext cx="11062969" cy="655320"/>
          </a:xfrm>
          <a:prstGeom prst="rect">
            <a:avLst/>
          </a:prstGeom>
        </p:spPr>
        <p:txBody>
          <a:bodyPr wrap="square" lIns="0" tIns="0" rIns="0" bIns="0">
            <a:spAutoFit/>
          </a:bodyPr>
          <a:lstStyle>
            <a:lvl1pPr>
              <a:defRPr sz="4400" b="1" i="0">
                <a:solidFill>
                  <a:schemeClr val="tx1"/>
                </a:solidFill>
                <a:latin typeface="Impact"/>
                <a:cs typeface="Impact"/>
              </a:defRPr>
            </a:lvl1pPr>
          </a:lstStyle>
          <a:p>
            <a:endParaRPr/>
          </a:p>
        </p:txBody>
      </p:sp>
      <p:sp>
        <p:nvSpPr>
          <p:cNvPr id="3" name="Holder 3"/>
          <p:cNvSpPr>
            <a:spLocks noGrp="1"/>
          </p:cNvSpPr>
          <p:nvPr>
            <p:ph type="body" idx="1"/>
          </p:nvPr>
        </p:nvSpPr>
        <p:spPr>
          <a:xfrm>
            <a:off x="947102" y="1206563"/>
            <a:ext cx="9088755" cy="4441825"/>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10/6/26</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30.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eg"/><Relationship Id="rId1" Type="http://schemas.openxmlformats.org/officeDocument/2006/relationships/slideLayout" Target="../slideLayouts/slideLayout12.xml"/><Relationship Id="rId5" Type="http://schemas.openxmlformats.org/officeDocument/2006/relationships/image" Target="../media/image15.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uva-bi-sdad.github.io/sdc.intro/health_equity.html"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5.png"/><Relationship Id="rId18" Type="http://schemas.openxmlformats.org/officeDocument/2006/relationships/customXml" Target="../ink/ink8.xml"/><Relationship Id="rId26" Type="http://schemas.openxmlformats.org/officeDocument/2006/relationships/image" Target="../media/image20.png"/><Relationship Id="rId3" Type="http://schemas.openxmlformats.org/officeDocument/2006/relationships/image" Target="../media/image19.png"/><Relationship Id="rId21" Type="http://schemas.openxmlformats.org/officeDocument/2006/relationships/image" Target="../media/image39.png"/><Relationship Id="rId7" Type="http://schemas.openxmlformats.org/officeDocument/2006/relationships/image" Target="../media/image32.png"/><Relationship Id="rId12" Type="http://schemas.openxmlformats.org/officeDocument/2006/relationships/customXml" Target="../ink/ink5.xml"/><Relationship Id="rId17" Type="http://schemas.openxmlformats.org/officeDocument/2006/relationships/image" Target="../media/image37.png"/><Relationship Id="rId25" Type="http://schemas.openxmlformats.org/officeDocument/2006/relationships/image" Target="../media/image41.png"/><Relationship Id="rId2" Type="http://schemas.openxmlformats.org/officeDocument/2006/relationships/hyperlink" Target="https://github.com/uva-bi-sdad/sdc.health/tree/main/Health%20Care%20Services" TargetMode="Externa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6.xml"/><Relationship Id="rId6" Type="http://schemas.openxmlformats.org/officeDocument/2006/relationships/customXml" Target="../ink/ink2.xml"/><Relationship Id="rId11" Type="http://schemas.openxmlformats.org/officeDocument/2006/relationships/image" Target="../media/image34.png"/><Relationship Id="rId24" Type="http://schemas.openxmlformats.org/officeDocument/2006/relationships/customXml" Target="../ink/ink11.xml"/><Relationship Id="rId5" Type="http://schemas.openxmlformats.org/officeDocument/2006/relationships/image" Target="../media/image31.png"/><Relationship Id="rId15" Type="http://schemas.openxmlformats.org/officeDocument/2006/relationships/image" Target="../media/image36.png"/><Relationship Id="rId23" Type="http://schemas.openxmlformats.org/officeDocument/2006/relationships/image" Target="../media/image40.png"/><Relationship Id="rId10" Type="http://schemas.openxmlformats.org/officeDocument/2006/relationships/customXml" Target="../ink/ink4.xml"/><Relationship Id="rId19" Type="http://schemas.openxmlformats.org/officeDocument/2006/relationships/image" Target="../media/image38.png"/><Relationship Id="rId4" Type="http://schemas.openxmlformats.org/officeDocument/2006/relationships/customXml" Target="../ink/ink1.xml"/><Relationship Id="rId9" Type="http://schemas.openxmlformats.org/officeDocument/2006/relationships/image" Target="../media/image33.png"/><Relationship Id="rId14" Type="http://schemas.openxmlformats.org/officeDocument/2006/relationships/customXml" Target="../ink/ink6.xml"/><Relationship Id="rId22" Type="http://schemas.openxmlformats.org/officeDocument/2006/relationships/customXml" Target="../ink/ink10.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uva-bi-sdad.github.io/sdc.metadata" TargetMode="Externa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hyperlink" Target="https://uva-bi-sdad.github.io/vdh_rural_health_site/" TargetMode="External"/><Relationship Id="rId2" Type="http://schemas.openxmlformats.org/officeDocument/2006/relationships/hyperlink" Target="https://uva-bi-sdad.github.io/capital_region/" TargetMode="External"/><Relationship Id="rId1" Type="http://schemas.openxmlformats.org/officeDocument/2006/relationships/slideLayout" Target="../slideLayouts/slideLayout2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8" Type="http://schemas.openxmlformats.org/officeDocument/2006/relationships/hyperlink" Target="https://uva-bi-sdad.github.io/sdc.intro/broadband.html" TargetMode="External"/><Relationship Id="rId3" Type="http://schemas.openxmlformats.org/officeDocument/2006/relationships/hyperlink" Target="https://uva-bi-sdad.github.io/vdh_rural_health_site" TargetMode="External"/><Relationship Id="rId7" Type="http://schemas.openxmlformats.org/officeDocument/2006/relationships/hyperlink" Target="https://uva-bi-sdad.github.io/sdc.intro/health_equity.html" TargetMode="External"/><Relationship Id="rId2" Type="http://schemas.openxmlformats.org/officeDocument/2006/relationships/hyperlink" Target="https://uva-bi-sdad.github.io/capital_region" TargetMode="External"/><Relationship Id="rId1" Type="http://schemas.openxmlformats.org/officeDocument/2006/relationships/slideLayout" Target="../slideLayouts/slideLayout26.xml"/><Relationship Id="rId6" Type="http://schemas.openxmlformats.org/officeDocument/2006/relationships/hyperlink" Target="https://uva-bi-sdad.github.io/redistribute/articles/introduction.html" TargetMode="External"/><Relationship Id="rId5" Type="http://schemas.openxmlformats.org/officeDocument/2006/relationships/hyperlink" Target="https://uva-bi-sdad.github.io/catchment/articles/introduction.html" TargetMode="External"/><Relationship Id="rId4" Type="http://schemas.openxmlformats.org/officeDocument/2006/relationships/hyperlink" Target="https://github.com/uva-bi-sdad/sdc.all/tree/main/data" TargetMode="External"/><Relationship Id="rId9" Type="http://schemas.openxmlformats.org/officeDocument/2006/relationships/hyperlink" Target="https://uva-bi-sdad.github.io/sdc.intro/economic_diversity.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uva-bi-sdad.github.io/capital_region" TargetMode="External"/><Relationship Id="rId2" Type="http://schemas.openxmlformats.org/officeDocument/2006/relationships/hyperlink" Target="https://uva-bi-sdad.github.io/sdc.intro" TargetMode="External"/><Relationship Id="rId1" Type="http://schemas.openxmlformats.org/officeDocument/2006/relationships/slideLayout" Target="../slideLayouts/slideLayout2.xml"/><Relationship Id="rId5" Type="http://schemas.openxmlformats.org/officeDocument/2006/relationships/hyperlink" Target="https://uva-bi-sdad.github.io/sdc.metadata/" TargetMode="External"/><Relationship Id="rId4" Type="http://schemas.openxmlformats.org/officeDocument/2006/relationships/hyperlink" Target="https://datascienceforthepublicgood.org/economic-mobility/research-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71349" y="1001643"/>
            <a:ext cx="9649333" cy="4660436"/>
          </a:xfrm>
          <a:custGeom>
            <a:avLst/>
            <a:gdLst/>
            <a:ahLst/>
            <a:cxnLst/>
            <a:rect l="l" t="t" r="r" b="b"/>
            <a:pathLst>
              <a:path w="15912465" h="7685405">
                <a:moveTo>
                  <a:pt x="0" y="7685158"/>
                </a:moveTo>
                <a:lnTo>
                  <a:pt x="15912426" y="7685158"/>
                </a:lnTo>
                <a:lnTo>
                  <a:pt x="15912426" y="0"/>
                </a:lnTo>
                <a:lnTo>
                  <a:pt x="0" y="0"/>
                </a:lnTo>
                <a:lnTo>
                  <a:pt x="0" y="7685158"/>
                </a:lnTo>
                <a:close/>
              </a:path>
            </a:pathLst>
          </a:custGeom>
          <a:ln w="52354">
            <a:solidFill>
              <a:srgbClr val="F99F1C"/>
            </a:solidFill>
          </a:ln>
        </p:spPr>
        <p:txBody>
          <a:bodyPr wrap="square" lIns="0" tIns="0" rIns="0" bIns="0" rtlCol="0"/>
          <a:lstStyle/>
          <a:p>
            <a:endParaRPr sz="1092"/>
          </a:p>
        </p:txBody>
      </p:sp>
      <p:sp>
        <p:nvSpPr>
          <p:cNvPr id="3" name="object 3"/>
          <p:cNvSpPr/>
          <p:nvPr/>
        </p:nvSpPr>
        <p:spPr>
          <a:xfrm>
            <a:off x="3160479" y="1694804"/>
            <a:ext cx="5934615" cy="1410106"/>
          </a:xfrm>
          <a:custGeom>
            <a:avLst/>
            <a:gdLst/>
            <a:ahLst/>
            <a:cxnLst/>
            <a:rect l="l" t="t" r="r" b="b"/>
            <a:pathLst>
              <a:path w="9786619" h="2325370">
                <a:moveTo>
                  <a:pt x="318786" y="1478886"/>
                </a:moveTo>
                <a:lnTo>
                  <a:pt x="10261" y="1478886"/>
                </a:lnTo>
                <a:lnTo>
                  <a:pt x="10307" y="1631105"/>
                </a:lnTo>
                <a:lnTo>
                  <a:pt x="10717" y="1685907"/>
                </a:lnTo>
                <a:lnTo>
                  <a:pt x="12085" y="1743259"/>
                </a:lnTo>
                <a:lnTo>
                  <a:pt x="14365" y="1797035"/>
                </a:lnTo>
                <a:lnTo>
                  <a:pt x="17558" y="1847234"/>
                </a:lnTo>
                <a:lnTo>
                  <a:pt x="21663" y="1893857"/>
                </a:lnTo>
                <a:lnTo>
                  <a:pt x="26680" y="1936904"/>
                </a:lnTo>
                <a:lnTo>
                  <a:pt x="32611" y="1976376"/>
                </a:lnTo>
                <a:lnTo>
                  <a:pt x="53733" y="2064927"/>
                </a:lnTo>
                <a:lnTo>
                  <a:pt x="73222" y="2113722"/>
                </a:lnTo>
                <a:lnTo>
                  <a:pt x="97922" y="2158656"/>
                </a:lnTo>
                <a:lnTo>
                  <a:pt x="127831" y="2199728"/>
                </a:lnTo>
                <a:lnTo>
                  <a:pt x="162947" y="2236937"/>
                </a:lnTo>
                <a:lnTo>
                  <a:pt x="202225" y="2268683"/>
                </a:lnTo>
                <a:lnTo>
                  <a:pt x="244628" y="2293380"/>
                </a:lnTo>
                <a:lnTo>
                  <a:pt x="290157" y="2311024"/>
                </a:lnTo>
                <a:lnTo>
                  <a:pt x="338813" y="2321613"/>
                </a:lnTo>
                <a:lnTo>
                  <a:pt x="390595" y="2325143"/>
                </a:lnTo>
                <a:lnTo>
                  <a:pt x="438003" y="2322084"/>
                </a:lnTo>
                <a:lnTo>
                  <a:pt x="483012" y="2312904"/>
                </a:lnTo>
                <a:lnTo>
                  <a:pt x="525624" y="2297605"/>
                </a:lnTo>
                <a:lnTo>
                  <a:pt x="565838" y="2276185"/>
                </a:lnTo>
                <a:lnTo>
                  <a:pt x="603657" y="2248643"/>
                </a:lnTo>
                <a:lnTo>
                  <a:pt x="637884" y="2216587"/>
                </a:lnTo>
                <a:lnTo>
                  <a:pt x="667347" y="2181609"/>
                </a:lnTo>
                <a:lnTo>
                  <a:pt x="692047" y="2143708"/>
                </a:lnTo>
                <a:lnTo>
                  <a:pt x="711982" y="2102882"/>
                </a:lnTo>
                <a:lnTo>
                  <a:pt x="727150" y="2059131"/>
                </a:lnTo>
                <a:lnTo>
                  <a:pt x="742800" y="1984322"/>
                </a:lnTo>
                <a:lnTo>
                  <a:pt x="747593" y="1947500"/>
                </a:lnTo>
                <a:lnTo>
                  <a:pt x="377978" y="1947500"/>
                </a:lnTo>
                <a:lnTo>
                  <a:pt x="362660" y="1945262"/>
                </a:lnTo>
                <a:lnTo>
                  <a:pt x="331811" y="1911659"/>
                </a:lnTo>
                <a:lnTo>
                  <a:pt x="322043" y="1853434"/>
                </a:lnTo>
                <a:lnTo>
                  <a:pt x="319600" y="1807521"/>
                </a:lnTo>
                <a:lnTo>
                  <a:pt x="318786" y="1750407"/>
                </a:lnTo>
                <a:lnTo>
                  <a:pt x="318786" y="1478886"/>
                </a:lnTo>
                <a:close/>
              </a:path>
              <a:path w="9786619" h="2325370">
                <a:moveTo>
                  <a:pt x="360617" y="0"/>
                </a:moveTo>
                <a:lnTo>
                  <a:pt x="303603" y="4177"/>
                </a:lnTo>
                <a:lnTo>
                  <a:pt x="250928" y="16711"/>
                </a:lnTo>
                <a:lnTo>
                  <a:pt x="202593" y="37600"/>
                </a:lnTo>
                <a:lnTo>
                  <a:pt x="158602" y="66846"/>
                </a:lnTo>
                <a:lnTo>
                  <a:pt x="119662" y="103504"/>
                </a:lnTo>
                <a:lnTo>
                  <a:pt x="86494" y="146619"/>
                </a:lnTo>
                <a:lnTo>
                  <a:pt x="59098" y="196192"/>
                </a:lnTo>
                <a:lnTo>
                  <a:pt x="37475" y="252222"/>
                </a:lnTo>
                <a:lnTo>
                  <a:pt x="19120" y="331211"/>
                </a:lnTo>
                <a:lnTo>
                  <a:pt x="12236" y="379141"/>
                </a:lnTo>
                <a:lnTo>
                  <a:pt x="6883" y="432695"/>
                </a:lnTo>
                <a:lnTo>
                  <a:pt x="3059" y="491874"/>
                </a:lnTo>
                <a:lnTo>
                  <a:pt x="764" y="556680"/>
                </a:lnTo>
                <a:lnTo>
                  <a:pt x="0" y="627111"/>
                </a:lnTo>
                <a:lnTo>
                  <a:pt x="733" y="684616"/>
                </a:lnTo>
                <a:lnTo>
                  <a:pt x="2935" y="738598"/>
                </a:lnTo>
                <a:lnTo>
                  <a:pt x="6605" y="789058"/>
                </a:lnTo>
                <a:lnTo>
                  <a:pt x="11744" y="835995"/>
                </a:lnTo>
                <a:lnTo>
                  <a:pt x="18351" y="879410"/>
                </a:lnTo>
                <a:lnTo>
                  <a:pt x="26428" y="919301"/>
                </a:lnTo>
                <a:lnTo>
                  <a:pt x="40509" y="973406"/>
                </a:lnTo>
                <a:lnTo>
                  <a:pt x="56316" y="1021302"/>
                </a:lnTo>
                <a:lnTo>
                  <a:pt x="73849" y="1062992"/>
                </a:lnTo>
                <a:lnTo>
                  <a:pt x="93107" y="1098479"/>
                </a:lnTo>
                <a:lnTo>
                  <a:pt x="138687" y="1162880"/>
                </a:lnTo>
                <a:lnTo>
                  <a:pt x="171512" y="1204502"/>
                </a:lnTo>
                <a:lnTo>
                  <a:pt x="211028" y="1252408"/>
                </a:lnTo>
                <a:lnTo>
                  <a:pt x="303096" y="1360133"/>
                </a:lnTo>
                <a:lnTo>
                  <a:pt x="341571" y="1407161"/>
                </a:lnTo>
                <a:lnTo>
                  <a:pt x="372662" y="1447682"/>
                </a:lnTo>
                <a:lnTo>
                  <a:pt x="396368" y="1481695"/>
                </a:lnTo>
                <a:lnTo>
                  <a:pt x="423770" y="1538924"/>
                </a:lnTo>
                <a:lnTo>
                  <a:pt x="432387" y="1579558"/>
                </a:lnTo>
                <a:lnTo>
                  <a:pt x="438541" y="1631105"/>
                </a:lnTo>
                <a:lnTo>
                  <a:pt x="442232" y="1693565"/>
                </a:lnTo>
                <a:lnTo>
                  <a:pt x="443462" y="1766940"/>
                </a:lnTo>
                <a:lnTo>
                  <a:pt x="442452" y="1808983"/>
                </a:lnTo>
                <a:lnTo>
                  <a:pt x="434367" y="1876517"/>
                </a:lnTo>
                <a:lnTo>
                  <a:pt x="418142" y="1921915"/>
                </a:lnTo>
                <a:lnTo>
                  <a:pt x="377978" y="1947500"/>
                </a:lnTo>
                <a:lnTo>
                  <a:pt x="747593" y="1947500"/>
                </a:lnTo>
                <a:lnTo>
                  <a:pt x="753235" y="1889028"/>
                </a:lnTo>
                <a:lnTo>
                  <a:pt x="756497" y="1833699"/>
                </a:lnTo>
                <a:lnTo>
                  <a:pt x="758455" y="1773248"/>
                </a:lnTo>
                <a:lnTo>
                  <a:pt x="759107" y="1707675"/>
                </a:lnTo>
                <a:lnTo>
                  <a:pt x="758531" y="1643878"/>
                </a:lnTo>
                <a:lnTo>
                  <a:pt x="756802" y="1583692"/>
                </a:lnTo>
                <a:lnTo>
                  <a:pt x="753920" y="1527116"/>
                </a:lnTo>
                <a:lnTo>
                  <a:pt x="749887" y="1474150"/>
                </a:lnTo>
                <a:lnTo>
                  <a:pt x="744701" y="1424795"/>
                </a:lnTo>
                <a:lnTo>
                  <a:pt x="738363" y="1379050"/>
                </a:lnTo>
                <a:lnTo>
                  <a:pt x="730873" y="1336915"/>
                </a:lnTo>
                <a:lnTo>
                  <a:pt x="722232" y="1298391"/>
                </a:lnTo>
                <a:lnTo>
                  <a:pt x="701496" y="1232171"/>
                </a:lnTo>
                <a:lnTo>
                  <a:pt x="667783" y="1162557"/>
                </a:lnTo>
                <a:lnTo>
                  <a:pt x="644845" y="1124694"/>
                </a:lnTo>
                <a:lnTo>
                  <a:pt x="617853" y="1084795"/>
                </a:lnTo>
                <a:lnTo>
                  <a:pt x="586806" y="1042858"/>
                </a:lnTo>
                <a:lnTo>
                  <a:pt x="551704" y="998884"/>
                </a:lnTo>
                <a:lnTo>
                  <a:pt x="512548" y="952873"/>
                </a:lnTo>
                <a:lnTo>
                  <a:pt x="469336" y="904824"/>
                </a:lnTo>
                <a:lnTo>
                  <a:pt x="422070" y="854738"/>
                </a:lnTo>
                <a:lnTo>
                  <a:pt x="387195" y="816266"/>
                </a:lnTo>
                <a:lnTo>
                  <a:pt x="359923" y="780702"/>
                </a:lnTo>
                <a:lnTo>
                  <a:pt x="340257" y="748050"/>
                </a:lnTo>
                <a:lnTo>
                  <a:pt x="320628" y="686597"/>
                </a:lnTo>
                <a:lnTo>
                  <a:pt x="315223" y="647978"/>
                </a:lnTo>
                <a:lnTo>
                  <a:pt x="311981" y="602463"/>
                </a:lnTo>
                <a:lnTo>
                  <a:pt x="310901" y="550056"/>
                </a:lnTo>
                <a:lnTo>
                  <a:pt x="311863" y="509368"/>
                </a:lnTo>
                <a:lnTo>
                  <a:pt x="319555" y="444554"/>
                </a:lnTo>
                <a:lnTo>
                  <a:pt x="334890" y="401704"/>
                </a:lnTo>
                <a:lnTo>
                  <a:pt x="371664" y="377642"/>
                </a:lnTo>
                <a:lnTo>
                  <a:pt x="721481" y="377642"/>
                </a:lnTo>
                <a:lnTo>
                  <a:pt x="716388" y="333104"/>
                </a:lnTo>
                <a:lnTo>
                  <a:pt x="709745" y="291907"/>
                </a:lnTo>
                <a:lnTo>
                  <a:pt x="683253" y="203944"/>
                </a:lnTo>
                <a:lnTo>
                  <a:pt x="656918" y="155579"/>
                </a:lnTo>
                <a:lnTo>
                  <a:pt x="622889" y="111945"/>
                </a:lnTo>
                <a:lnTo>
                  <a:pt x="581165" y="73044"/>
                </a:lnTo>
                <a:lnTo>
                  <a:pt x="543177" y="46751"/>
                </a:lnTo>
                <a:lnTo>
                  <a:pt x="502128" y="26299"/>
                </a:lnTo>
                <a:lnTo>
                  <a:pt x="458019" y="11689"/>
                </a:lnTo>
                <a:lnTo>
                  <a:pt x="410848" y="2922"/>
                </a:lnTo>
                <a:lnTo>
                  <a:pt x="360617" y="0"/>
                </a:lnTo>
                <a:close/>
              </a:path>
              <a:path w="9786619" h="2325370">
                <a:moveTo>
                  <a:pt x="721481" y="377642"/>
                </a:moveTo>
                <a:lnTo>
                  <a:pt x="371664" y="377642"/>
                </a:lnTo>
                <a:lnTo>
                  <a:pt x="384484" y="379625"/>
                </a:lnTo>
                <a:lnTo>
                  <a:pt x="395333" y="385570"/>
                </a:lnTo>
                <a:lnTo>
                  <a:pt x="416293" y="430452"/>
                </a:lnTo>
                <a:lnTo>
                  <a:pt x="422210" y="504190"/>
                </a:lnTo>
                <a:lnTo>
                  <a:pt x="422855" y="550056"/>
                </a:lnTo>
                <a:lnTo>
                  <a:pt x="422950" y="722208"/>
                </a:lnTo>
                <a:lnTo>
                  <a:pt x="731485" y="722208"/>
                </a:lnTo>
                <a:lnTo>
                  <a:pt x="731428" y="627111"/>
                </a:lnTo>
                <a:lnTo>
                  <a:pt x="730881" y="561168"/>
                </a:lnTo>
                <a:lnTo>
                  <a:pt x="729070" y="494661"/>
                </a:lnTo>
                <a:lnTo>
                  <a:pt x="726050" y="434482"/>
                </a:lnTo>
                <a:lnTo>
                  <a:pt x="721823" y="380629"/>
                </a:lnTo>
                <a:lnTo>
                  <a:pt x="721481" y="377642"/>
                </a:lnTo>
                <a:close/>
              </a:path>
              <a:path w="9786619" h="2325370">
                <a:moveTo>
                  <a:pt x="1254244" y="0"/>
                </a:moveTo>
                <a:lnTo>
                  <a:pt x="1201861" y="3875"/>
                </a:lnTo>
                <a:lnTo>
                  <a:pt x="1152836" y="15503"/>
                </a:lnTo>
                <a:lnTo>
                  <a:pt x="1107168" y="34884"/>
                </a:lnTo>
                <a:lnTo>
                  <a:pt x="1064857" y="62019"/>
                </a:lnTo>
                <a:lnTo>
                  <a:pt x="1026314" y="96390"/>
                </a:lnTo>
                <a:lnTo>
                  <a:pt x="991964" y="137480"/>
                </a:lnTo>
                <a:lnTo>
                  <a:pt x="961808" y="185288"/>
                </a:lnTo>
                <a:lnTo>
                  <a:pt x="935845" y="239814"/>
                </a:lnTo>
                <a:lnTo>
                  <a:pt x="918293" y="287090"/>
                </a:lnTo>
                <a:lnTo>
                  <a:pt x="903835" y="336297"/>
                </a:lnTo>
                <a:lnTo>
                  <a:pt x="892472" y="387434"/>
                </a:lnTo>
                <a:lnTo>
                  <a:pt x="884203" y="440496"/>
                </a:lnTo>
                <a:lnTo>
                  <a:pt x="879030" y="495482"/>
                </a:lnTo>
                <a:lnTo>
                  <a:pt x="875444" y="567363"/>
                </a:lnTo>
                <a:lnTo>
                  <a:pt x="873987" y="610577"/>
                </a:lnTo>
                <a:lnTo>
                  <a:pt x="872754" y="658640"/>
                </a:lnTo>
                <a:lnTo>
                  <a:pt x="871745" y="711551"/>
                </a:lnTo>
                <a:lnTo>
                  <a:pt x="870961" y="769310"/>
                </a:lnTo>
                <a:lnTo>
                  <a:pt x="870400" y="831918"/>
                </a:lnTo>
                <a:lnTo>
                  <a:pt x="870064" y="899373"/>
                </a:lnTo>
                <a:lnTo>
                  <a:pt x="870072" y="1425768"/>
                </a:lnTo>
                <a:lnTo>
                  <a:pt x="870331" y="1483019"/>
                </a:lnTo>
                <a:lnTo>
                  <a:pt x="870806" y="1541598"/>
                </a:lnTo>
                <a:lnTo>
                  <a:pt x="871469" y="1596042"/>
                </a:lnTo>
                <a:lnTo>
                  <a:pt x="872322" y="1646351"/>
                </a:lnTo>
                <a:lnTo>
                  <a:pt x="873365" y="1692525"/>
                </a:lnTo>
                <a:lnTo>
                  <a:pt x="874597" y="1734562"/>
                </a:lnTo>
                <a:lnTo>
                  <a:pt x="877629" y="1806230"/>
                </a:lnTo>
                <a:lnTo>
                  <a:pt x="884821" y="1890167"/>
                </a:lnTo>
                <a:lnTo>
                  <a:pt x="893436" y="1942819"/>
                </a:lnTo>
                <a:lnTo>
                  <a:pt x="905272" y="1993814"/>
                </a:lnTo>
                <a:lnTo>
                  <a:pt x="920330" y="2043153"/>
                </a:lnTo>
                <a:lnTo>
                  <a:pt x="938610" y="2090836"/>
                </a:lnTo>
                <a:lnTo>
                  <a:pt x="965462" y="2145758"/>
                </a:lnTo>
                <a:lnTo>
                  <a:pt x="996308" y="2193353"/>
                </a:lnTo>
                <a:lnTo>
                  <a:pt x="1031150" y="2233623"/>
                </a:lnTo>
                <a:lnTo>
                  <a:pt x="1069988" y="2266569"/>
                </a:lnTo>
                <a:lnTo>
                  <a:pt x="1112130" y="2292190"/>
                </a:lnTo>
                <a:lnTo>
                  <a:pt x="1156886" y="2310495"/>
                </a:lnTo>
                <a:lnTo>
                  <a:pt x="1204256" y="2321481"/>
                </a:lnTo>
                <a:lnTo>
                  <a:pt x="1254244" y="2325143"/>
                </a:lnTo>
                <a:lnTo>
                  <a:pt x="1306615" y="2321266"/>
                </a:lnTo>
                <a:lnTo>
                  <a:pt x="1355635" y="2309636"/>
                </a:lnTo>
                <a:lnTo>
                  <a:pt x="1401304" y="2290255"/>
                </a:lnTo>
                <a:lnTo>
                  <a:pt x="1443620" y="2263124"/>
                </a:lnTo>
                <a:lnTo>
                  <a:pt x="1482158" y="2228753"/>
                </a:lnTo>
                <a:lnTo>
                  <a:pt x="1516507" y="2187662"/>
                </a:lnTo>
                <a:lnTo>
                  <a:pt x="1546668" y="2139851"/>
                </a:lnTo>
                <a:lnTo>
                  <a:pt x="1572643" y="2085318"/>
                </a:lnTo>
                <a:lnTo>
                  <a:pt x="1590190" y="2038046"/>
                </a:lnTo>
                <a:lnTo>
                  <a:pt x="1604645" y="1988844"/>
                </a:lnTo>
                <a:lnTo>
                  <a:pt x="1613833" y="1947500"/>
                </a:lnTo>
                <a:lnTo>
                  <a:pt x="1253448" y="1947500"/>
                </a:lnTo>
                <a:lnTo>
                  <a:pt x="1238382" y="1944658"/>
                </a:lnTo>
                <a:lnTo>
                  <a:pt x="1211240" y="1902015"/>
                </a:lnTo>
                <a:lnTo>
                  <a:pt x="1205430" y="1841809"/>
                </a:lnTo>
                <a:lnTo>
                  <a:pt x="1203614" y="1793843"/>
                </a:lnTo>
                <a:lnTo>
                  <a:pt x="1202536" y="1734562"/>
                </a:lnTo>
                <a:lnTo>
                  <a:pt x="1202184" y="1666516"/>
                </a:lnTo>
                <a:lnTo>
                  <a:pt x="1202269" y="610577"/>
                </a:lnTo>
                <a:lnTo>
                  <a:pt x="1203024" y="542650"/>
                </a:lnTo>
                <a:lnTo>
                  <a:pt x="1205612" y="482220"/>
                </a:lnTo>
                <a:lnTo>
                  <a:pt x="1209928" y="438934"/>
                </a:lnTo>
                <a:lnTo>
                  <a:pt x="1223637" y="397415"/>
                </a:lnTo>
                <a:lnTo>
                  <a:pt x="1255825" y="377642"/>
                </a:lnTo>
                <a:lnTo>
                  <a:pt x="1613955" y="377642"/>
                </a:lnTo>
                <a:lnTo>
                  <a:pt x="1603208" y="331339"/>
                </a:lnTo>
                <a:lnTo>
                  <a:pt x="1588153" y="281996"/>
                </a:lnTo>
                <a:lnTo>
                  <a:pt x="1569878" y="234307"/>
                </a:lnTo>
                <a:lnTo>
                  <a:pt x="1543025" y="179397"/>
                </a:lnTo>
                <a:lnTo>
                  <a:pt x="1512175" y="131806"/>
                </a:lnTo>
                <a:lnTo>
                  <a:pt x="1477329" y="91532"/>
                </a:lnTo>
                <a:lnTo>
                  <a:pt x="1438490" y="58574"/>
                </a:lnTo>
                <a:lnTo>
                  <a:pt x="1396350" y="32949"/>
                </a:lnTo>
                <a:lnTo>
                  <a:pt x="1351593" y="14644"/>
                </a:lnTo>
                <a:lnTo>
                  <a:pt x="1304223" y="3661"/>
                </a:lnTo>
                <a:lnTo>
                  <a:pt x="1254244" y="0"/>
                </a:lnTo>
                <a:close/>
              </a:path>
              <a:path w="9786619" h="2325370">
                <a:moveTo>
                  <a:pt x="1613955" y="377642"/>
                </a:moveTo>
                <a:lnTo>
                  <a:pt x="1255825" y="377642"/>
                </a:lnTo>
                <a:lnTo>
                  <a:pt x="1269902" y="380356"/>
                </a:lnTo>
                <a:lnTo>
                  <a:pt x="1281366" y="388496"/>
                </a:lnTo>
                <a:lnTo>
                  <a:pt x="1300774" y="449788"/>
                </a:lnTo>
                <a:lnTo>
                  <a:pt x="1303856" y="492559"/>
                </a:lnTo>
                <a:lnTo>
                  <a:pt x="1305708" y="549370"/>
                </a:lnTo>
                <a:lnTo>
                  <a:pt x="1306242" y="610577"/>
                </a:lnTo>
                <a:lnTo>
                  <a:pt x="1306218" y="1666516"/>
                </a:lnTo>
                <a:lnTo>
                  <a:pt x="1305947" y="1718711"/>
                </a:lnTo>
                <a:lnTo>
                  <a:pt x="1304809" y="1780184"/>
                </a:lnTo>
                <a:lnTo>
                  <a:pt x="1302913" y="1830077"/>
                </a:lnTo>
                <a:lnTo>
                  <a:pt x="1300260" y="1868390"/>
                </a:lnTo>
                <a:lnTo>
                  <a:pt x="1290585" y="1918045"/>
                </a:lnTo>
                <a:lnTo>
                  <a:pt x="1253448" y="1947500"/>
                </a:lnTo>
                <a:lnTo>
                  <a:pt x="1613833" y="1947500"/>
                </a:lnTo>
                <a:lnTo>
                  <a:pt x="1624280" y="1884648"/>
                </a:lnTo>
                <a:lnTo>
                  <a:pt x="1629458" y="1829651"/>
                </a:lnTo>
                <a:lnTo>
                  <a:pt x="1633039" y="1757786"/>
                </a:lnTo>
                <a:lnTo>
                  <a:pt x="1634494" y="1714576"/>
                </a:lnTo>
                <a:lnTo>
                  <a:pt x="1635725" y="1666516"/>
                </a:lnTo>
                <a:lnTo>
                  <a:pt x="1636733" y="1613605"/>
                </a:lnTo>
                <a:lnTo>
                  <a:pt x="1637517" y="1555843"/>
                </a:lnTo>
                <a:lnTo>
                  <a:pt x="1638077" y="1493231"/>
                </a:lnTo>
                <a:lnTo>
                  <a:pt x="1638413" y="1425768"/>
                </a:lnTo>
                <a:lnTo>
                  <a:pt x="1638406" y="899373"/>
                </a:lnTo>
                <a:lnTo>
                  <a:pt x="1638147" y="842125"/>
                </a:lnTo>
                <a:lnTo>
                  <a:pt x="1637674" y="783550"/>
                </a:lnTo>
                <a:lnTo>
                  <a:pt x="1637012" y="729109"/>
                </a:lnTo>
                <a:lnTo>
                  <a:pt x="1636160" y="678802"/>
                </a:lnTo>
                <a:lnTo>
                  <a:pt x="1635119" y="632630"/>
                </a:lnTo>
                <a:lnTo>
                  <a:pt x="1633889" y="590591"/>
                </a:lnTo>
                <a:lnTo>
                  <a:pt x="1630859" y="518918"/>
                </a:lnTo>
                <a:lnTo>
                  <a:pt x="1623662" y="434985"/>
                </a:lnTo>
                <a:lnTo>
                  <a:pt x="1615045" y="382336"/>
                </a:lnTo>
                <a:lnTo>
                  <a:pt x="1613955" y="377642"/>
                </a:lnTo>
                <a:close/>
              </a:path>
              <a:path w="9786619" h="2325370">
                <a:moveTo>
                  <a:pt x="2156552" y="0"/>
                </a:moveTo>
                <a:lnTo>
                  <a:pt x="2104047" y="4005"/>
                </a:lnTo>
                <a:lnTo>
                  <a:pt x="2054654" y="16020"/>
                </a:lnTo>
                <a:lnTo>
                  <a:pt x="2008371" y="36046"/>
                </a:lnTo>
                <a:lnTo>
                  <a:pt x="1965196" y="64081"/>
                </a:lnTo>
                <a:lnTo>
                  <a:pt x="1925831" y="99106"/>
                </a:lnTo>
                <a:lnTo>
                  <a:pt x="1891017" y="140062"/>
                </a:lnTo>
                <a:lnTo>
                  <a:pt x="1860738" y="186966"/>
                </a:lnTo>
                <a:lnTo>
                  <a:pt x="1835001" y="239814"/>
                </a:lnTo>
                <a:lnTo>
                  <a:pt x="1817717" y="284830"/>
                </a:lnTo>
                <a:lnTo>
                  <a:pt x="1803432" y="330563"/>
                </a:lnTo>
                <a:lnTo>
                  <a:pt x="1792147" y="377013"/>
                </a:lnTo>
                <a:lnTo>
                  <a:pt x="1783861" y="424178"/>
                </a:lnTo>
                <a:lnTo>
                  <a:pt x="1778574" y="472058"/>
                </a:lnTo>
                <a:lnTo>
                  <a:pt x="1773936" y="550822"/>
                </a:lnTo>
                <a:lnTo>
                  <a:pt x="1772197" y="597586"/>
                </a:lnTo>
                <a:lnTo>
                  <a:pt x="1770845" y="649271"/>
                </a:lnTo>
                <a:lnTo>
                  <a:pt x="1769880" y="705876"/>
                </a:lnTo>
                <a:lnTo>
                  <a:pt x="1769301" y="767402"/>
                </a:lnTo>
                <a:lnTo>
                  <a:pt x="1769187" y="806561"/>
                </a:lnTo>
                <a:lnTo>
                  <a:pt x="1769108" y="1485776"/>
                </a:lnTo>
                <a:lnTo>
                  <a:pt x="1769416" y="1549737"/>
                </a:lnTo>
                <a:lnTo>
                  <a:pt x="1770339" y="1610403"/>
                </a:lnTo>
                <a:lnTo>
                  <a:pt x="1771878" y="1667774"/>
                </a:lnTo>
                <a:lnTo>
                  <a:pt x="1774033" y="1721851"/>
                </a:lnTo>
                <a:lnTo>
                  <a:pt x="1776803" y="1772633"/>
                </a:lnTo>
                <a:lnTo>
                  <a:pt x="1780188" y="1820120"/>
                </a:lnTo>
                <a:lnTo>
                  <a:pt x="1784189" y="1864314"/>
                </a:lnTo>
                <a:lnTo>
                  <a:pt x="1788805" y="1905214"/>
                </a:lnTo>
                <a:lnTo>
                  <a:pt x="1799882" y="1977133"/>
                </a:lnTo>
                <a:lnTo>
                  <a:pt x="1811915" y="2029601"/>
                </a:lnTo>
                <a:lnTo>
                  <a:pt x="1827499" y="2078129"/>
                </a:lnTo>
                <a:lnTo>
                  <a:pt x="1846636" y="2122715"/>
                </a:lnTo>
                <a:lnTo>
                  <a:pt x="1869322" y="2163357"/>
                </a:lnTo>
                <a:lnTo>
                  <a:pt x="1895559" y="2200052"/>
                </a:lnTo>
                <a:lnTo>
                  <a:pt x="1925344" y="2232801"/>
                </a:lnTo>
                <a:lnTo>
                  <a:pt x="1965272" y="2266039"/>
                </a:lnTo>
                <a:lnTo>
                  <a:pt x="2009303" y="2291894"/>
                </a:lnTo>
                <a:lnTo>
                  <a:pt x="2057436" y="2310365"/>
                </a:lnTo>
                <a:lnTo>
                  <a:pt x="2109674" y="2321448"/>
                </a:lnTo>
                <a:lnTo>
                  <a:pt x="2166017" y="2325143"/>
                </a:lnTo>
                <a:lnTo>
                  <a:pt x="2220415" y="2320781"/>
                </a:lnTo>
                <a:lnTo>
                  <a:pt x="2271250" y="2307695"/>
                </a:lnTo>
                <a:lnTo>
                  <a:pt x="2318519" y="2285887"/>
                </a:lnTo>
                <a:lnTo>
                  <a:pt x="2362222" y="2255358"/>
                </a:lnTo>
                <a:lnTo>
                  <a:pt x="2402356" y="2216110"/>
                </a:lnTo>
                <a:lnTo>
                  <a:pt x="2432427" y="2178759"/>
                </a:lnTo>
                <a:lnTo>
                  <a:pt x="2458728" y="2139417"/>
                </a:lnTo>
                <a:lnTo>
                  <a:pt x="2481259" y="2098082"/>
                </a:lnTo>
                <a:lnTo>
                  <a:pt x="2500020" y="2054754"/>
                </a:lnTo>
                <a:lnTo>
                  <a:pt x="2515013" y="2009433"/>
                </a:lnTo>
                <a:lnTo>
                  <a:pt x="2526237" y="1962118"/>
                </a:lnTo>
                <a:lnTo>
                  <a:pt x="2528746" y="1947500"/>
                </a:lnTo>
                <a:lnTo>
                  <a:pt x="2162080" y="1947500"/>
                </a:lnTo>
                <a:lnTo>
                  <a:pt x="2144460" y="1944394"/>
                </a:lnTo>
                <a:lnTo>
                  <a:pt x="2112365" y="1897879"/>
                </a:lnTo>
                <a:lnTo>
                  <a:pt x="2104077" y="1820011"/>
                </a:lnTo>
                <a:lnTo>
                  <a:pt x="2102007" y="1759884"/>
                </a:lnTo>
                <a:lnTo>
                  <a:pt x="2101318" y="1685624"/>
                </a:lnTo>
                <a:lnTo>
                  <a:pt x="2101318" y="649163"/>
                </a:lnTo>
                <a:lnTo>
                  <a:pt x="2102007" y="571807"/>
                </a:lnTo>
                <a:lnTo>
                  <a:pt x="2104098" y="508979"/>
                </a:lnTo>
                <a:lnTo>
                  <a:pt x="2107529" y="461547"/>
                </a:lnTo>
                <a:lnTo>
                  <a:pt x="2119760" y="406333"/>
                </a:lnTo>
                <a:lnTo>
                  <a:pt x="2164447" y="377642"/>
                </a:lnTo>
                <a:lnTo>
                  <a:pt x="2529940" y="377642"/>
                </a:lnTo>
                <a:lnTo>
                  <a:pt x="2524268" y="346177"/>
                </a:lnTo>
                <a:lnTo>
                  <a:pt x="2512450" y="298216"/>
                </a:lnTo>
                <a:lnTo>
                  <a:pt x="2496995" y="252966"/>
                </a:lnTo>
                <a:lnTo>
                  <a:pt x="2477903" y="210430"/>
                </a:lnTo>
                <a:lnTo>
                  <a:pt x="2455174" y="170608"/>
                </a:lnTo>
                <a:lnTo>
                  <a:pt x="2428809" y="133500"/>
                </a:lnTo>
                <a:lnTo>
                  <a:pt x="2398800" y="99101"/>
                </a:lnTo>
                <a:lnTo>
                  <a:pt x="2358559" y="63428"/>
                </a:lnTo>
                <a:lnTo>
                  <a:pt x="2314211" y="35678"/>
                </a:lnTo>
                <a:lnTo>
                  <a:pt x="2265762" y="15857"/>
                </a:lnTo>
                <a:lnTo>
                  <a:pt x="2213209" y="3964"/>
                </a:lnTo>
                <a:lnTo>
                  <a:pt x="2156552" y="0"/>
                </a:lnTo>
                <a:close/>
              </a:path>
              <a:path w="9786619" h="2325370">
                <a:moveTo>
                  <a:pt x="2554257" y="1383779"/>
                </a:moveTo>
                <a:lnTo>
                  <a:pt x="2222047" y="1383779"/>
                </a:lnTo>
                <a:lnTo>
                  <a:pt x="2222023" y="1667774"/>
                </a:lnTo>
                <a:lnTo>
                  <a:pt x="2221589" y="1732407"/>
                </a:lnTo>
                <a:lnTo>
                  <a:pt x="2220214" y="1789829"/>
                </a:lnTo>
                <a:lnTo>
                  <a:pt x="2217924" y="1836531"/>
                </a:lnTo>
                <a:lnTo>
                  <a:pt x="2210602" y="1897774"/>
                </a:lnTo>
                <a:lnTo>
                  <a:pt x="2192746" y="1935073"/>
                </a:lnTo>
                <a:lnTo>
                  <a:pt x="2162080" y="1947500"/>
                </a:lnTo>
                <a:lnTo>
                  <a:pt x="2528746" y="1947500"/>
                </a:lnTo>
                <a:lnTo>
                  <a:pt x="2536320" y="1896091"/>
                </a:lnTo>
                <a:lnTo>
                  <a:pt x="2540522" y="1857030"/>
                </a:lnTo>
                <a:lnTo>
                  <a:pt x="2544165" y="1813938"/>
                </a:lnTo>
                <a:lnTo>
                  <a:pt x="2547248" y="1766815"/>
                </a:lnTo>
                <a:lnTo>
                  <a:pt x="2549771" y="1715661"/>
                </a:lnTo>
                <a:lnTo>
                  <a:pt x="2551733" y="1660476"/>
                </a:lnTo>
                <a:lnTo>
                  <a:pt x="2553135" y="1601261"/>
                </a:lnTo>
                <a:lnTo>
                  <a:pt x="2553976" y="1538015"/>
                </a:lnTo>
                <a:lnTo>
                  <a:pt x="2554194" y="1485776"/>
                </a:lnTo>
                <a:lnTo>
                  <a:pt x="2554257" y="1383779"/>
                </a:lnTo>
                <a:close/>
              </a:path>
              <a:path w="9786619" h="2325370">
                <a:moveTo>
                  <a:pt x="2529940" y="377642"/>
                </a:moveTo>
                <a:lnTo>
                  <a:pt x="2164447" y="377642"/>
                </a:lnTo>
                <a:lnTo>
                  <a:pt x="2180987" y="380267"/>
                </a:lnTo>
                <a:lnTo>
                  <a:pt x="2194327" y="388136"/>
                </a:lnTo>
                <a:lnTo>
                  <a:pt x="2216057" y="448522"/>
                </a:lnTo>
                <a:lnTo>
                  <a:pt x="2219385" y="493352"/>
                </a:lnTo>
                <a:lnTo>
                  <a:pt x="2221381" y="554080"/>
                </a:lnTo>
                <a:lnTo>
                  <a:pt x="2221924" y="616550"/>
                </a:lnTo>
                <a:lnTo>
                  <a:pt x="2222047" y="1018544"/>
                </a:lnTo>
                <a:lnTo>
                  <a:pt x="2554257" y="1018544"/>
                </a:lnTo>
                <a:lnTo>
                  <a:pt x="2554257" y="806561"/>
                </a:lnTo>
                <a:lnTo>
                  <a:pt x="2553886" y="739163"/>
                </a:lnTo>
                <a:lnTo>
                  <a:pt x="2552775" y="675826"/>
                </a:lnTo>
                <a:lnTo>
                  <a:pt x="2550924" y="616550"/>
                </a:lnTo>
                <a:lnTo>
                  <a:pt x="2548332" y="561335"/>
                </a:lnTo>
                <a:lnTo>
                  <a:pt x="2545000" y="510181"/>
                </a:lnTo>
                <a:lnTo>
                  <a:pt x="2540927" y="463088"/>
                </a:lnTo>
                <a:lnTo>
                  <a:pt x="2536114" y="420057"/>
                </a:lnTo>
                <a:lnTo>
                  <a:pt x="2530515" y="380832"/>
                </a:lnTo>
                <a:lnTo>
                  <a:pt x="2529940" y="377642"/>
                </a:lnTo>
                <a:close/>
              </a:path>
              <a:path w="9786619" h="2325370">
                <a:moveTo>
                  <a:pt x="3021782" y="46867"/>
                </a:moveTo>
                <a:lnTo>
                  <a:pt x="2689572" y="46867"/>
                </a:lnTo>
                <a:lnTo>
                  <a:pt x="2689572" y="2278286"/>
                </a:lnTo>
                <a:lnTo>
                  <a:pt x="3021782" y="2278286"/>
                </a:lnTo>
                <a:lnTo>
                  <a:pt x="3021782" y="46867"/>
                </a:lnTo>
                <a:close/>
              </a:path>
              <a:path w="9786619" h="2325370">
                <a:moveTo>
                  <a:pt x="3745550" y="46857"/>
                </a:moveTo>
                <a:lnTo>
                  <a:pt x="3265387" y="46857"/>
                </a:lnTo>
                <a:lnTo>
                  <a:pt x="3095937" y="2278286"/>
                </a:lnTo>
                <a:lnTo>
                  <a:pt x="3439382" y="2278286"/>
                </a:lnTo>
                <a:lnTo>
                  <a:pt x="3459360" y="1877199"/>
                </a:lnTo>
                <a:lnTo>
                  <a:pt x="3901377" y="1877199"/>
                </a:lnTo>
                <a:lnTo>
                  <a:pt x="3867701" y="1481640"/>
                </a:lnTo>
                <a:lnTo>
                  <a:pt x="3455130" y="1481640"/>
                </a:lnTo>
                <a:lnTo>
                  <a:pt x="3456690" y="1447656"/>
                </a:lnTo>
                <a:lnTo>
                  <a:pt x="3460509" y="1373304"/>
                </a:lnTo>
                <a:lnTo>
                  <a:pt x="3462769" y="1332937"/>
                </a:lnTo>
                <a:lnTo>
                  <a:pt x="3465262" y="1290442"/>
                </a:lnTo>
                <a:lnTo>
                  <a:pt x="3467988" y="1245820"/>
                </a:lnTo>
                <a:lnTo>
                  <a:pt x="3470947" y="1199070"/>
                </a:lnTo>
                <a:lnTo>
                  <a:pt x="3474139" y="1150192"/>
                </a:lnTo>
                <a:lnTo>
                  <a:pt x="3477565" y="1099187"/>
                </a:lnTo>
                <a:lnTo>
                  <a:pt x="3481224" y="1046055"/>
                </a:lnTo>
                <a:lnTo>
                  <a:pt x="3485116" y="990795"/>
                </a:lnTo>
                <a:lnTo>
                  <a:pt x="3489241" y="933408"/>
                </a:lnTo>
                <a:lnTo>
                  <a:pt x="3493599" y="873893"/>
                </a:lnTo>
                <a:lnTo>
                  <a:pt x="3498191" y="812252"/>
                </a:lnTo>
                <a:lnTo>
                  <a:pt x="3503015" y="748483"/>
                </a:lnTo>
                <a:lnTo>
                  <a:pt x="3508073" y="682586"/>
                </a:lnTo>
                <a:lnTo>
                  <a:pt x="3513363" y="614563"/>
                </a:lnTo>
                <a:lnTo>
                  <a:pt x="3518887" y="544412"/>
                </a:lnTo>
                <a:lnTo>
                  <a:pt x="3787910" y="544412"/>
                </a:lnTo>
                <a:lnTo>
                  <a:pt x="3745550" y="46857"/>
                </a:lnTo>
                <a:close/>
              </a:path>
              <a:path w="9786619" h="2325370">
                <a:moveTo>
                  <a:pt x="3901377" y="1877199"/>
                </a:moveTo>
                <a:lnTo>
                  <a:pt x="3578194" y="1877199"/>
                </a:lnTo>
                <a:lnTo>
                  <a:pt x="3596016" y="2278286"/>
                </a:lnTo>
                <a:lnTo>
                  <a:pt x="3935524" y="2278286"/>
                </a:lnTo>
                <a:lnTo>
                  <a:pt x="3901377" y="1877199"/>
                </a:lnTo>
                <a:close/>
              </a:path>
              <a:path w="9786619" h="2325370">
                <a:moveTo>
                  <a:pt x="3787910" y="544412"/>
                </a:moveTo>
                <a:lnTo>
                  <a:pt x="3518887" y="544412"/>
                </a:lnTo>
                <a:lnTo>
                  <a:pt x="3521705" y="605875"/>
                </a:lnTo>
                <a:lnTo>
                  <a:pt x="3524522" y="666232"/>
                </a:lnTo>
                <a:lnTo>
                  <a:pt x="3527339" y="725484"/>
                </a:lnTo>
                <a:lnTo>
                  <a:pt x="3530154" y="783630"/>
                </a:lnTo>
                <a:lnTo>
                  <a:pt x="3532969" y="840671"/>
                </a:lnTo>
                <a:lnTo>
                  <a:pt x="3535783" y="896606"/>
                </a:lnTo>
                <a:lnTo>
                  <a:pt x="3538596" y="951437"/>
                </a:lnTo>
                <a:lnTo>
                  <a:pt x="3541409" y="1005162"/>
                </a:lnTo>
                <a:lnTo>
                  <a:pt x="3544220" y="1057781"/>
                </a:lnTo>
                <a:lnTo>
                  <a:pt x="3547031" y="1109296"/>
                </a:lnTo>
                <a:lnTo>
                  <a:pt x="3549840" y="1159706"/>
                </a:lnTo>
                <a:lnTo>
                  <a:pt x="3552649" y="1209011"/>
                </a:lnTo>
                <a:lnTo>
                  <a:pt x="3555457" y="1257211"/>
                </a:lnTo>
                <a:lnTo>
                  <a:pt x="3558264" y="1304306"/>
                </a:lnTo>
                <a:lnTo>
                  <a:pt x="3561070" y="1350297"/>
                </a:lnTo>
                <a:lnTo>
                  <a:pt x="3563875" y="1395182"/>
                </a:lnTo>
                <a:lnTo>
                  <a:pt x="3566679" y="1438964"/>
                </a:lnTo>
                <a:lnTo>
                  <a:pt x="3569482" y="1481640"/>
                </a:lnTo>
                <a:lnTo>
                  <a:pt x="3867701" y="1481640"/>
                </a:lnTo>
                <a:lnTo>
                  <a:pt x="3787910" y="544412"/>
                </a:lnTo>
                <a:close/>
              </a:path>
              <a:path w="9786619" h="2325370">
                <a:moveTo>
                  <a:pt x="4340318" y="46857"/>
                </a:moveTo>
                <a:lnTo>
                  <a:pt x="4008108" y="46857"/>
                </a:lnTo>
                <a:lnTo>
                  <a:pt x="4008108" y="2278286"/>
                </a:lnTo>
                <a:lnTo>
                  <a:pt x="4542322" y="2278286"/>
                </a:lnTo>
                <a:lnTo>
                  <a:pt x="4542322" y="1831724"/>
                </a:lnTo>
                <a:lnTo>
                  <a:pt x="4340318" y="1831724"/>
                </a:lnTo>
                <a:lnTo>
                  <a:pt x="4340318" y="46857"/>
                </a:lnTo>
                <a:close/>
              </a:path>
              <a:path w="9786619" h="2325370">
                <a:moveTo>
                  <a:pt x="5258373" y="46867"/>
                </a:moveTo>
                <a:lnTo>
                  <a:pt x="4926164" y="46867"/>
                </a:lnTo>
                <a:lnTo>
                  <a:pt x="4926164" y="2278286"/>
                </a:lnTo>
                <a:lnTo>
                  <a:pt x="5258373" y="2278286"/>
                </a:lnTo>
                <a:lnTo>
                  <a:pt x="5258373" y="46867"/>
                </a:lnTo>
                <a:close/>
              </a:path>
              <a:path w="9786619" h="2325370">
                <a:moveTo>
                  <a:pt x="5837748" y="46857"/>
                </a:moveTo>
                <a:lnTo>
                  <a:pt x="5407887" y="46857"/>
                </a:lnTo>
                <a:lnTo>
                  <a:pt x="5407887" y="2278286"/>
                </a:lnTo>
                <a:lnTo>
                  <a:pt x="5698276" y="2278286"/>
                </a:lnTo>
                <a:lnTo>
                  <a:pt x="5698664" y="806289"/>
                </a:lnTo>
                <a:lnTo>
                  <a:pt x="5900861" y="806289"/>
                </a:lnTo>
                <a:lnTo>
                  <a:pt x="5877171" y="521240"/>
                </a:lnTo>
                <a:lnTo>
                  <a:pt x="5872673" y="461429"/>
                </a:lnTo>
                <a:lnTo>
                  <a:pt x="5868204" y="403393"/>
                </a:lnTo>
                <a:lnTo>
                  <a:pt x="5863765" y="347133"/>
                </a:lnTo>
                <a:lnTo>
                  <a:pt x="5859355" y="292649"/>
                </a:lnTo>
                <a:lnTo>
                  <a:pt x="5854975" y="239940"/>
                </a:lnTo>
                <a:lnTo>
                  <a:pt x="5850624" y="189007"/>
                </a:lnTo>
                <a:lnTo>
                  <a:pt x="5846303" y="139848"/>
                </a:lnTo>
                <a:lnTo>
                  <a:pt x="5842011" y="92465"/>
                </a:lnTo>
                <a:lnTo>
                  <a:pt x="5837748" y="46857"/>
                </a:lnTo>
                <a:close/>
              </a:path>
              <a:path w="9786619" h="2325370">
                <a:moveTo>
                  <a:pt x="5900861" y="806289"/>
                </a:moveTo>
                <a:lnTo>
                  <a:pt x="5698664" y="806289"/>
                </a:lnTo>
                <a:lnTo>
                  <a:pt x="5820587" y="2278286"/>
                </a:lnTo>
                <a:lnTo>
                  <a:pt x="6026539" y="2278286"/>
                </a:lnTo>
                <a:lnTo>
                  <a:pt x="6117812" y="1088835"/>
                </a:lnTo>
                <a:lnTo>
                  <a:pt x="5924343" y="1088835"/>
                </a:lnTo>
                <a:lnTo>
                  <a:pt x="5900861" y="806289"/>
                </a:lnTo>
                <a:close/>
              </a:path>
              <a:path w="9786619" h="2325370">
                <a:moveTo>
                  <a:pt x="6432914" y="771829"/>
                </a:moveTo>
                <a:lnTo>
                  <a:pt x="6142137" y="771829"/>
                </a:lnTo>
                <a:lnTo>
                  <a:pt x="6142535" y="2278286"/>
                </a:lnTo>
                <a:lnTo>
                  <a:pt x="6432914" y="2278286"/>
                </a:lnTo>
                <a:lnTo>
                  <a:pt x="6432914" y="771829"/>
                </a:lnTo>
                <a:close/>
              </a:path>
              <a:path w="9786619" h="2325370">
                <a:moveTo>
                  <a:pt x="6432914" y="46857"/>
                </a:moveTo>
                <a:lnTo>
                  <a:pt x="6000696" y="46857"/>
                </a:lnTo>
                <a:lnTo>
                  <a:pt x="5924343" y="1088835"/>
                </a:lnTo>
                <a:lnTo>
                  <a:pt x="6117812" y="1088835"/>
                </a:lnTo>
                <a:lnTo>
                  <a:pt x="6142137" y="771829"/>
                </a:lnTo>
                <a:lnTo>
                  <a:pt x="6432914" y="771829"/>
                </a:lnTo>
                <a:lnTo>
                  <a:pt x="6432914" y="46857"/>
                </a:lnTo>
                <a:close/>
              </a:path>
              <a:path w="9786619" h="2325370">
                <a:moveTo>
                  <a:pt x="6917004" y="46857"/>
                </a:moveTo>
                <a:lnTo>
                  <a:pt x="6582438" y="46857"/>
                </a:lnTo>
                <a:lnTo>
                  <a:pt x="6582438" y="2278286"/>
                </a:lnTo>
                <a:lnTo>
                  <a:pt x="6914637" y="2278286"/>
                </a:lnTo>
                <a:lnTo>
                  <a:pt x="6914637" y="1379643"/>
                </a:lnTo>
                <a:lnTo>
                  <a:pt x="7003807" y="1379643"/>
                </a:lnTo>
                <a:lnTo>
                  <a:pt x="7055665" y="1376372"/>
                </a:lnTo>
                <a:lnTo>
                  <a:pt x="7102346" y="1366555"/>
                </a:lnTo>
                <a:lnTo>
                  <a:pt x="7143848" y="1350188"/>
                </a:lnTo>
                <a:lnTo>
                  <a:pt x="7180168" y="1327268"/>
                </a:lnTo>
                <a:lnTo>
                  <a:pt x="7211265" y="1298248"/>
                </a:lnTo>
                <a:lnTo>
                  <a:pt x="7237083" y="1263538"/>
                </a:lnTo>
                <a:lnTo>
                  <a:pt x="7257623" y="1223137"/>
                </a:lnTo>
                <a:lnTo>
                  <a:pt x="7272888" y="1177042"/>
                </a:lnTo>
                <a:lnTo>
                  <a:pt x="7286914" y="1098946"/>
                </a:lnTo>
                <a:lnTo>
                  <a:pt x="7291826" y="1050249"/>
                </a:lnTo>
                <a:lnTo>
                  <a:pt x="7295160" y="997864"/>
                </a:lnTo>
                <a:lnTo>
                  <a:pt x="6932260" y="997864"/>
                </a:lnTo>
                <a:lnTo>
                  <a:pt x="6924113" y="997414"/>
                </a:lnTo>
                <a:lnTo>
                  <a:pt x="6914637" y="996482"/>
                </a:lnTo>
                <a:lnTo>
                  <a:pt x="6914637" y="428636"/>
                </a:lnTo>
                <a:lnTo>
                  <a:pt x="7291436" y="428636"/>
                </a:lnTo>
                <a:lnTo>
                  <a:pt x="7289097" y="398149"/>
                </a:lnTo>
                <a:lnTo>
                  <a:pt x="7277129" y="313684"/>
                </a:lnTo>
                <a:lnTo>
                  <a:pt x="7266181" y="269277"/>
                </a:lnTo>
                <a:lnTo>
                  <a:pt x="7252273" y="228572"/>
                </a:lnTo>
                <a:lnTo>
                  <a:pt x="7235402" y="191575"/>
                </a:lnTo>
                <a:lnTo>
                  <a:pt x="7214788" y="158498"/>
                </a:lnTo>
                <a:lnTo>
                  <a:pt x="7189635" y="129553"/>
                </a:lnTo>
                <a:lnTo>
                  <a:pt x="7159946" y="104743"/>
                </a:lnTo>
                <a:lnTo>
                  <a:pt x="7125720" y="84070"/>
                </a:lnTo>
                <a:lnTo>
                  <a:pt x="7085304" y="67791"/>
                </a:lnTo>
                <a:lnTo>
                  <a:pt x="7037044" y="56161"/>
                </a:lnTo>
                <a:lnTo>
                  <a:pt x="6980944" y="49183"/>
                </a:lnTo>
                <a:lnTo>
                  <a:pt x="6917004" y="46857"/>
                </a:lnTo>
                <a:close/>
              </a:path>
              <a:path w="9786619" h="2325370">
                <a:moveTo>
                  <a:pt x="7943800" y="46857"/>
                </a:moveTo>
                <a:lnTo>
                  <a:pt x="7463636" y="46857"/>
                </a:lnTo>
                <a:lnTo>
                  <a:pt x="7294175" y="2278286"/>
                </a:lnTo>
                <a:lnTo>
                  <a:pt x="7637631" y="2278286"/>
                </a:lnTo>
                <a:lnTo>
                  <a:pt x="7657599" y="1877199"/>
                </a:lnTo>
                <a:lnTo>
                  <a:pt x="8099626" y="1877199"/>
                </a:lnTo>
                <a:lnTo>
                  <a:pt x="8065950" y="1481640"/>
                </a:lnTo>
                <a:lnTo>
                  <a:pt x="7653379" y="1481640"/>
                </a:lnTo>
                <a:lnTo>
                  <a:pt x="7654937" y="1447656"/>
                </a:lnTo>
                <a:lnTo>
                  <a:pt x="7658754" y="1373304"/>
                </a:lnTo>
                <a:lnTo>
                  <a:pt x="7661013" y="1332937"/>
                </a:lnTo>
                <a:lnTo>
                  <a:pt x="7663505" y="1290442"/>
                </a:lnTo>
                <a:lnTo>
                  <a:pt x="7666230" y="1245820"/>
                </a:lnTo>
                <a:lnTo>
                  <a:pt x="7669189" y="1199070"/>
                </a:lnTo>
                <a:lnTo>
                  <a:pt x="7672381" y="1150192"/>
                </a:lnTo>
                <a:lnTo>
                  <a:pt x="7675823" y="1098946"/>
                </a:lnTo>
                <a:lnTo>
                  <a:pt x="7679465" y="1046055"/>
                </a:lnTo>
                <a:lnTo>
                  <a:pt x="7683358" y="990795"/>
                </a:lnTo>
                <a:lnTo>
                  <a:pt x="7687483" y="933408"/>
                </a:lnTo>
                <a:lnTo>
                  <a:pt x="7691842" y="873893"/>
                </a:lnTo>
                <a:lnTo>
                  <a:pt x="7696434" y="812252"/>
                </a:lnTo>
                <a:lnTo>
                  <a:pt x="7701260" y="748483"/>
                </a:lnTo>
                <a:lnTo>
                  <a:pt x="7706319" y="682586"/>
                </a:lnTo>
                <a:lnTo>
                  <a:pt x="7712409" y="604429"/>
                </a:lnTo>
                <a:lnTo>
                  <a:pt x="7717136" y="544412"/>
                </a:lnTo>
                <a:lnTo>
                  <a:pt x="7986159" y="544412"/>
                </a:lnTo>
                <a:lnTo>
                  <a:pt x="7943800" y="46857"/>
                </a:lnTo>
                <a:close/>
              </a:path>
              <a:path w="9786619" h="2325370">
                <a:moveTo>
                  <a:pt x="8099626" y="1877199"/>
                </a:moveTo>
                <a:lnTo>
                  <a:pt x="7776433" y="1877199"/>
                </a:lnTo>
                <a:lnTo>
                  <a:pt x="7794265" y="2278286"/>
                </a:lnTo>
                <a:lnTo>
                  <a:pt x="8133773" y="2278286"/>
                </a:lnTo>
                <a:lnTo>
                  <a:pt x="8099626" y="1877199"/>
                </a:lnTo>
                <a:close/>
              </a:path>
              <a:path w="9786619" h="2325370">
                <a:moveTo>
                  <a:pt x="7986159" y="544412"/>
                </a:moveTo>
                <a:lnTo>
                  <a:pt x="7717136" y="544412"/>
                </a:lnTo>
                <a:lnTo>
                  <a:pt x="7720360" y="614563"/>
                </a:lnTo>
                <a:lnTo>
                  <a:pt x="7722772" y="666232"/>
                </a:lnTo>
                <a:lnTo>
                  <a:pt x="7725588" y="725484"/>
                </a:lnTo>
                <a:lnTo>
                  <a:pt x="7728404" y="783630"/>
                </a:lnTo>
                <a:lnTo>
                  <a:pt x="7731218" y="840671"/>
                </a:lnTo>
                <a:lnTo>
                  <a:pt x="7734110" y="898114"/>
                </a:lnTo>
                <a:lnTo>
                  <a:pt x="7736846" y="951437"/>
                </a:lnTo>
                <a:lnTo>
                  <a:pt x="7739658" y="1005162"/>
                </a:lnTo>
                <a:lnTo>
                  <a:pt x="7742469" y="1057781"/>
                </a:lnTo>
                <a:lnTo>
                  <a:pt x="7745280" y="1109296"/>
                </a:lnTo>
                <a:lnTo>
                  <a:pt x="7748089" y="1159706"/>
                </a:lnTo>
                <a:lnTo>
                  <a:pt x="7750898" y="1209011"/>
                </a:lnTo>
                <a:lnTo>
                  <a:pt x="7753706" y="1257211"/>
                </a:lnTo>
                <a:lnTo>
                  <a:pt x="7756513" y="1304306"/>
                </a:lnTo>
                <a:lnTo>
                  <a:pt x="7759319" y="1350297"/>
                </a:lnTo>
                <a:lnTo>
                  <a:pt x="7762124" y="1395182"/>
                </a:lnTo>
                <a:lnTo>
                  <a:pt x="7764928" y="1438964"/>
                </a:lnTo>
                <a:lnTo>
                  <a:pt x="7767732" y="1481640"/>
                </a:lnTo>
                <a:lnTo>
                  <a:pt x="8065950" y="1481640"/>
                </a:lnTo>
                <a:lnTo>
                  <a:pt x="7986159" y="544412"/>
                </a:lnTo>
                <a:close/>
              </a:path>
              <a:path w="9786619" h="2325370">
                <a:moveTo>
                  <a:pt x="7291436" y="428636"/>
                </a:moveTo>
                <a:lnTo>
                  <a:pt x="6914637" y="428636"/>
                </a:lnTo>
                <a:lnTo>
                  <a:pt x="6944224" y="430792"/>
                </a:lnTo>
                <a:lnTo>
                  <a:pt x="6968290" y="437258"/>
                </a:lnTo>
                <a:lnTo>
                  <a:pt x="6999860" y="463095"/>
                </a:lnTo>
                <a:lnTo>
                  <a:pt x="7015249" y="517540"/>
                </a:lnTo>
                <a:lnTo>
                  <a:pt x="7019099" y="559750"/>
                </a:lnTo>
                <a:lnTo>
                  <a:pt x="7020383" y="611949"/>
                </a:lnTo>
                <a:lnTo>
                  <a:pt x="7020383" y="795263"/>
                </a:lnTo>
                <a:lnTo>
                  <a:pt x="7019272" y="851984"/>
                </a:lnTo>
                <a:lnTo>
                  <a:pt x="7015940" y="898114"/>
                </a:lnTo>
                <a:lnTo>
                  <a:pt x="7002624" y="958588"/>
                </a:lnTo>
                <a:lnTo>
                  <a:pt x="6977867" y="988047"/>
                </a:lnTo>
                <a:lnTo>
                  <a:pt x="6939108" y="997864"/>
                </a:lnTo>
                <a:lnTo>
                  <a:pt x="7295160" y="997864"/>
                </a:lnTo>
                <a:lnTo>
                  <a:pt x="7295335" y="995119"/>
                </a:lnTo>
                <a:lnTo>
                  <a:pt x="7297443" y="933408"/>
                </a:lnTo>
                <a:lnTo>
                  <a:pt x="7298058" y="873893"/>
                </a:lnTo>
                <a:lnTo>
                  <a:pt x="7298117" y="666232"/>
                </a:lnTo>
                <a:lnTo>
                  <a:pt x="7297782" y="604429"/>
                </a:lnTo>
                <a:lnTo>
                  <a:pt x="7296696" y="543730"/>
                </a:lnTo>
                <a:lnTo>
                  <a:pt x="7294886" y="489118"/>
                </a:lnTo>
                <a:lnTo>
                  <a:pt x="7292353" y="440591"/>
                </a:lnTo>
                <a:lnTo>
                  <a:pt x="7291436" y="428636"/>
                </a:lnTo>
                <a:close/>
              </a:path>
              <a:path w="9786619" h="2325370">
                <a:moveTo>
                  <a:pt x="8584325" y="0"/>
                </a:moveTo>
                <a:lnTo>
                  <a:pt x="8531820" y="4005"/>
                </a:lnTo>
                <a:lnTo>
                  <a:pt x="8482427" y="16020"/>
                </a:lnTo>
                <a:lnTo>
                  <a:pt x="8436144" y="36046"/>
                </a:lnTo>
                <a:lnTo>
                  <a:pt x="8392969" y="64081"/>
                </a:lnTo>
                <a:lnTo>
                  <a:pt x="8353604" y="99106"/>
                </a:lnTo>
                <a:lnTo>
                  <a:pt x="8318789" y="140062"/>
                </a:lnTo>
                <a:lnTo>
                  <a:pt x="8288511" y="186966"/>
                </a:lnTo>
                <a:lnTo>
                  <a:pt x="8262774" y="239814"/>
                </a:lnTo>
                <a:lnTo>
                  <a:pt x="8245490" y="284830"/>
                </a:lnTo>
                <a:lnTo>
                  <a:pt x="8231205" y="330563"/>
                </a:lnTo>
                <a:lnTo>
                  <a:pt x="8219920" y="377013"/>
                </a:lnTo>
                <a:lnTo>
                  <a:pt x="8211634" y="424178"/>
                </a:lnTo>
                <a:lnTo>
                  <a:pt x="8206346" y="472058"/>
                </a:lnTo>
                <a:lnTo>
                  <a:pt x="8201709" y="550822"/>
                </a:lnTo>
                <a:lnTo>
                  <a:pt x="8199970" y="597586"/>
                </a:lnTo>
                <a:lnTo>
                  <a:pt x="8198618" y="649271"/>
                </a:lnTo>
                <a:lnTo>
                  <a:pt x="8197653" y="705876"/>
                </a:lnTo>
                <a:lnTo>
                  <a:pt x="8197074" y="767402"/>
                </a:lnTo>
                <a:lnTo>
                  <a:pt x="8196960" y="806561"/>
                </a:lnTo>
                <a:lnTo>
                  <a:pt x="8196881" y="1485776"/>
                </a:lnTo>
                <a:lnTo>
                  <a:pt x="8197189" y="1549737"/>
                </a:lnTo>
                <a:lnTo>
                  <a:pt x="8198112" y="1610403"/>
                </a:lnTo>
                <a:lnTo>
                  <a:pt x="8199651" y="1667774"/>
                </a:lnTo>
                <a:lnTo>
                  <a:pt x="8201806" y="1721851"/>
                </a:lnTo>
                <a:lnTo>
                  <a:pt x="8204576" y="1772633"/>
                </a:lnTo>
                <a:lnTo>
                  <a:pt x="8207961" y="1820120"/>
                </a:lnTo>
                <a:lnTo>
                  <a:pt x="8211962" y="1864314"/>
                </a:lnTo>
                <a:lnTo>
                  <a:pt x="8216577" y="1905214"/>
                </a:lnTo>
                <a:lnTo>
                  <a:pt x="8227655" y="1977133"/>
                </a:lnTo>
                <a:lnTo>
                  <a:pt x="8239687" y="2029601"/>
                </a:lnTo>
                <a:lnTo>
                  <a:pt x="8255272" y="2078129"/>
                </a:lnTo>
                <a:lnTo>
                  <a:pt x="8274409" y="2122715"/>
                </a:lnTo>
                <a:lnTo>
                  <a:pt x="8297095" y="2163357"/>
                </a:lnTo>
                <a:lnTo>
                  <a:pt x="8323332" y="2200052"/>
                </a:lnTo>
                <a:lnTo>
                  <a:pt x="8353117" y="2232801"/>
                </a:lnTo>
                <a:lnTo>
                  <a:pt x="8393045" y="2266039"/>
                </a:lnTo>
                <a:lnTo>
                  <a:pt x="8437075" y="2291894"/>
                </a:lnTo>
                <a:lnTo>
                  <a:pt x="8485209" y="2310365"/>
                </a:lnTo>
                <a:lnTo>
                  <a:pt x="8537447" y="2321448"/>
                </a:lnTo>
                <a:lnTo>
                  <a:pt x="8593790" y="2325143"/>
                </a:lnTo>
                <a:lnTo>
                  <a:pt x="8648188" y="2320781"/>
                </a:lnTo>
                <a:lnTo>
                  <a:pt x="8699022" y="2307695"/>
                </a:lnTo>
                <a:lnTo>
                  <a:pt x="8746292" y="2285887"/>
                </a:lnTo>
                <a:lnTo>
                  <a:pt x="8789995" y="2255358"/>
                </a:lnTo>
                <a:lnTo>
                  <a:pt x="8830129" y="2216110"/>
                </a:lnTo>
                <a:lnTo>
                  <a:pt x="8860201" y="2178759"/>
                </a:lnTo>
                <a:lnTo>
                  <a:pt x="8886503" y="2139417"/>
                </a:lnTo>
                <a:lnTo>
                  <a:pt x="8909036" y="2098082"/>
                </a:lnTo>
                <a:lnTo>
                  <a:pt x="8927798" y="2054754"/>
                </a:lnTo>
                <a:lnTo>
                  <a:pt x="8942789" y="2009433"/>
                </a:lnTo>
                <a:lnTo>
                  <a:pt x="8954010" y="1962118"/>
                </a:lnTo>
                <a:lnTo>
                  <a:pt x="8956519" y="1947500"/>
                </a:lnTo>
                <a:lnTo>
                  <a:pt x="8589853" y="1947500"/>
                </a:lnTo>
                <a:lnTo>
                  <a:pt x="8572233" y="1944394"/>
                </a:lnTo>
                <a:lnTo>
                  <a:pt x="8540137" y="1897879"/>
                </a:lnTo>
                <a:lnTo>
                  <a:pt x="8531850" y="1820011"/>
                </a:lnTo>
                <a:lnTo>
                  <a:pt x="8529780" y="1759884"/>
                </a:lnTo>
                <a:lnTo>
                  <a:pt x="8529091" y="1685624"/>
                </a:lnTo>
                <a:lnTo>
                  <a:pt x="8529091" y="649163"/>
                </a:lnTo>
                <a:lnTo>
                  <a:pt x="8529780" y="571807"/>
                </a:lnTo>
                <a:lnTo>
                  <a:pt x="8531871" y="508979"/>
                </a:lnTo>
                <a:lnTo>
                  <a:pt x="8535301" y="461547"/>
                </a:lnTo>
                <a:lnTo>
                  <a:pt x="8547533" y="406333"/>
                </a:lnTo>
                <a:lnTo>
                  <a:pt x="8592220" y="377642"/>
                </a:lnTo>
                <a:lnTo>
                  <a:pt x="8957713" y="377642"/>
                </a:lnTo>
                <a:lnTo>
                  <a:pt x="8952041" y="346177"/>
                </a:lnTo>
                <a:lnTo>
                  <a:pt x="8940223" y="298216"/>
                </a:lnTo>
                <a:lnTo>
                  <a:pt x="8924768" y="252966"/>
                </a:lnTo>
                <a:lnTo>
                  <a:pt x="8905676" y="210430"/>
                </a:lnTo>
                <a:lnTo>
                  <a:pt x="8882947" y="170608"/>
                </a:lnTo>
                <a:lnTo>
                  <a:pt x="8856581" y="133500"/>
                </a:lnTo>
                <a:lnTo>
                  <a:pt x="8826572" y="99101"/>
                </a:lnTo>
                <a:lnTo>
                  <a:pt x="8786332" y="63428"/>
                </a:lnTo>
                <a:lnTo>
                  <a:pt x="8741984" y="35678"/>
                </a:lnTo>
                <a:lnTo>
                  <a:pt x="8693535" y="15857"/>
                </a:lnTo>
                <a:lnTo>
                  <a:pt x="8640982" y="3964"/>
                </a:lnTo>
                <a:lnTo>
                  <a:pt x="8584325" y="0"/>
                </a:lnTo>
                <a:close/>
              </a:path>
              <a:path w="9786619" h="2325370">
                <a:moveTo>
                  <a:pt x="8982030" y="1383779"/>
                </a:moveTo>
                <a:lnTo>
                  <a:pt x="8649820" y="1383779"/>
                </a:lnTo>
                <a:lnTo>
                  <a:pt x="8649796" y="1667774"/>
                </a:lnTo>
                <a:lnTo>
                  <a:pt x="8649361" y="1732407"/>
                </a:lnTo>
                <a:lnTo>
                  <a:pt x="8647987" y="1789829"/>
                </a:lnTo>
                <a:lnTo>
                  <a:pt x="8645697" y="1836531"/>
                </a:lnTo>
                <a:lnTo>
                  <a:pt x="8638375" y="1897774"/>
                </a:lnTo>
                <a:lnTo>
                  <a:pt x="8620522" y="1935073"/>
                </a:lnTo>
                <a:lnTo>
                  <a:pt x="8589853" y="1947500"/>
                </a:lnTo>
                <a:lnTo>
                  <a:pt x="8956519" y="1947500"/>
                </a:lnTo>
                <a:lnTo>
                  <a:pt x="8964093" y="1896091"/>
                </a:lnTo>
                <a:lnTo>
                  <a:pt x="8968295" y="1857030"/>
                </a:lnTo>
                <a:lnTo>
                  <a:pt x="8971938" y="1813938"/>
                </a:lnTo>
                <a:lnTo>
                  <a:pt x="8975021" y="1766815"/>
                </a:lnTo>
                <a:lnTo>
                  <a:pt x="8977543" y="1715661"/>
                </a:lnTo>
                <a:lnTo>
                  <a:pt x="8979506" y="1660476"/>
                </a:lnTo>
                <a:lnTo>
                  <a:pt x="8980908" y="1601261"/>
                </a:lnTo>
                <a:lnTo>
                  <a:pt x="8981749" y="1538015"/>
                </a:lnTo>
                <a:lnTo>
                  <a:pt x="8981967" y="1485776"/>
                </a:lnTo>
                <a:lnTo>
                  <a:pt x="8982030" y="1383779"/>
                </a:lnTo>
                <a:close/>
              </a:path>
              <a:path w="9786619" h="2325370">
                <a:moveTo>
                  <a:pt x="8957713" y="377642"/>
                </a:moveTo>
                <a:lnTo>
                  <a:pt x="8592220" y="377642"/>
                </a:lnTo>
                <a:lnTo>
                  <a:pt x="8608760" y="380267"/>
                </a:lnTo>
                <a:lnTo>
                  <a:pt x="8622100" y="388136"/>
                </a:lnTo>
                <a:lnTo>
                  <a:pt x="8643830" y="448522"/>
                </a:lnTo>
                <a:lnTo>
                  <a:pt x="8647158" y="493352"/>
                </a:lnTo>
                <a:lnTo>
                  <a:pt x="8649154" y="554080"/>
                </a:lnTo>
                <a:lnTo>
                  <a:pt x="8649697" y="616550"/>
                </a:lnTo>
                <a:lnTo>
                  <a:pt x="8649820" y="1018544"/>
                </a:lnTo>
                <a:lnTo>
                  <a:pt x="8982030" y="1018544"/>
                </a:lnTo>
                <a:lnTo>
                  <a:pt x="8982030" y="806561"/>
                </a:lnTo>
                <a:lnTo>
                  <a:pt x="8981659" y="739163"/>
                </a:lnTo>
                <a:lnTo>
                  <a:pt x="8980548" y="675826"/>
                </a:lnTo>
                <a:lnTo>
                  <a:pt x="8978697" y="616550"/>
                </a:lnTo>
                <a:lnTo>
                  <a:pt x="8976105" y="561335"/>
                </a:lnTo>
                <a:lnTo>
                  <a:pt x="8972772" y="510181"/>
                </a:lnTo>
                <a:lnTo>
                  <a:pt x="8968700" y="463088"/>
                </a:lnTo>
                <a:lnTo>
                  <a:pt x="8963887" y="420057"/>
                </a:lnTo>
                <a:lnTo>
                  <a:pt x="8958288" y="380832"/>
                </a:lnTo>
                <a:lnTo>
                  <a:pt x="8957713" y="377642"/>
                </a:lnTo>
                <a:close/>
              </a:path>
              <a:path w="9786619" h="2325370">
                <a:moveTo>
                  <a:pt x="9589215" y="493419"/>
                </a:moveTo>
                <a:lnTo>
                  <a:pt x="9257006" y="493419"/>
                </a:lnTo>
                <a:lnTo>
                  <a:pt x="9257006" y="2278286"/>
                </a:lnTo>
                <a:lnTo>
                  <a:pt x="9589215" y="2278286"/>
                </a:lnTo>
                <a:lnTo>
                  <a:pt x="9589215" y="493419"/>
                </a:lnTo>
                <a:close/>
              </a:path>
              <a:path w="9786619" h="2325370">
                <a:moveTo>
                  <a:pt x="9786487" y="46857"/>
                </a:moveTo>
                <a:lnTo>
                  <a:pt x="9060530" y="46857"/>
                </a:lnTo>
                <a:lnTo>
                  <a:pt x="9060530" y="493419"/>
                </a:lnTo>
                <a:lnTo>
                  <a:pt x="9786487" y="493419"/>
                </a:lnTo>
                <a:lnTo>
                  <a:pt x="9786487" y="46857"/>
                </a:lnTo>
                <a:close/>
              </a:path>
            </a:pathLst>
          </a:custGeom>
          <a:solidFill>
            <a:srgbClr val="000C3D"/>
          </a:solidFill>
        </p:spPr>
        <p:txBody>
          <a:bodyPr wrap="square" lIns="0" tIns="0" rIns="0" bIns="0" rtlCol="0"/>
          <a:lstStyle/>
          <a:p>
            <a:endParaRPr sz="1092"/>
          </a:p>
        </p:txBody>
      </p:sp>
      <p:sp>
        <p:nvSpPr>
          <p:cNvPr id="4" name="object 4"/>
          <p:cNvSpPr/>
          <p:nvPr/>
        </p:nvSpPr>
        <p:spPr>
          <a:xfrm>
            <a:off x="3169918" y="3182058"/>
            <a:ext cx="5912281" cy="678869"/>
          </a:xfrm>
          <a:custGeom>
            <a:avLst/>
            <a:gdLst/>
            <a:ahLst/>
            <a:cxnLst/>
            <a:rect l="l" t="t" r="r" b="b"/>
            <a:pathLst>
              <a:path w="9749790" h="1119504">
                <a:moveTo>
                  <a:pt x="203365" y="22554"/>
                </a:moveTo>
                <a:lnTo>
                  <a:pt x="0" y="22554"/>
                </a:lnTo>
                <a:lnTo>
                  <a:pt x="0" y="1096500"/>
                </a:lnTo>
                <a:lnTo>
                  <a:pt x="342827" y="1096500"/>
                </a:lnTo>
                <a:lnTo>
                  <a:pt x="388500" y="1095817"/>
                </a:lnTo>
                <a:lnTo>
                  <a:pt x="428045" y="1093766"/>
                </a:lnTo>
                <a:lnTo>
                  <a:pt x="488739" y="1085558"/>
                </a:lnTo>
                <a:lnTo>
                  <a:pt x="533280" y="1070464"/>
                </a:lnTo>
                <a:lnTo>
                  <a:pt x="570087" y="1047078"/>
                </a:lnTo>
                <a:lnTo>
                  <a:pt x="598085" y="1014246"/>
                </a:lnTo>
                <a:lnTo>
                  <a:pt x="616243" y="970797"/>
                </a:lnTo>
                <a:lnTo>
                  <a:pt x="624733" y="912757"/>
                </a:lnTo>
                <a:lnTo>
                  <a:pt x="271803" y="912757"/>
                </a:lnTo>
                <a:lnTo>
                  <a:pt x="271803" y="206297"/>
                </a:lnTo>
                <a:lnTo>
                  <a:pt x="621617" y="206297"/>
                </a:lnTo>
                <a:lnTo>
                  <a:pt x="620441" y="196685"/>
                </a:lnTo>
                <a:lnTo>
                  <a:pt x="604619" y="147012"/>
                </a:lnTo>
                <a:lnTo>
                  <a:pt x="575249" y="102153"/>
                </a:lnTo>
                <a:lnTo>
                  <a:pt x="530775" y="65677"/>
                </a:lnTo>
                <a:lnTo>
                  <a:pt x="469692" y="41129"/>
                </a:lnTo>
                <a:lnTo>
                  <a:pt x="393758" y="29244"/>
                </a:lnTo>
                <a:lnTo>
                  <a:pt x="340493" y="25528"/>
                </a:lnTo>
                <a:lnTo>
                  <a:pt x="277029" y="23297"/>
                </a:lnTo>
                <a:lnTo>
                  <a:pt x="203365" y="22554"/>
                </a:lnTo>
                <a:close/>
              </a:path>
              <a:path w="9749790" h="1119504">
                <a:moveTo>
                  <a:pt x="621617" y="206297"/>
                </a:moveTo>
                <a:lnTo>
                  <a:pt x="271803" y="206297"/>
                </a:lnTo>
                <a:lnTo>
                  <a:pt x="292304" y="206899"/>
                </a:lnTo>
                <a:lnTo>
                  <a:pt x="309251" y="208705"/>
                </a:lnTo>
                <a:lnTo>
                  <a:pt x="345723" y="228275"/>
                </a:lnTo>
                <a:lnTo>
                  <a:pt x="356540" y="279766"/>
                </a:lnTo>
                <a:lnTo>
                  <a:pt x="357603" y="331320"/>
                </a:lnTo>
                <a:lnTo>
                  <a:pt x="357674" y="756867"/>
                </a:lnTo>
                <a:lnTo>
                  <a:pt x="356826" y="805395"/>
                </a:lnTo>
                <a:lnTo>
                  <a:pt x="354283" y="843517"/>
                </a:lnTo>
                <a:lnTo>
                  <a:pt x="344115" y="888538"/>
                </a:lnTo>
                <a:lnTo>
                  <a:pt x="298352" y="911245"/>
                </a:lnTo>
                <a:lnTo>
                  <a:pt x="271803" y="912757"/>
                </a:lnTo>
                <a:lnTo>
                  <a:pt x="624733" y="912757"/>
                </a:lnTo>
                <a:lnTo>
                  <a:pt x="626166" y="898082"/>
                </a:lnTo>
                <a:lnTo>
                  <a:pt x="628652" y="843517"/>
                </a:lnTo>
                <a:lnTo>
                  <a:pt x="629478" y="777431"/>
                </a:lnTo>
                <a:lnTo>
                  <a:pt x="629478" y="401317"/>
                </a:lnTo>
                <a:lnTo>
                  <a:pt x="628912" y="331320"/>
                </a:lnTo>
                <a:lnTo>
                  <a:pt x="627217" y="273883"/>
                </a:lnTo>
                <a:lnTo>
                  <a:pt x="624393" y="229004"/>
                </a:lnTo>
                <a:lnTo>
                  <a:pt x="621617" y="206297"/>
                </a:lnTo>
                <a:close/>
              </a:path>
              <a:path w="9749790" h="1119504">
                <a:moveTo>
                  <a:pt x="1346137" y="22554"/>
                </a:moveTo>
                <a:lnTo>
                  <a:pt x="953279" y="22554"/>
                </a:lnTo>
                <a:lnTo>
                  <a:pt x="814634" y="1096500"/>
                </a:lnTo>
                <a:lnTo>
                  <a:pt x="1095631" y="1096500"/>
                </a:lnTo>
                <a:lnTo>
                  <a:pt x="1111976" y="903469"/>
                </a:lnTo>
                <a:lnTo>
                  <a:pt x="1473629" y="903469"/>
                </a:lnTo>
                <a:lnTo>
                  <a:pt x="1446076" y="713088"/>
                </a:lnTo>
                <a:lnTo>
                  <a:pt x="1108521" y="713088"/>
                </a:lnTo>
                <a:lnTo>
                  <a:pt x="1111262" y="679351"/>
                </a:lnTo>
                <a:lnTo>
                  <a:pt x="1119037" y="599591"/>
                </a:lnTo>
                <a:lnTo>
                  <a:pt x="1124069" y="553568"/>
                </a:lnTo>
                <a:lnTo>
                  <a:pt x="1129866" y="503449"/>
                </a:lnTo>
                <a:lnTo>
                  <a:pt x="1136426" y="449235"/>
                </a:lnTo>
                <a:lnTo>
                  <a:pt x="1143750" y="390926"/>
                </a:lnTo>
                <a:lnTo>
                  <a:pt x="1151836" y="328522"/>
                </a:lnTo>
                <a:lnTo>
                  <a:pt x="1160687" y="262023"/>
                </a:lnTo>
                <a:lnTo>
                  <a:pt x="1380794" y="262023"/>
                </a:lnTo>
                <a:lnTo>
                  <a:pt x="1346137" y="22554"/>
                </a:lnTo>
                <a:close/>
              </a:path>
              <a:path w="9749790" h="1119504">
                <a:moveTo>
                  <a:pt x="1473629" y="903469"/>
                </a:moveTo>
                <a:lnTo>
                  <a:pt x="1209209" y="903469"/>
                </a:lnTo>
                <a:lnTo>
                  <a:pt x="1223795" y="1096500"/>
                </a:lnTo>
                <a:lnTo>
                  <a:pt x="1501566" y="1096500"/>
                </a:lnTo>
                <a:lnTo>
                  <a:pt x="1473629" y="903469"/>
                </a:lnTo>
                <a:close/>
              </a:path>
              <a:path w="9749790" h="1119504">
                <a:moveTo>
                  <a:pt x="1380794" y="262023"/>
                </a:moveTo>
                <a:lnTo>
                  <a:pt x="1160687" y="262023"/>
                </a:lnTo>
                <a:lnTo>
                  <a:pt x="1165296" y="320650"/>
                </a:lnTo>
                <a:lnTo>
                  <a:pt x="1169903" y="377150"/>
                </a:lnTo>
                <a:lnTo>
                  <a:pt x="1174508" y="431523"/>
                </a:lnTo>
                <a:lnTo>
                  <a:pt x="1179110" y="483768"/>
                </a:lnTo>
                <a:lnTo>
                  <a:pt x="1183709" y="533886"/>
                </a:lnTo>
                <a:lnTo>
                  <a:pt x="1188306" y="581877"/>
                </a:lnTo>
                <a:lnTo>
                  <a:pt x="1192899" y="627741"/>
                </a:lnTo>
                <a:lnTo>
                  <a:pt x="1197490" y="671478"/>
                </a:lnTo>
                <a:lnTo>
                  <a:pt x="1202078" y="713088"/>
                </a:lnTo>
                <a:lnTo>
                  <a:pt x="1446076" y="713088"/>
                </a:lnTo>
                <a:lnTo>
                  <a:pt x="1380794" y="262023"/>
                </a:lnTo>
                <a:close/>
              </a:path>
              <a:path w="9749790" h="1119504">
                <a:moveTo>
                  <a:pt x="2006305" y="237479"/>
                </a:moveTo>
                <a:lnTo>
                  <a:pt x="1734491" y="237479"/>
                </a:lnTo>
                <a:lnTo>
                  <a:pt x="1734491" y="1096500"/>
                </a:lnTo>
                <a:lnTo>
                  <a:pt x="2006305" y="1096500"/>
                </a:lnTo>
                <a:lnTo>
                  <a:pt x="2006305" y="237479"/>
                </a:lnTo>
                <a:close/>
              </a:path>
              <a:path w="9749790" h="1119504">
                <a:moveTo>
                  <a:pt x="2167703" y="22554"/>
                </a:moveTo>
                <a:lnTo>
                  <a:pt x="1573732" y="22554"/>
                </a:lnTo>
                <a:lnTo>
                  <a:pt x="1573732" y="237479"/>
                </a:lnTo>
                <a:lnTo>
                  <a:pt x="2167703" y="237479"/>
                </a:lnTo>
                <a:lnTo>
                  <a:pt x="2167703" y="22554"/>
                </a:lnTo>
                <a:close/>
              </a:path>
              <a:path w="9749790" h="1119504">
                <a:moveTo>
                  <a:pt x="2792040" y="22554"/>
                </a:moveTo>
                <a:lnTo>
                  <a:pt x="2399183" y="22554"/>
                </a:lnTo>
                <a:lnTo>
                  <a:pt x="2260538" y="1096500"/>
                </a:lnTo>
                <a:lnTo>
                  <a:pt x="2541545" y="1096500"/>
                </a:lnTo>
                <a:lnTo>
                  <a:pt x="2557880" y="903469"/>
                </a:lnTo>
                <a:lnTo>
                  <a:pt x="2919533" y="903469"/>
                </a:lnTo>
                <a:lnTo>
                  <a:pt x="2891980" y="713088"/>
                </a:lnTo>
                <a:lnTo>
                  <a:pt x="2554424" y="713088"/>
                </a:lnTo>
                <a:lnTo>
                  <a:pt x="2557166" y="679351"/>
                </a:lnTo>
                <a:lnTo>
                  <a:pt x="2564940" y="599591"/>
                </a:lnTo>
                <a:lnTo>
                  <a:pt x="2569973" y="553568"/>
                </a:lnTo>
                <a:lnTo>
                  <a:pt x="2575770" y="503449"/>
                </a:lnTo>
                <a:lnTo>
                  <a:pt x="2582330" y="449235"/>
                </a:lnTo>
                <a:lnTo>
                  <a:pt x="2589653" y="390926"/>
                </a:lnTo>
                <a:lnTo>
                  <a:pt x="2597740" y="328522"/>
                </a:lnTo>
                <a:lnTo>
                  <a:pt x="2606590" y="262023"/>
                </a:lnTo>
                <a:lnTo>
                  <a:pt x="2826698" y="262023"/>
                </a:lnTo>
                <a:lnTo>
                  <a:pt x="2792040" y="22554"/>
                </a:lnTo>
                <a:close/>
              </a:path>
              <a:path w="9749790" h="1119504">
                <a:moveTo>
                  <a:pt x="2919533" y="903469"/>
                </a:moveTo>
                <a:lnTo>
                  <a:pt x="2655112" y="903469"/>
                </a:lnTo>
                <a:lnTo>
                  <a:pt x="2669698" y="1096500"/>
                </a:lnTo>
                <a:lnTo>
                  <a:pt x="2947470" y="1096500"/>
                </a:lnTo>
                <a:lnTo>
                  <a:pt x="2919533" y="903469"/>
                </a:lnTo>
                <a:close/>
              </a:path>
              <a:path w="9749790" h="1119504">
                <a:moveTo>
                  <a:pt x="2826698" y="262023"/>
                </a:moveTo>
                <a:lnTo>
                  <a:pt x="2606590" y="262023"/>
                </a:lnTo>
                <a:lnTo>
                  <a:pt x="2611200" y="320650"/>
                </a:lnTo>
                <a:lnTo>
                  <a:pt x="2615807" y="377150"/>
                </a:lnTo>
                <a:lnTo>
                  <a:pt x="2620411" y="431523"/>
                </a:lnTo>
                <a:lnTo>
                  <a:pt x="2625013" y="483768"/>
                </a:lnTo>
                <a:lnTo>
                  <a:pt x="2629613" y="533886"/>
                </a:lnTo>
                <a:lnTo>
                  <a:pt x="2634209" y="581877"/>
                </a:lnTo>
                <a:lnTo>
                  <a:pt x="2638803" y="627741"/>
                </a:lnTo>
                <a:lnTo>
                  <a:pt x="2643394" y="671478"/>
                </a:lnTo>
                <a:lnTo>
                  <a:pt x="2647982" y="713088"/>
                </a:lnTo>
                <a:lnTo>
                  <a:pt x="2891980" y="713088"/>
                </a:lnTo>
                <a:lnTo>
                  <a:pt x="2826698" y="262023"/>
                </a:lnTo>
                <a:close/>
              </a:path>
              <a:path w="9749790" h="1119504">
                <a:moveTo>
                  <a:pt x="3798931" y="0"/>
                </a:moveTo>
                <a:lnTo>
                  <a:pt x="3755974" y="1927"/>
                </a:lnTo>
                <a:lnTo>
                  <a:pt x="3715562" y="7711"/>
                </a:lnTo>
                <a:lnTo>
                  <a:pt x="3677694" y="17351"/>
                </a:lnTo>
                <a:lnTo>
                  <a:pt x="3610167" y="47700"/>
                </a:lnTo>
                <a:lnTo>
                  <a:pt x="3556899" y="89985"/>
                </a:lnTo>
                <a:lnTo>
                  <a:pt x="3518549" y="142556"/>
                </a:lnTo>
                <a:lnTo>
                  <a:pt x="3495472" y="198447"/>
                </a:lnTo>
                <a:lnTo>
                  <a:pt x="3486291" y="259848"/>
                </a:lnTo>
                <a:lnTo>
                  <a:pt x="3483870" y="299752"/>
                </a:lnTo>
                <a:lnTo>
                  <a:pt x="3482419" y="346908"/>
                </a:lnTo>
                <a:lnTo>
                  <a:pt x="3482052" y="388187"/>
                </a:lnTo>
                <a:lnTo>
                  <a:pt x="3481935" y="715077"/>
                </a:lnTo>
                <a:lnTo>
                  <a:pt x="3482942" y="775058"/>
                </a:lnTo>
                <a:lnTo>
                  <a:pt x="3485962" y="828696"/>
                </a:lnTo>
                <a:lnTo>
                  <a:pt x="3490996" y="875993"/>
                </a:lnTo>
                <a:lnTo>
                  <a:pt x="3498044" y="916948"/>
                </a:lnTo>
                <a:lnTo>
                  <a:pt x="3522969" y="988731"/>
                </a:lnTo>
                <a:lnTo>
                  <a:pt x="3545364" y="1021628"/>
                </a:lnTo>
                <a:lnTo>
                  <a:pt x="3574295" y="1050253"/>
                </a:lnTo>
                <a:lnTo>
                  <a:pt x="3609764" y="1074606"/>
                </a:lnTo>
                <a:lnTo>
                  <a:pt x="3651125" y="1094048"/>
                </a:lnTo>
                <a:lnTo>
                  <a:pt x="3697730" y="1107938"/>
                </a:lnTo>
                <a:lnTo>
                  <a:pt x="3749581" y="1116275"/>
                </a:lnTo>
                <a:lnTo>
                  <a:pt x="3806679" y="1119054"/>
                </a:lnTo>
                <a:lnTo>
                  <a:pt x="3861856" y="1115774"/>
                </a:lnTo>
                <a:lnTo>
                  <a:pt x="3912476" y="1105933"/>
                </a:lnTo>
                <a:lnTo>
                  <a:pt x="3958539" y="1089533"/>
                </a:lnTo>
                <a:lnTo>
                  <a:pt x="4000045" y="1066574"/>
                </a:lnTo>
                <a:lnTo>
                  <a:pt x="4035795" y="1039255"/>
                </a:lnTo>
                <a:lnTo>
                  <a:pt x="4064605" y="1009775"/>
                </a:lnTo>
                <a:lnTo>
                  <a:pt x="4086475" y="978135"/>
                </a:lnTo>
                <a:lnTo>
                  <a:pt x="4103230" y="937301"/>
                </a:lnTo>
                <a:lnTo>
                  <a:pt x="3803454" y="937301"/>
                </a:lnTo>
                <a:lnTo>
                  <a:pt x="3789038" y="935806"/>
                </a:lnTo>
                <a:lnTo>
                  <a:pt x="3758819" y="898079"/>
                </a:lnTo>
                <a:lnTo>
                  <a:pt x="3754302" y="847003"/>
                </a:lnTo>
                <a:lnTo>
                  <a:pt x="3753739" y="811263"/>
                </a:lnTo>
                <a:lnTo>
                  <a:pt x="3753739" y="312430"/>
                </a:lnTo>
                <a:lnTo>
                  <a:pt x="3755995" y="245102"/>
                </a:lnTo>
                <a:lnTo>
                  <a:pt x="3762775" y="206297"/>
                </a:lnTo>
                <a:lnTo>
                  <a:pt x="3805391" y="181753"/>
                </a:lnTo>
                <a:lnTo>
                  <a:pt x="4103798" y="181753"/>
                </a:lnTo>
                <a:lnTo>
                  <a:pt x="4099791" y="166612"/>
                </a:lnTo>
                <a:lnTo>
                  <a:pt x="4061852" y="101275"/>
                </a:lnTo>
                <a:lnTo>
                  <a:pt x="4032841" y="73015"/>
                </a:lnTo>
                <a:lnTo>
                  <a:pt x="3997134" y="47694"/>
                </a:lnTo>
                <a:lnTo>
                  <a:pt x="3955451" y="26826"/>
                </a:lnTo>
                <a:lnTo>
                  <a:pt x="3908524" y="11922"/>
                </a:lnTo>
                <a:lnTo>
                  <a:pt x="3856352" y="2980"/>
                </a:lnTo>
                <a:lnTo>
                  <a:pt x="3798931" y="0"/>
                </a:lnTo>
                <a:close/>
              </a:path>
              <a:path w="9749790" h="1119504">
                <a:moveTo>
                  <a:pt x="4124324" y="665990"/>
                </a:moveTo>
                <a:lnTo>
                  <a:pt x="3852521" y="665990"/>
                </a:lnTo>
                <a:lnTo>
                  <a:pt x="3852521" y="800980"/>
                </a:lnTo>
                <a:lnTo>
                  <a:pt x="3851934" y="841171"/>
                </a:lnTo>
                <a:lnTo>
                  <a:pt x="3847251" y="897364"/>
                </a:lnTo>
                <a:lnTo>
                  <a:pt x="3828519" y="931331"/>
                </a:lnTo>
                <a:lnTo>
                  <a:pt x="3803454" y="937301"/>
                </a:lnTo>
                <a:lnTo>
                  <a:pt x="4103230" y="937301"/>
                </a:lnTo>
                <a:lnTo>
                  <a:pt x="4116071" y="873019"/>
                </a:lnTo>
                <a:lnTo>
                  <a:pt x="4120656" y="825721"/>
                </a:lnTo>
                <a:lnTo>
                  <a:pt x="4123407" y="770662"/>
                </a:lnTo>
                <a:lnTo>
                  <a:pt x="4124219" y="715077"/>
                </a:lnTo>
                <a:lnTo>
                  <a:pt x="4124324" y="665990"/>
                </a:lnTo>
                <a:close/>
              </a:path>
              <a:path w="9749790" h="1119504">
                <a:moveTo>
                  <a:pt x="4103798" y="181753"/>
                </a:moveTo>
                <a:lnTo>
                  <a:pt x="3805391" y="181753"/>
                </a:lnTo>
                <a:lnTo>
                  <a:pt x="3818924" y="183017"/>
                </a:lnTo>
                <a:lnTo>
                  <a:pt x="3829837" y="186805"/>
                </a:lnTo>
                <a:lnTo>
                  <a:pt x="3850339" y="237444"/>
                </a:lnTo>
                <a:lnTo>
                  <a:pt x="3852465" y="299752"/>
                </a:lnTo>
                <a:lnTo>
                  <a:pt x="3852521" y="490204"/>
                </a:lnTo>
                <a:lnTo>
                  <a:pt x="4124324" y="490204"/>
                </a:lnTo>
                <a:lnTo>
                  <a:pt x="4124324" y="388187"/>
                </a:lnTo>
                <a:lnTo>
                  <a:pt x="4122791" y="317950"/>
                </a:lnTo>
                <a:lnTo>
                  <a:pt x="4118191" y="257609"/>
                </a:lnTo>
                <a:lnTo>
                  <a:pt x="4110524" y="207164"/>
                </a:lnTo>
                <a:lnTo>
                  <a:pt x="4103798" y="181753"/>
                </a:lnTo>
                <a:close/>
              </a:path>
              <a:path w="9749790" h="1119504">
                <a:moveTo>
                  <a:pt x="4673930" y="0"/>
                </a:moveTo>
                <a:lnTo>
                  <a:pt x="4631074" y="1865"/>
                </a:lnTo>
                <a:lnTo>
                  <a:pt x="4590963" y="7461"/>
                </a:lnTo>
                <a:lnTo>
                  <a:pt x="4553599" y="16790"/>
                </a:lnTo>
                <a:lnTo>
                  <a:pt x="4487442" y="46391"/>
                </a:lnTo>
                <a:lnTo>
                  <a:pt x="4434664" y="89175"/>
                </a:lnTo>
                <a:lnTo>
                  <a:pt x="4395866" y="144009"/>
                </a:lnTo>
                <a:lnTo>
                  <a:pt x="4372620" y="205538"/>
                </a:lnTo>
                <a:lnTo>
                  <a:pt x="4364261" y="269188"/>
                </a:lnTo>
                <a:lnTo>
                  <a:pt x="4362182" y="307463"/>
                </a:lnTo>
                <a:lnTo>
                  <a:pt x="4360698" y="353299"/>
                </a:lnTo>
                <a:lnTo>
                  <a:pt x="4359807" y="406695"/>
                </a:lnTo>
                <a:lnTo>
                  <a:pt x="4359511" y="467650"/>
                </a:lnTo>
                <a:lnTo>
                  <a:pt x="4359511" y="651404"/>
                </a:lnTo>
                <a:lnTo>
                  <a:pt x="4359821" y="713756"/>
                </a:lnTo>
                <a:lnTo>
                  <a:pt x="4360751" y="768151"/>
                </a:lnTo>
                <a:lnTo>
                  <a:pt x="4362302" y="814585"/>
                </a:lnTo>
                <a:lnTo>
                  <a:pt x="4364471" y="853057"/>
                </a:lnTo>
                <a:lnTo>
                  <a:pt x="4373190" y="916113"/>
                </a:lnTo>
                <a:lnTo>
                  <a:pt x="4397401" y="977474"/>
                </a:lnTo>
                <a:lnTo>
                  <a:pt x="4437650" y="1032715"/>
                </a:lnTo>
                <a:lnTo>
                  <a:pt x="4491397" y="1075008"/>
                </a:lnTo>
                <a:lnTo>
                  <a:pt x="4557654" y="1103196"/>
                </a:lnTo>
                <a:lnTo>
                  <a:pt x="4633033" y="1117292"/>
                </a:lnTo>
                <a:lnTo>
                  <a:pt x="4673930" y="1119054"/>
                </a:lnTo>
                <a:lnTo>
                  <a:pt x="4716781" y="1117189"/>
                </a:lnTo>
                <a:lnTo>
                  <a:pt x="4756890" y="1111593"/>
                </a:lnTo>
                <a:lnTo>
                  <a:pt x="4794256" y="1102264"/>
                </a:lnTo>
                <a:lnTo>
                  <a:pt x="4860407" y="1072663"/>
                </a:lnTo>
                <a:lnTo>
                  <a:pt x="4913185" y="1029879"/>
                </a:lnTo>
                <a:lnTo>
                  <a:pt x="4951988" y="975046"/>
                </a:lnTo>
                <a:lnTo>
                  <a:pt x="4967944" y="937301"/>
                </a:lnTo>
                <a:lnTo>
                  <a:pt x="4673281" y="937301"/>
                </a:lnTo>
                <a:lnTo>
                  <a:pt x="4660954" y="935932"/>
                </a:lnTo>
                <a:lnTo>
                  <a:pt x="4635488" y="899982"/>
                </a:lnTo>
                <a:lnTo>
                  <a:pt x="4631777" y="842273"/>
                </a:lnTo>
                <a:lnTo>
                  <a:pt x="4631314" y="799986"/>
                </a:lnTo>
                <a:lnTo>
                  <a:pt x="4631314" y="298504"/>
                </a:lnTo>
                <a:lnTo>
                  <a:pt x="4634140" y="232089"/>
                </a:lnTo>
                <a:lnTo>
                  <a:pt x="4648886" y="191273"/>
                </a:lnTo>
                <a:lnTo>
                  <a:pt x="4675218" y="181753"/>
                </a:lnTo>
                <a:lnTo>
                  <a:pt x="4967863" y="181753"/>
                </a:lnTo>
                <a:lnTo>
                  <a:pt x="4964618" y="171645"/>
                </a:lnTo>
                <a:lnTo>
                  <a:pt x="4932174" y="112771"/>
                </a:lnTo>
                <a:lnTo>
                  <a:pt x="4884965" y="63435"/>
                </a:lnTo>
                <a:lnTo>
                  <a:pt x="4824680" y="28187"/>
                </a:lnTo>
                <a:lnTo>
                  <a:pt x="4753581" y="7049"/>
                </a:lnTo>
                <a:lnTo>
                  <a:pt x="4714823" y="1762"/>
                </a:lnTo>
                <a:lnTo>
                  <a:pt x="4673930" y="0"/>
                </a:lnTo>
                <a:close/>
              </a:path>
              <a:path w="9749790" h="1119504">
                <a:moveTo>
                  <a:pt x="4967863" y="181753"/>
                </a:moveTo>
                <a:lnTo>
                  <a:pt x="4675218" y="181753"/>
                </a:lnTo>
                <a:lnTo>
                  <a:pt x="4686737" y="183059"/>
                </a:lnTo>
                <a:lnTo>
                  <a:pt x="4696117" y="186977"/>
                </a:lnTo>
                <a:lnTo>
                  <a:pt x="4714518" y="237063"/>
                </a:lnTo>
                <a:lnTo>
                  <a:pt x="4716537" y="298504"/>
                </a:lnTo>
                <a:lnTo>
                  <a:pt x="4716447" y="799986"/>
                </a:lnTo>
                <a:lnTo>
                  <a:pt x="4714602" y="869476"/>
                </a:lnTo>
                <a:lnTo>
                  <a:pt x="4708788" y="912087"/>
                </a:lnTo>
                <a:lnTo>
                  <a:pt x="4673281" y="937301"/>
                </a:lnTo>
                <a:lnTo>
                  <a:pt x="4967944" y="937301"/>
                </a:lnTo>
                <a:lnTo>
                  <a:pt x="4980916" y="880580"/>
                </a:lnTo>
                <a:lnTo>
                  <a:pt x="4985664" y="811598"/>
                </a:lnTo>
                <a:lnTo>
                  <a:pt x="4987150" y="765763"/>
                </a:lnTo>
                <a:lnTo>
                  <a:pt x="4988042" y="712364"/>
                </a:lnTo>
                <a:lnTo>
                  <a:pt x="4988340" y="651404"/>
                </a:lnTo>
                <a:lnTo>
                  <a:pt x="4988340" y="467650"/>
                </a:lnTo>
                <a:lnTo>
                  <a:pt x="4988031" y="405303"/>
                </a:lnTo>
                <a:lnTo>
                  <a:pt x="4987103" y="350911"/>
                </a:lnTo>
                <a:lnTo>
                  <a:pt x="4985556" y="304477"/>
                </a:lnTo>
                <a:lnTo>
                  <a:pt x="4983389" y="266002"/>
                </a:lnTo>
                <a:lnTo>
                  <a:pt x="4974666" y="202946"/>
                </a:lnTo>
                <a:lnTo>
                  <a:pt x="4967863" y="181753"/>
                </a:lnTo>
                <a:close/>
              </a:path>
              <a:path w="9749790" h="1119504">
                <a:moveTo>
                  <a:pt x="5586856" y="22554"/>
                </a:moveTo>
                <a:lnTo>
                  <a:pt x="5235149" y="22554"/>
                </a:lnTo>
                <a:lnTo>
                  <a:pt x="5235149" y="1096500"/>
                </a:lnTo>
                <a:lnTo>
                  <a:pt x="5472744" y="1096500"/>
                </a:lnTo>
                <a:lnTo>
                  <a:pt x="5473058" y="388051"/>
                </a:lnTo>
                <a:lnTo>
                  <a:pt x="5638499" y="388051"/>
                </a:lnTo>
                <a:lnTo>
                  <a:pt x="5619116" y="250871"/>
                </a:lnTo>
                <a:lnTo>
                  <a:pt x="5612508" y="199667"/>
                </a:lnTo>
                <a:lnTo>
                  <a:pt x="5605978" y="151235"/>
                </a:lnTo>
                <a:lnTo>
                  <a:pt x="5599526" y="105574"/>
                </a:lnTo>
                <a:lnTo>
                  <a:pt x="5593152" y="62681"/>
                </a:lnTo>
                <a:lnTo>
                  <a:pt x="5586856" y="22554"/>
                </a:lnTo>
                <a:close/>
              </a:path>
              <a:path w="9749790" h="1119504">
                <a:moveTo>
                  <a:pt x="5638499" y="388051"/>
                </a:moveTo>
                <a:lnTo>
                  <a:pt x="5473058" y="388051"/>
                </a:lnTo>
                <a:lnTo>
                  <a:pt x="5572814" y="1096500"/>
                </a:lnTo>
                <a:lnTo>
                  <a:pt x="5741322" y="1096500"/>
                </a:lnTo>
                <a:lnTo>
                  <a:pt x="5816002" y="524036"/>
                </a:lnTo>
                <a:lnTo>
                  <a:pt x="5657712" y="524036"/>
                </a:lnTo>
                <a:lnTo>
                  <a:pt x="5638499" y="388051"/>
                </a:lnTo>
                <a:close/>
              </a:path>
              <a:path w="9749790" h="1119504">
                <a:moveTo>
                  <a:pt x="6073815" y="371465"/>
                </a:moveTo>
                <a:lnTo>
                  <a:pt x="5835906" y="371465"/>
                </a:lnTo>
                <a:lnTo>
                  <a:pt x="5836220" y="1096500"/>
                </a:lnTo>
                <a:lnTo>
                  <a:pt x="6073815" y="1096500"/>
                </a:lnTo>
                <a:lnTo>
                  <a:pt x="6073815" y="371465"/>
                </a:lnTo>
                <a:close/>
              </a:path>
              <a:path w="9749790" h="1119504">
                <a:moveTo>
                  <a:pt x="6073815" y="22554"/>
                </a:moveTo>
                <a:lnTo>
                  <a:pt x="5720171" y="22554"/>
                </a:lnTo>
                <a:lnTo>
                  <a:pt x="5657712" y="524036"/>
                </a:lnTo>
                <a:lnTo>
                  <a:pt x="5816002" y="524036"/>
                </a:lnTo>
                <a:lnTo>
                  <a:pt x="5835906" y="371465"/>
                </a:lnTo>
                <a:lnTo>
                  <a:pt x="6073815" y="371465"/>
                </a:lnTo>
                <a:lnTo>
                  <a:pt x="6073815" y="22554"/>
                </a:lnTo>
                <a:close/>
              </a:path>
              <a:path w="9749790" h="1119504">
                <a:moveTo>
                  <a:pt x="6680068" y="22554"/>
                </a:moveTo>
                <a:lnTo>
                  <a:pt x="6328372" y="22554"/>
                </a:lnTo>
                <a:lnTo>
                  <a:pt x="6328372" y="1096500"/>
                </a:lnTo>
                <a:lnTo>
                  <a:pt x="6565957" y="1096500"/>
                </a:lnTo>
                <a:lnTo>
                  <a:pt x="6566281" y="388051"/>
                </a:lnTo>
                <a:lnTo>
                  <a:pt x="6731711" y="388051"/>
                </a:lnTo>
                <a:lnTo>
                  <a:pt x="6712329" y="250871"/>
                </a:lnTo>
                <a:lnTo>
                  <a:pt x="6705721" y="199667"/>
                </a:lnTo>
                <a:lnTo>
                  <a:pt x="6699191" y="151235"/>
                </a:lnTo>
                <a:lnTo>
                  <a:pt x="6692739" y="105574"/>
                </a:lnTo>
                <a:lnTo>
                  <a:pt x="6686365" y="62681"/>
                </a:lnTo>
                <a:lnTo>
                  <a:pt x="6680068" y="22554"/>
                </a:lnTo>
                <a:close/>
              </a:path>
              <a:path w="9749790" h="1119504">
                <a:moveTo>
                  <a:pt x="6731711" y="388051"/>
                </a:moveTo>
                <a:lnTo>
                  <a:pt x="6566281" y="388051"/>
                </a:lnTo>
                <a:lnTo>
                  <a:pt x="6666027" y="1096500"/>
                </a:lnTo>
                <a:lnTo>
                  <a:pt x="6834535" y="1096500"/>
                </a:lnTo>
                <a:lnTo>
                  <a:pt x="6909215" y="524036"/>
                </a:lnTo>
                <a:lnTo>
                  <a:pt x="6750925" y="524036"/>
                </a:lnTo>
                <a:lnTo>
                  <a:pt x="6731711" y="388051"/>
                </a:lnTo>
                <a:close/>
              </a:path>
              <a:path w="9749790" h="1119504">
                <a:moveTo>
                  <a:pt x="7167027" y="371465"/>
                </a:moveTo>
                <a:lnTo>
                  <a:pt x="6929118" y="371465"/>
                </a:lnTo>
                <a:lnTo>
                  <a:pt x="6929443" y="1096500"/>
                </a:lnTo>
                <a:lnTo>
                  <a:pt x="7167027" y="1096500"/>
                </a:lnTo>
                <a:lnTo>
                  <a:pt x="7167027" y="371465"/>
                </a:lnTo>
                <a:close/>
              </a:path>
              <a:path w="9749790" h="1119504">
                <a:moveTo>
                  <a:pt x="7167027" y="22554"/>
                </a:moveTo>
                <a:lnTo>
                  <a:pt x="6813394" y="22554"/>
                </a:lnTo>
                <a:lnTo>
                  <a:pt x="6750925" y="524036"/>
                </a:lnTo>
                <a:lnTo>
                  <a:pt x="6909215" y="524036"/>
                </a:lnTo>
                <a:lnTo>
                  <a:pt x="6929118" y="371465"/>
                </a:lnTo>
                <a:lnTo>
                  <a:pt x="7167027" y="371465"/>
                </a:lnTo>
                <a:lnTo>
                  <a:pt x="7167027" y="22554"/>
                </a:lnTo>
                <a:close/>
              </a:path>
              <a:path w="9749790" h="1119504">
                <a:moveTo>
                  <a:pt x="7728256" y="0"/>
                </a:moveTo>
                <a:lnTo>
                  <a:pt x="7685395" y="1865"/>
                </a:lnTo>
                <a:lnTo>
                  <a:pt x="7645285" y="7461"/>
                </a:lnTo>
                <a:lnTo>
                  <a:pt x="7607923" y="16790"/>
                </a:lnTo>
                <a:lnTo>
                  <a:pt x="7541768" y="46391"/>
                </a:lnTo>
                <a:lnTo>
                  <a:pt x="7488986" y="89175"/>
                </a:lnTo>
                <a:lnTo>
                  <a:pt x="7450187" y="144009"/>
                </a:lnTo>
                <a:lnTo>
                  <a:pt x="7426946" y="205538"/>
                </a:lnTo>
                <a:lnTo>
                  <a:pt x="7418587" y="269188"/>
                </a:lnTo>
                <a:lnTo>
                  <a:pt x="7416508" y="307463"/>
                </a:lnTo>
                <a:lnTo>
                  <a:pt x="7415023" y="353299"/>
                </a:lnTo>
                <a:lnTo>
                  <a:pt x="7414133" y="406695"/>
                </a:lnTo>
                <a:lnTo>
                  <a:pt x="7413837" y="467650"/>
                </a:lnTo>
                <a:lnTo>
                  <a:pt x="7413837" y="651404"/>
                </a:lnTo>
                <a:lnTo>
                  <a:pt x="7414146" y="713756"/>
                </a:lnTo>
                <a:lnTo>
                  <a:pt x="7415074" y="768151"/>
                </a:lnTo>
                <a:lnTo>
                  <a:pt x="7416623" y="814585"/>
                </a:lnTo>
                <a:lnTo>
                  <a:pt x="7418793" y="853057"/>
                </a:lnTo>
                <a:lnTo>
                  <a:pt x="7427514" y="916113"/>
                </a:lnTo>
                <a:lnTo>
                  <a:pt x="7451722" y="977474"/>
                </a:lnTo>
                <a:lnTo>
                  <a:pt x="7491976" y="1032715"/>
                </a:lnTo>
                <a:lnTo>
                  <a:pt x="7545723" y="1075008"/>
                </a:lnTo>
                <a:lnTo>
                  <a:pt x="7611980" y="1103196"/>
                </a:lnTo>
                <a:lnTo>
                  <a:pt x="7687359" y="1117292"/>
                </a:lnTo>
                <a:lnTo>
                  <a:pt x="7728256" y="1119054"/>
                </a:lnTo>
                <a:lnTo>
                  <a:pt x="7771105" y="1117189"/>
                </a:lnTo>
                <a:lnTo>
                  <a:pt x="7811212" y="1111593"/>
                </a:lnTo>
                <a:lnTo>
                  <a:pt x="7848578" y="1102264"/>
                </a:lnTo>
                <a:lnTo>
                  <a:pt x="7914733" y="1072663"/>
                </a:lnTo>
                <a:lnTo>
                  <a:pt x="7967511" y="1029879"/>
                </a:lnTo>
                <a:lnTo>
                  <a:pt x="8006309" y="975046"/>
                </a:lnTo>
                <a:lnTo>
                  <a:pt x="8022267" y="937301"/>
                </a:lnTo>
                <a:lnTo>
                  <a:pt x="7727607" y="937301"/>
                </a:lnTo>
                <a:lnTo>
                  <a:pt x="7715280" y="935932"/>
                </a:lnTo>
                <a:lnTo>
                  <a:pt x="7689814" y="899982"/>
                </a:lnTo>
                <a:lnTo>
                  <a:pt x="7686103" y="842273"/>
                </a:lnTo>
                <a:lnTo>
                  <a:pt x="7685640" y="799986"/>
                </a:lnTo>
                <a:lnTo>
                  <a:pt x="7685640" y="298504"/>
                </a:lnTo>
                <a:lnTo>
                  <a:pt x="7688462" y="232089"/>
                </a:lnTo>
                <a:lnTo>
                  <a:pt x="7703211" y="191273"/>
                </a:lnTo>
                <a:lnTo>
                  <a:pt x="7729544" y="181753"/>
                </a:lnTo>
                <a:lnTo>
                  <a:pt x="8022186" y="181753"/>
                </a:lnTo>
                <a:lnTo>
                  <a:pt x="8018943" y="171645"/>
                </a:lnTo>
                <a:lnTo>
                  <a:pt x="7986500" y="112771"/>
                </a:lnTo>
                <a:lnTo>
                  <a:pt x="7939287" y="63435"/>
                </a:lnTo>
                <a:lnTo>
                  <a:pt x="7879006" y="28187"/>
                </a:lnTo>
                <a:lnTo>
                  <a:pt x="7807903" y="7049"/>
                </a:lnTo>
                <a:lnTo>
                  <a:pt x="7769148" y="1762"/>
                </a:lnTo>
                <a:lnTo>
                  <a:pt x="7728256" y="0"/>
                </a:lnTo>
                <a:close/>
              </a:path>
              <a:path w="9749790" h="1119504">
                <a:moveTo>
                  <a:pt x="8022186" y="181753"/>
                </a:moveTo>
                <a:lnTo>
                  <a:pt x="7729544" y="181753"/>
                </a:lnTo>
                <a:lnTo>
                  <a:pt x="7741063" y="183059"/>
                </a:lnTo>
                <a:lnTo>
                  <a:pt x="7750443" y="186977"/>
                </a:lnTo>
                <a:lnTo>
                  <a:pt x="7768844" y="237063"/>
                </a:lnTo>
                <a:lnTo>
                  <a:pt x="7770862" y="298504"/>
                </a:lnTo>
                <a:lnTo>
                  <a:pt x="7770773" y="799986"/>
                </a:lnTo>
                <a:lnTo>
                  <a:pt x="7768924" y="869476"/>
                </a:lnTo>
                <a:lnTo>
                  <a:pt x="7763114" y="912087"/>
                </a:lnTo>
                <a:lnTo>
                  <a:pt x="7727607" y="937301"/>
                </a:lnTo>
                <a:lnTo>
                  <a:pt x="8022267" y="937301"/>
                </a:lnTo>
                <a:lnTo>
                  <a:pt x="8035242" y="880580"/>
                </a:lnTo>
                <a:lnTo>
                  <a:pt x="8039990" y="811598"/>
                </a:lnTo>
                <a:lnTo>
                  <a:pt x="8041476" y="765763"/>
                </a:lnTo>
                <a:lnTo>
                  <a:pt x="8042368" y="712364"/>
                </a:lnTo>
                <a:lnTo>
                  <a:pt x="8042666" y="651404"/>
                </a:lnTo>
                <a:lnTo>
                  <a:pt x="8042666" y="467650"/>
                </a:lnTo>
                <a:lnTo>
                  <a:pt x="8042356" y="405303"/>
                </a:lnTo>
                <a:lnTo>
                  <a:pt x="8041428" y="350911"/>
                </a:lnTo>
                <a:lnTo>
                  <a:pt x="8039879" y="304477"/>
                </a:lnTo>
                <a:lnTo>
                  <a:pt x="8037709" y="266002"/>
                </a:lnTo>
                <a:lnTo>
                  <a:pt x="8028988" y="202946"/>
                </a:lnTo>
                <a:lnTo>
                  <a:pt x="8022186" y="181753"/>
                </a:lnTo>
                <a:close/>
              </a:path>
              <a:path w="9749790" h="1119504">
                <a:moveTo>
                  <a:pt x="8516735" y="22554"/>
                </a:moveTo>
                <a:lnTo>
                  <a:pt x="8289475" y="22554"/>
                </a:lnTo>
                <a:lnTo>
                  <a:pt x="8289475" y="1096500"/>
                </a:lnTo>
                <a:lnTo>
                  <a:pt x="8516735" y="1096500"/>
                </a:lnTo>
                <a:lnTo>
                  <a:pt x="8516735" y="608285"/>
                </a:lnTo>
                <a:lnTo>
                  <a:pt x="8896357" y="608285"/>
                </a:lnTo>
                <a:lnTo>
                  <a:pt x="8896357" y="506131"/>
                </a:lnTo>
                <a:lnTo>
                  <a:pt x="8669097" y="506131"/>
                </a:lnTo>
                <a:lnTo>
                  <a:pt x="8516735" y="22554"/>
                </a:lnTo>
                <a:close/>
              </a:path>
              <a:path w="9749790" h="1119504">
                <a:moveTo>
                  <a:pt x="8896357" y="608285"/>
                </a:moveTo>
                <a:lnTo>
                  <a:pt x="8516735" y="608285"/>
                </a:lnTo>
                <a:lnTo>
                  <a:pt x="8658123" y="1096500"/>
                </a:lnTo>
                <a:lnTo>
                  <a:pt x="8896357" y="1096500"/>
                </a:lnTo>
                <a:lnTo>
                  <a:pt x="8896357" y="608285"/>
                </a:lnTo>
                <a:close/>
              </a:path>
              <a:path w="9749790" h="1119504">
                <a:moveTo>
                  <a:pt x="8896357" y="22554"/>
                </a:moveTo>
                <a:lnTo>
                  <a:pt x="8669097" y="22554"/>
                </a:lnTo>
                <a:lnTo>
                  <a:pt x="8669097" y="506131"/>
                </a:lnTo>
                <a:lnTo>
                  <a:pt x="8896357" y="506131"/>
                </a:lnTo>
                <a:lnTo>
                  <a:pt x="8896357" y="22554"/>
                </a:lnTo>
                <a:close/>
              </a:path>
              <a:path w="9749790" h="1119504">
                <a:moveTo>
                  <a:pt x="9389148" y="711758"/>
                </a:moveTo>
                <a:lnTo>
                  <a:pt x="9136706" y="711758"/>
                </a:lnTo>
                <a:lnTo>
                  <a:pt x="9136706" y="782080"/>
                </a:lnTo>
                <a:lnTo>
                  <a:pt x="9138199" y="839004"/>
                </a:lnTo>
                <a:lnTo>
                  <a:pt x="9142681" y="889043"/>
                </a:lnTo>
                <a:lnTo>
                  <a:pt x="9150148" y="932199"/>
                </a:lnTo>
                <a:lnTo>
                  <a:pt x="9175868" y="999857"/>
                </a:lnTo>
                <a:lnTo>
                  <a:pt x="9226387" y="1053921"/>
                </a:lnTo>
                <a:lnTo>
                  <a:pt x="9261634" y="1076595"/>
                </a:lnTo>
                <a:lnTo>
                  <a:pt x="9302207" y="1095170"/>
                </a:lnTo>
                <a:lnTo>
                  <a:pt x="9346776" y="1108438"/>
                </a:lnTo>
                <a:lnTo>
                  <a:pt x="9395341" y="1116400"/>
                </a:lnTo>
                <a:lnTo>
                  <a:pt x="9447900" y="1119054"/>
                </a:lnTo>
                <a:lnTo>
                  <a:pt x="9496078" y="1116753"/>
                </a:lnTo>
                <a:lnTo>
                  <a:pt x="9541189" y="1109851"/>
                </a:lnTo>
                <a:lnTo>
                  <a:pt x="9583236" y="1098346"/>
                </a:lnTo>
                <a:lnTo>
                  <a:pt x="9622220" y="1082239"/>
                </a:lnTo>
                <a:lnTo>
                  <a:pt x="9656618" y="1062733"/>
                </a:lnTo>
                <a:lnTo>
                  <a:pt x="9707137" y="1017129"/>
                </a:lnTo>
                <a:lnTo>
                  <a:pt x="9734693" y="960064"/>
                </a:lnTo>
                <a:lnTo>
                  <a:pt x="9739523" y="937301"/>
                </a:lnTo>
                <a:lnTo>
                  <a:pt x="9437566" y="937301"/>
                </a:lnTo>
                <a:lnTo>
                  <a:pt x="9425040" y="936223"/>
                </a:lnTo>
                <a:lnTo>
                  <a:pt x="9395138" y="908737"/>
                </a:lnTo>
                <a:lnTo>
                  <a:pt x="9389814" y="869931"/>
                </a:lnTo>
                <a:lnTo>
                  <a:pt x="9389148" y="842445"/>
                </a:lnTo>
                <a:lnTo>
                  <a:pt x="9389148" y="711758"/>
                </a:lnTo>
                <a:close/>
              </a:path>
              <a:path w="9749790" h="1119504">
                <a:moveTo>
                  <a:pt x="9423367" y="0"/>
                </a:moveTo>
                <a:lnTo>
                  <a:pt x="9376719" y="2010"/>
                </a:lnTo>
                <a:lnTo>
                  <a:pt x="9333622" y="8042"/>
                </a:lnTo>
                <a:lnTo>
                  <a:pt x="9294077" y="18098"/>
                </a:lnTo>
                <a:lnTo>
                  <a:pt x="9258084" y="32177"/>
                </a:lnTo>
                <a:lnTo>
                  <a:pt x="9199092" y="70567"/>
                </a:lnTo>
                <a:lnTo>
                  <a:pt x="9158988" y="121388"/>
                </a:lnTo>
                <a:lnTo>
                  <a:pt x="9135984" y="195024"/>
                </a:lnTo>
                <a:lnTo>
                  <a:pt x="9130235" y="244276"/>
                </a:lnTo>
                <a:lnTo>
                  <a:pt x="9128318" y="301823"/>
                </a:lnTo>
                <a:lnTo>
                  <a:pt x="9129669" y="342700"/>
                </a:lnTo>
                <a:lnTo>
                  <a:pt x="9140480" y="413013"/>
                </a:lnTo>
                <a:lnTo>
                  <a:pt x="9161461" y="468486"/>
                </a:lnTo>
                <a:lnTo>
                  <a:pt x="9188743" y="511604"/>
                </a:lnTo>
                <a:lnTo>
                  <a:pt x="9225243" y="546637"/>
                </a:lnTo>
                <a:lnTo>
                  <a:pt x="9292387" y="596720"/>
                </a:lnTo>
                <a:lnTo>
                  <a:pt x="9384750" y="660564"/>
                </a:lnTo>
                <a:lnTo>
                  <a:pt x="9421266" y="687387"/>
                </a:lnTo>
                <a:lnTo>
                  <a:pt x="9465973" y="726354"/>
                </a:lnTo>
                <a:lnTo>
                  <a:pt x="9484863" y="771966"/>
                </a:lnTo>
                <a:lnTo>
                  <a:pt x="9491156" y="850403"/>
                </a:lnTo>
                <a:lnTo>
                  <a:pt x="9490327" y="870637"/>
                </a:lnTo>
                <a:lnTo>
                  <a:pt x="9477920" y="915406"/>
                </a:lnTo>
                <a:lnTo>
                  <a:pt x="9437566" y="937301"/>
                </a:lnTo>
                <a:lnTo>
                  <a:pt x="9739523" y="937301"/>
                </a:lnTo>
                <a:lnTo>
                  <a:pt x="9742864" y="921551"/>
                </a:lnTo>
                <a:lnTo>
                  <a:pt x="9747765" y="875490"/>
                </a:lnTo>
                <a:lnTo>
                  <a:pt x="9749399" y="821880"/>
                </a:lnTo>
                <a:lnTo>
                  <a:pt x="9747513" y="762209"/>
                </a:lnTo>
                <a:lnTo>
                  <a:pt x="9741856" y="709487"/>
                </a:lnTo>
                <a:lnTo>
                  <a:pt x="9732429" y="663716"/>
                </a:lnTo>
                <a:lnTo>
                  <a:pt x="9719233" y="624896"/>
                </a:lnTo>
                <a:lnTo>
                  <a:pt x="9682827" y="568267"/>
                </a:lnTo>
                <a:lnTo>
                  <a:pt x="9621552" y="512125"/>
                </a:lnTo>
                <a:lnTo>
                  <a:pt x="9579719" y="480746"/>
                </a:lnTo>
                <a:lnTo>
                  <a:pt x="9530421" y="447160"/>
                </a:lnTo>
                <a:lnTo>
                  <a:pt x="9473659" y="411369"/>
                </a:lnTo>
                <a:lnTo>
                  <a:pt x="9445121" y="392853"/>
                </a:lnTo>
                <a:lnTo>
                  <a:pt x="9406711" y="360027"/>
                </a:lnTo>
                <a:lnTo>
                  <a:pt x="9386224" y="311862"/>
                </a:lnTo>
                <a:lnTo>
                  <a:pt x="9382688" y="264735"/>
                </a:lnTo>
                <a:lnTo>
                  <a:pt x="9383475" y="245152"/>
                </a:lnTo>
                <a:lnTo>
                  <a:pt x="9395284" y="202339"/>
                </a:lnTo>
                <a:lnTo>
                  <a:pt x="9432403" y="181753"/>
                </a:lnTo>
                <a:lnTo>
                  <a:pt x="9718147" y="181753"/>
                </a:lnTo>
                <a:lnTo>
                  <a:pt x="9713188" y="155078"/>
                </a:lnTo>
                <a:lnTo>
                  <a:pt x="9687343" y="98159"/>
                </a:lnTo>
                <a:lnTo>
                  <a:pt x="9637951" y="53883"/>
                </a:lnTo>
                <a:lnTo>
                  <a:pt x="9603812" y="35161"/>
                </a:lnTo>
                <a:lnTo>
                  <a:pt x="9564574" y="19781"/>
                </a:lnTo>
                <a:lnTo>
                  <a:pt x="9521419" y="8792"/>
                </a:lnTo>
                <a:lnTo>
                  <a:pt x="9474349" y="2198"/>
                </a:lnTo>
                <a:lnTo>
                  <a:pt x="9423367" y="0"/>
                </a:lnTo>
                <a:close/>
              </a:path>
              <a:path w="9749790" h="1119504">
                <a:moveTo>
                  <a:pt x="9718147" y="181753"/>
                </a:moveTo>
                <a:lnTo>
                  <a:pt x="9432403" y="181753"/>
                </a:lnTo>
                <a:lnTo>
                  <a:pt x="9442893" y="182707"/>
                </a:lnTo>
                <a:lnTo>
                  <a:pt x="9451772" y="185568"/>
                </a:lnTo>
                <a:lnTo>
                  <a:pt x="9471951" y="222385"/>
                </a:lnTo>
                <a:lnTo>
                  <a:pt x="9474293" y="264735"/>
                </a:lnTo>
                <a:lnTo>
                  <a:pt x="9474371" y="347591"/>
                </a:lnTo>
                <a:lnTo>
                  <a:pt x="9726803" y="347591"/>
                </a:lnTo>
                <a:lnTo>
                  <a:pt x="9726719" y="301823"/>
                </a:lnTo>
                <a:lnTo>
                  <a:pt x="9725291" y="245789"/>
                </a:lnTo>
                <a:lnTo>
                  <a:pt x="9720753" y="195771"/>
                </a:lnTo>
                <a:lnTo>
                  <a:pt x="9718147" y="181753"/>
                </a:lnTo>
                <a:close/>
              </a:path>
            </a:pathLst>
          </a:custGeom>
          <a:solidFill>
            <a:srgbClr val="000C3D"/>
          </a:solidFill>
        </p:spPr>
        <p:txBody>
          <a:bodyPr wrap="square" lIns="0" tIns="0" rIns="0" bIns="0" rtlCol="0"/>
          <a:lstStyle/>
          <a:p>
            <a:endParaRPr sz="1092"/>
          </a:p>
        </p:txBody>
      </p:sp>
      <p:sp>
        <p:nvSpPr>
          <p:cNvPr id="5" name="object 5"/>
          <p:cNvSpPr txBox="1">
            <a:spLocks noGrp="1"/>
          </p:cNvSpPr>
          <p:nvPr>
            <p:ph type="title"/>
          </p:nvPr>
        </p:nvSpPr>
        <p:spPr>
          <a:xfrm>
            <a:off x="2844294" y="4005767"/>
            <a:ext cx="6594643" cy="1501287"/>
          </a:xfrm>
          <a:prstGeom prst="rect">
            <a:avLst/>
          </a:prstGeom>
        </p:spPr>
        <p:txBody>
          <a:bodyPr vert="horz" wrap="square" lIns="0" tIns="10012" rIns="0" bIns="0" rtlCol="0" anchor="t">
            <a:spAutoFit/>
          </a:bodyPr>
          <a:lstStyle/>
          <a:p>
            <a:pPr algn="ctr">
              <a:spcBef>
                <a:spcPts val="1000"/>
              </a:spcBef>
            </a:pPr>
            <a:r>
              <a:rPr lang="en-US" sz="1900" spc="3" dirty="0">
                <a:solidFill>
                  <a:srgbClr val="000000"/>
                </a:solidFill>
                <a:ea typeface="+mj-lt"/>
                <a:cs typeface="+mj-lt"/>
              </a:rPr>
              <a:t>Supporting Equity-Informed Decision-Making at the Local Level</a:t>
            </a:r>
          </a:p>
          <a:p>
            <a:pPr algn="ctr">
              <a:spcBef>
                <a:spcPts val="1000"/>
              </a:spcBef>
            </a:pPr>
            <a:r>
              <a:rPr lang="en-US" sz="1400" b="1" spc="3" dirty="0">
                <a:solidFill>
                  <a:srgbClr val="2C3E50"/>
                </a:solidFill>
                <a:ea typeface="+mj-lt"/>
                <a:cs typeface="+mj-lt"/>
              </a:rPr>
              <a:t>DATA - APPLICATIONS - TOOLS - METHODS</a:t>
            </a:r>
            <a:endParaRPr lang="en-US" sz="1400" spc="3" dirty="0">
              <a:solidFill>
                <a:srgbClr val="2C3E50"/>
              </a:solidFill>
              <a:ea typeface="+mj-lt"/>
              <a:cs typeface="+mj-lt"/>
            </a:endParaRPr>
          </a:p>
          <a:p>
            <a:pPr algn="ctr">
              <a:spcBef>
                <a:spcPts val="1000"/>
              </a:spcBef>
            </a:pPr>
            <a:r>
              <a:rPr lang="en-US" sz="1100" spc="3" dirty="0">
                <a:solidFill>
                  <a:srgbClr val="000000"/>
                </a:solidFill>
                <a:ea typeface="+mj-lt"/>
                <a:cs typeface="+mj-lt"/>
              </a:rPr>
              <a:t>Dr. Aaron D. Schroeder</a:t>
            </a:r>
            <a:br>
              <a:rPr lang="en-US" sz="1100" spc="3" dirty="0">
                <a:solidFill>
                  <a:srgbClr val="000000"/>
                </a:solidFill>
                <a:ea typeface="+mj-lt"/>
                <a:cs typeface="+mj-lt"/>
              </a:rPr>
            </a:br>
            <a:r>
              <a:rPr lang="en-US" sz="1100" spc="3" dirty="0">
                <a:solidFill>
                  <a:srgbClr val="000000"/>
                </a:solidFill>
                <a:ea typeface="+mj-lt"/>
                <a:cs typeface="+mj-lt"/>
              </a:rPr>
              <a:t>Social &amp; Decision Analytics Division</a:t>
            </a:r>
            <a:br>
              <a:rPr lang="en-US" sz="1100" spc="3" dirty="0">
                <a:solidFill>
                  <a:srgbClr val="000000"/>
                </a:solidFill>
                <a:ea typeface="+mj-lt"/>
                <a:cs typeface="+mj-lt"/>
              </a:rPr>
            </a:br>
            <a:r>
              <a:rPr lang="en-US" sz="1100" spc="3" dirty="0">
                <a:solidFill>
                  <a:srgbClr val="000000"/>
                </a:solidFill>
                <a:ea typeface="+mj-lt"/>
                <a:cs typeface="+mj-lt"/>
              </a:rPr>
              <a:t>Biocomplexity Institute, University of Virginia</a:t>
            </a:r>
          </a:p>
          <a:p>
            <a:pPr marL="7620">
              <a:lnSpc>
                <a:spcPct val="100000"/>
              </a:lnSpc>
              <a:spcBef>
                <a:spcPts val="79"/>
              </a:spcBef>
            </a:pPr>
            <a:endParaRPr lang="en-US" sz="2000" i="1" spc="3" dirty="0">
              <a:solidFill>
                <a:srgbClr val="000C3D"/>
              </a:solidFill>
              <a:latin typeface="Avenir"/>
            </a:endParaRPr>
          </a:p>
        </p:txBody>
      </p:sp>
      <p:sp>
        <p:nvSpPr>
          <p:cNvPr id="6" name="object 6"/>
          <p:cNvSpPr/>
          <p:nvPr/>
        </p:nvSpPr>
        <p:spPr>
          <a:xfrm>
            <a:off x="6038855" y="5603212"/>
            <a:ext cx="114291" cy="107415"/>
          </a:xfrm>
          <a:prstGeom prst="rect">
            <a:avLst/>
          </a:prstGeom>
          <a:blipFill>
            <a:blip r:embed="rId2" cstate="print"/>
            <a:stretch>
              <a:fillRect/>
            </a:stretch>
          </a:blipFill>
        </p:spPr>
        <p:txBody>
          <a:bodyPr wrap="square" lIns="0" tIns="0" rIns="0" bIns="0" rtlCol="0"/>
          <a:lstStyle/>
          <a:p>
            <a:endParaRPr sz="1092"/>
          </a:p>
        </p:txBody>
      </p:sp>
      <p:sp>
        <p:nvSpPr>
          <p:cNvPr id="7" name="object 7"/>
          <p:cNvSpPr/>
          <p:nvPr/>
        </p:nvSpPr>
        <p:spPr>
          <a:xfrm>
            <a:off x="2260869" y="5244732"/>
            <a:ext cx="2997343" cy="889114"/>
          </a:xfrm>
          <a:custGeom>
            <a:avLst/>
            <a:gdLst/>
            <a:ahLst/>
            <a:cxnLst/>
            <a:rect l="l" t="t" r="r" b="b"/>
            <a:pathLst>
              <a:path w="4942840" h="1466215">
                <a:moveTo>
                  <a:pt x="0" y="1465923"/>
                </a:moveTo>
                <a:lnTo>
                  <a:pt x="4942257" y="1465923"/>
                </a:lnTo>
                <a:lnTo>
                  <a:pt x="4942257" y="0"/>
                </a:lnTo>
                <a:lnTo>
                  <a:pt x="0" y="0"/>
                </a:lnTo>
                <a:lnTo>
                  <a:pt x="0" y="1465923"/>
                </a:lnTo>
                <a:close/>
              </a:path>
            </a:pathLst>
          </a:custGeom>
          <a:solidFill>
            <a:srgbClr val="FFFFFF"/>
          </a:solidFill>
        </p:spPr>
        <p:txBody>
          <a:bodyPr wrap="square" lIns="0" tIns="0" rIns="0" bIns="0" rtlCol="0"/>
          <a:lstStyle/>
          <a:p>
            <a:endParaRPr sz="1092"/>
          </a:p>
        </p:txBody>
      </p:sp>
      <p:sp>
        <p:nvSpPr>
          <p:cNvPr id="8" name="object 8"/>
          <p:cNvSpPr/>
          <p:nvPr/>
        </p:nvSpPr>
        <p:spPr>
          <a:xfrm>
            <a:off x="2387860" y="5342851"/>
            <a:ext cx="2743007" cy="689888"/>
          </a:xfrm>
          <a:prstGeom prst="rect">
            <a:avLst/>
          </a:prstGeom>
          <a:blipFill>
            <a:blip r:embed="rId3" cstate="print"/>
            <a:stretch>
              <a:fillRect/>
            </a:stretch>
          </a:blipFill>
        </p:spPr>
        <p:txBody>
          <a:bodyPr wrap="square" lIns="0" tIns="0" rIns="0" bIns="0" rtlCol="0"/>
          <a:lstStyle/>
          <a:p>
            <a:endParaRPr sz="1092"/>
          </a:p>
        </p:txBody>
      </p:sp>
      <p:sp>
        <p:nvSpPr>
          <p:cNvPr id="9" name="object 9"/>
          <p:cNvSpPr/>
          <p:nvPr/>
        </p:nvSpPr>
        <p:spPr>
          <a:xfrm>
            <a:off x="6934141" y="5244732"/>
            <a:ext cx="2781104" cy="888937"/>
          </a:xfrm>
          <a:prstGeom prst="rect">
            <a:avLst/>
          </a:prstGeom>
          <a:blipFill>
            <a:blip r:embed="rId4" cstate="print"/>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2296908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4357" y="152400"/>
            <a:ext cx="8666480" cy="508473"/>
          </a:xfrm>
          <a:prstGeom prst="rect">
            <a:avLst/>
          </a:prstGeom>
        </p:spPr>
        <p:txBody>
          <a:bodyPr vert="horz" wrap="square" lIns="0" tIns="15875" rIns="0" bIns="0" rtlCol="0">
            <a:spAutoFit/>
          </a:bodyPr>
          <a:lstStyle/>
          <a:p>
            <a:pPr marL="12700">
              <a:lnSpc>
                <a:spcPct val="100000"/>
              </a:lnSpc>
              <a:spcBef>
                <a:spcPts val="125"/>
              </a:spcBef>
              <a:tabLst>
                <a:tab pos="6316980" algn="l"/>
              </a:tabLst>
            </a:pPr>
            <a:r>
              <a:rPr sz="3200" spc="50" dirty="0"/>
              <a:t>Social</a:t>
            </a:r>
            <a:r>
              <a:rPr sz="3200" spc="330" dirty="0"/>
              <a:t> </a:t>
            </a:r>
            <a:r>
              <a:rPr sz="3200" spc="50" dirty="0"/>
              <a:t>Impact</a:t>
            </a:r>
            <a:r>
              <a:rPr sz="3200" spc="325" dirty="0"/>
              <a:t> </a:t>
            </a:r>
            <a:r>
              <a:rPr sz="3200" spc="70" dirty="0"/>
              <a:t>Data</a:t>
            </a:r>
            <a:r>
              <a:rPr sz="3200" spc="110" dirty="0"/>
              <a:t> </a:t>
            </a:r>
            <a:r>
              <a:rPr sz="3200" spc="60" dirty="0"/>
              <a:t>Commons</a:t>
            </a:r>
            <a:endParaRPr sz="3200" dirty="0"/>
          </a:p>
        </p:txBody>
      </p:sp>
      <p:sp>
        <p:nvSpPr>
          <p:cNvPr id="3" name="object 3"/>
          <p:cNvSpPr txBox="1"/>
          <p:nvPr/>
        </p:nvSpPr>
        <p:spPr>
          <a:xfrm>
            <a:off x="736600" y="1020571"/>
            <a:ext cx="10749915" cy="4677563"/>
          </a:xfrm>
          <a:prstGeom prst="rect">
            <a:avLst/>
          </a:prstGeom>
        </p:spPr>
        <p:txBody>
          <a:bodyPr vert="horz" wrap="square" lIns="0" tIns="83185" rIns="0" bIns="0" rtlCol="0" anchor="t">
            <a:spAutoFit/>
          </a:bodyPr>
          <a:lstStyle/>
          <a:p>
            <a:pPr>
              <a:lnSpc>
                <a:spcPct val="150000"/>
              </a:lnSpc>
            </a:pPr>
            <a:r>
              <a:rPr lang="en-US" sz="2800" b="1" u="sng" dirty="0">
                <a:latin typeface="Arial" panose="020B0604020202020204" pitchFamily="34" charset="0"/>
                <a:cs typeface="Arial" panose="020B0604020202020204" pitchFamily="34" charset="0"/>
              </a:rPr>
              <a:t>OBJECTIVE</a:t>
            </a:r>
          </a:p>
          <a:p>
            <a:pPr>
              <a:spcBef>
                <a:spcPts val="300"/>
              </a:spcBef>
              <a:spcAft>
                <a:spcPts val="600"/>
              </a:spcAft>
            </a:pPr>
            <a:r>
              <a:rPr lang="en-US" sz="2800" dirty="0">
                <a:latin typeface="Arial"/>
                <a:cs typeface="Arial"/>
              </a:rPr>
              <a:t>To make impactful equity-informed decisions at the local and regional level, decision-makers require data and indicators that</a:t>
            </a:r>
          </a:p>
          <a:p>
            <a:pPr marL="274320">
              <a:spcBef>
                <a:spcPts val="300"/>
              </a:spcBef>
              <a:spcAft>
                <a:spcPts val="600"/>
              </a:spcAft>
              <a:buFont typeface="Arial" panose="020B0604020202020204" pitchFamily="34" charset="0"/>
              <a:buChar char="•"/>
            </a:pPr>
            <a:r>
              <a:rPr lang="en-US" sz="2800" dirty="0">
                <a:latin typeface="Arial"/>
                <a:cs typeface="Arial"/>
              </a:rPr>
              <a:t>Triangulate on their policy challenges and questions</a:t>
            </a:r>
            <a:endParaRPr lang="en-US" sz="2800" dirty="0">
              <a:latin typeface="Arial" panose="020B0604020202020204" pitchFamily="34" charset="0"/>
              <a:cs typeface="Arial" panose="020B0604020202020204" pitchFamily="34" charset="0"/>
            </a:endParaRPr>
          </a:p>
          <a:p>
            <a:pPr marL="274320">
              <a:spcBef>
                <a:spcPts val="300"/>
              </a:spcBef>
              <a:spcAft>
                <a:spcPts val="600"/>
              </a:spcAft>
              <a:buFont typeface="Arial" panose="020B0604020202020204" pitchFamily="34" charset="0"/>
              <a:buChar char="•"/>
            </a:pPr>
            <a:r>
              <a:rPr lang="en-US" sz="2800" dirty="0">
                <a:latin typeface="Arial"/>
                <a:cs typeface="Arial"/>
              </a:rPr>
              <a:t>Are at a geographic level that informs their decision making </a:t>
            </a:r>
            <a:endParaRPr lang="en-US" dirty="0">
              <a:latin typeface="Calibri"/>
              <a:cs typeface="Calibri"/>
            </a:endParaRPr>
          </a:p>
          <a:p>
            <a:pPr marL="274320">
              <a:spcBef>
                <a:spcPts val="300"/>
              </a:spcBef>
              <a:spcAft>
                <a:spcPts val="600"/>
              </a:spcAft>
              <a:buFont typeface="Arial" panose="020B0604020202020204" pitchFamily="34" charset="0"/>
              <a:buChar char="•"/>
            </a:pPr>
            <a:r>
              <a:rPr lang="en-US" sz="2800" dirty="0">
                <a:latin typeface="Arial"/>
                <a:cs typeface="Arial"/>
              </a:rPr>
              <a:t>In a geographic shape that is helpful (e.g., a metropolitan planning corridor, by school boundaries (e.g., elementary schools), and other sub-areas of interest </a:t>
            </a:r>
            <a:endParaRPr lang="en-US" dirty="0">
              <a:latin typeface="Arial"/>
              <a:cs typeface="Arial"/>
            </a:endParaRPr>
          </a:p>
          <a:p>
            <a:pPr marL="274320">
              <a:spcBef>
                <a:spcPts val="300"/>
              </a:spcBef>
              <a:spcAft>
                <a:spcPts val="600"/>
              </a:spcAft>
              <a:buFont typeface="Arial" panose="020B0604020202020204" pitchFamily="34" charset="0"/>
              <a:buChar char="•"/>
            </a:pPr>
            <a:r>
              <a:rPr lang="en-US" sz="2800" dirty="0">
                <a:latin typeface="Arial"/>
                <a:cs typeface="Arial"/>
              </a:rPr>
              <a:t>Validated and timely</a:t>
            </a:r>
            <a:endParaRPr lang="en-US" dirty="0">
              <a:latin typeface="Arial"/>
              <a:cs typeface="Arial"/>
            </a:endParaRPr>
          </a:p>
        </p:txBody>
      </p:sp>
    </p:spTree>
    <p:extLst>
      <p:ext uri="{BB962C8B-B14F-4D97-AF65-F5344CB8AC3E}">
        <p14:creationId xmlns:p14="http://schemas.microsoft.com/office/powerpoint/2010/main" val="1463617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4357" y="152400"/>
            <a:ext cx="8666480" cy="508473"/>
          </a:xfrm>
          <a:prstGeom prst="rect">
            <a:avLst/>
          </a:prstGeom>
        </p:spPr>
        <p:txBody>
          <a:bodyPr vert="horz" wrap="square" lIns="0" tIns="15875" rIns="0" bIns="0" rtlCol="0" anchor="t">
            <a:spAutoFit/>
          </a:bodyPr>
          <a:lstStyle/>
          <a:p>
            <a:pPr marL="12700">
              <a:spcBef>
                <a:spcPts val="125"/>
              </a:spcBef>
              <a:tabLst>
                <a:tab pos="6316980" algn="l"/>
              </a:tabLst>
            </a:pPr>
            <a:r>
              <a:rPr sz="3200" spc="50" dirty="0"/>
              <a:t>Social</a:t>
            </a:r>
            <a:r>
              <a:rPr sz="3200" spc="330" dirty="0"/>
              <a:t> </a:t>
            </a:r>
            <a:r>
              <a:rPr sz="3200" spc="50" dirty="0"/>
              <a:t>Impact</a:t>
            </a:r>
            <a:r>
              <a:rPr sz="3200" spc="325" dirty="0"/>
              <a:t> </a:t>
            </a:r>
            <a:r>
              <a:rPr sz="3200" spc="70" dirty="0"/>
              <a:t>Data</a:t>
            </a:r>
            <a:r>
              <a:rPr sz="3200" spc="110" dirty="0"/>
              <a:t> </a:t>
            </a:r>
            <a:r>
              <a:rPr sz="3200" spc="60" dirty="0"/>
              <a:t>Commons</a:t>
            </a:r>
            <a:r>
              <a:rPr lang="en-US" sz="3200" spc="60" dirty="0"/>
              <a:t> </a:t>
            </a:r>
            <a:endParaRPr sz="3200" dirty="0"/>
          </a:p>
        </p:txBody>
      </p:sp>
      <p:sp>
        <p:nvSpPr>
          <p:cNvPr id="3" name="object 3"/>
          <p:cNvSpPr txBox="1"/>
          <p:nvPr/>
        </p:nvSpPr>
        <p:spPr>
          <a:xfrm>
            <a:off x="736600" y="1020571"/>
            <a:ext cx="10998200" cy="5254644"/>
          </a:xfrm>
          <a:prstGeom prst="rect">
            <a:avLst/>
          </a:prstGeom>
        </p:spPr>
        <p:txBody>
          <a:bodyPr vert="horz" wrap="square" lIns="0" tIns="83185" rIns="0" bIns="0" rtlCol="0" anchor="t">
            <a:spAutoFit/>
          </a:bodyPr>
          <a:lstStyle/>
          <a:p>
            <a:r>
              <a:rPr lang="en-US" sz="2800" b="1" dirty="0">
                <a:latin typeface="Arial"/>
                <a:cs typeface="Arial"/>
              </a:rPr>
              <a:t>Final Dataset Requirements</a:t>
            </a:r>
          </a:p>
          <a:p>
            <a:r>
              <a:rPr lang="en-US" sz="2800" dirty="0">
                <a:latin typeface="Arial"/>
                <a:cs typeface="Arial"/>
              </a:rPr>
              <a:t>Once appropriate datasets are discovered, vetted, created, synthesized and validated, they must be easily:</a:t>
            </a:r>
            <a:endParaRPr lang="en-US" dirty="0">
              <a:latin typeface="Arial"/>
              <a:cs typeface="Arial"/>
            </a:endParaRPr>
          </a:p>
          <a:p>
            <a:pPr marL="457200" lvl="4" indent="-285750">
              <a:buFont typeface="Arial" panose="020B0604020202020204" pitchFamily="34" charset="0"/>
              <a:buChar char="•"/>
            </a:pPr>
            <a:r>
              <a:rPr lang="en-US" sz="2800" b="1" dirty="0">
                <a:latin typeface="Arial" panose="020B0604020202020204" pitchFamily="34" charset="0"/>
                <a:cs typeface="Arial" panose="020B0604020202020204" pitchFamily="34" charset="0"/>
              </a:rPr>
              <a:t>Assessable – are these the right data for the policy question?</a:t>
            </a:r>
          </a:p>
          <a:p>
            <a:pPr marL="914400" lvl="7" indent="-285750">
              <a:buFont typeface="Arial" panose="020B0604020202020204" pitchFamily="34" charset="0"/>
              <a:buChar char="•"/>
            </a:pPr>
            <a:r>
              <a:rPr lang="en-US" sz="2800" dirty="0">
                <a:latin typeface="Arial"/>
                <a:cs typeface="Arial"/>
              </a:rPr>
              <a:t>Can we view data maps, tables, charts, and metadata to assess the data?</a:t>
            </a:r>
          </a:p>
          <a:p>
            <a:pPr marL="457200" lvl="4" indent="-285750">
              <a:buFont typeface="Arial" panose="020B0604020202020204" pitchFamily="34" charset="0"/>
              <a:buChar char="•"/>
            </a:pPr>
            <a:r>
              <a:rPr lang="en-US" sz="2800" b="1" dirty="0">
                <a:latin typeface="Arial" panose="020B0604020202020204" pitchFamily="34" charset="0"/>
                <a:cs typeface="Arial" panose="020B0604020202020204" pitchFamily="34" charset="0"/>
              </a:rPr>
              <a:t>Accessible - are the data downloadable?</a:t>
            </a:r>
          </a:p>
          <a:p>
            <a:pPr marL="914400" lvl="5" indent="-285750">
              <a:buFont typeface="Arial" panose="020B0604020202020204" pitchFamily="34" charset="0"/>
              <a:buChar char="•"/>
            </a:pPr>
            <a:r>
              <a:rPr lang="en-US" sz="2800" dirty="0">
                <a:latin typeface="Arial" panose="020B0604020202020204" pitchFamily="34" charset="0"/>
                <a:cs typeface="Arial" panose="020B0604020202020204" pitchFamily="34" charset="0"/>
              </a:rPr>
              <a:t>Can we obtain the data through direct website download, programmatic API access?</a:t>
            </a:r>
          </a:p>
          <a:p>
            <a:pPr marL="457200" lvl="4" indent="-285750">
              <a:buFont typeface="Arial" panose="020B0604020202020204" pitchFamily="34" charset="0"/>
              <a:buChar char="•"/>
            </a:pPr>
            <a:r>
              <a:rPr lang="en-US" sz="2800" b="1" dirty="0">
                <a:latin typeface="Arial" panose="020B0604020202020204" pitchFamily="34" charset="0"/>
                <a:cs typeface="Arial" panose="020B0604020202020204" pitchFamily="34" charset="0"/>
              </a:rPr>
              <a:t>Analyzable – are the data easily integrated into user analytic systems?</a:t>
            </a:r>
          </a:p>
          <a:p>
            <a:pPr marL="914400" lvl="5" indent="-285750">
              <a:buFont typeface="Arial" panose="020B0604020202020204" pitchFamily="34" charset="0"/>
              <a:buChar char="•"/>
            </a:pPr>
            <a:r>
              <a:rPr lang="en-US" sz="2800" dirty="0">
                <a:latin typeface="Arial" panose="020B0604020202020204" pitchFamily="34" charset="0"/>
                <a:cs typeface="Arial" panose="020B0604020202020204" pitchFamily="34" charset="0"/>
              </a:rPr>
              <a:t>Can we standardize the dataset and geographic file formats?</a:t>
            </a:r>
          </a:p>
        </p:txBody>
      </p:sp>
    </p:spTree>
    <p:extLst>
      <p:ext uri="{BB962C8B-B14F-4D97-AF65-F5344CB8AC3E}">
        <p14:creationId xmlns:p14="http://schemas.microsoft.com/office/powerpoint/2010/main" val="3250227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66B7D-9C36-488F-4F39-D7540151E4B4}"/>
              </a:ext>
            </a:extLst>
          </p:cNvPr>
          <p:cNvSpPr>
            <a:spLocks noGrp="1"/>
          </p:cNvSpPr>
          <p:nvPr>
            <p:ph type="title"/>
          </p:nvPr>
        </p:nvSpPr>
        <p:spPr>
          <a:xfrm>
            <a:off x="1132936" y="365125"/>
            <a:ext cx="4299035" cy="1325563"/>
          </a:xfrm>
        </p:spPr>
        <p:txBody>
          <a:bodyPr/>
          <a:lstStyle/>
          <a:p>
            <a:pPr lvl="0"/>
            <a:r>
              <a:rPr lang="en-US"/>
              <a:t>The Solution</a:t>
            </a:r>
          </a:p>
        </p:txBody>
      </p:sp>
      <p:pic>
        <p:nvPicPr>
          <p:cNvPr id="5" name="Content Placeholder 4">
            <a:extLst>
              <a:ext uri="{FF2B5EF4-FFF2-40B4-BE49-F238E27FC236}">
                <a16:creationId xmlns:a16="http://schemas.microsoft.com/office/drawing/2014/main" id="{9FC16CB3-B278-6D37-1A7B-F7EE0D63623A}"/>
              </a:ext>
            </a:extLst>
          </p:cNvPr>
          <p:cNvPicPr>
            <a:picLocks noGrp="1" noChangeAspect="1"/>
          </p:cNvPicPr>
          <p:nvPr>
            <p:ph idx="1"/>
          </p:nvPr>
        </p:nvPicPr>
        <p:blipFill>
          <a:blip r:embed="rId2"/>
          <a:stretch>
            <a:fillRect/>
          </a:stretch>
        </p:blipFill>
        <p:spPr>
          <a:xfrm>
            <a:off x="5671457" y="443122"/>
            <a:ext cx="5208242" cy="5971755"/>
          </a:xfrm>
          <a:prstGeom prst="rect">
            <a:avLst/>
          </a:prstGeom>
          <a:ln>
            <a:solidFill>
              <a:srgbClr val="002060"/>
            </a:solid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ABDAFC7B-6EF1-439B-022C-D98B8CD0021E}"/>
              </a:ext>
            </a:extLst>
          </p:cNvPr>
          <p:cNvSpPr txBox="1"/>
          <p:nvPr/>
        </p:nvSpPr>
        <p:spPr>
          <a:xfrm>
            <a:off x="586569" y="1500720"/>
            <a:ext cx="4299035" cy="1708160"/>
          </a:xfrm>
          <a:prstGeom prst="rect">
            <a:avLst/>
          </a:prstGeom>
          <a:noFill/>
        </p:spPr>
        <p:txBody>
          <a:bodyPr wrap="square">
            <a:spAutoFit/>
          </a:bodyPr>
          <a:lstStyle/>
          <a:p>
            <a:pPr marL="457200" indent="-457200">
              <a:spcAft>
                <a:spcPts val="600"/>
              </a:spcAft>
              <a:buFont typeface="Arial" panose="020B0604020202020204" pitchFamily="34" charset="0"/>
              <a:buChar char="•"/>
            </a:pPr>
            <a:r>
              <a:rPr lang="en-US" sz="2000"/>
              <a:t>A System of Open-Source Resources for Local Decision-Making (The Data Commons)</a:t>
            </a:r>
          </a:p>
          <a:p>
            <a:pPr marL="457200" indent="-457200">
              <a:spcAft>
                <a:spcPts val="600"/>
              </a:spcAft>
              <a:buFont typeface="Arial" panose="020B0604020202020204" pitchFamily="34" charset="0"/>
              <a:buChar char="•"/>
            </a:pPr>
            <a:r>
              <a:rPr lang="en-US" sz="2000"/>
              <a:t>A Process for Cooperative Iteration with Local Stakeholders (CLD3)</a:t>
            </a:r>
          </a:p>
        </p:txBody>
      </p:sp>
      <p:pic>
        <p:nvPicPr>
          <p:cNvPr id="6" name="Picture 5">
            <a:extLst>
              <a:ext uri="{FF2B5EF4-FFF2-40B4-BE49-F238E27FC236}">
                <a16:creationId xmlns:a16="http://schemas.microsoft.com/office/drawing/2014/main" id="{E07A147D-BB17-CC42-84DE-3ECDE3EB5ED1}"/>
              </a:ext>
            </a:extLst>
          </p:cNvPr>
          <p:cNvPicPr>
            <a:picLocks noChangeAspect="1"/>
          </p:cNvPicPr>
          <p:nvPr/>
        </p:nvPicPr>
        <p:blipFill>
          <a:blip r:embed="rId3"/>
          <a:stretch>
            <a:fillRect/>
          </a:stretch>
        </p:blipFill>
        <p:spPr>
          <a:xfrm>
            <a:off x="1329363" y="3649121"/>
            <a:ext cx="2598851" cy="2443630"/>
          </a:xfrm>
          <a:prstGeom prst="rect">
            <a:avLst/>
          </a:prstGeom>
          <a:ln>
            <a:solidFill>
              <a:srgbClr val="002060"/>
            </a:solidFill>
          </a:ln>
          <a:effectLst>
            <a:outerShdw blurRad="50800" dist="38100" dir="5400000" algn="t" rotWithShape="0">
              <a:prstClr val="black">
                <a:alpha val="40000"/>
              </a:prstClr>
            </a:outerShdw>
          </a:effectLst>
        </p:spPr>
      </p:pic>
      <p:sp>
        <p:nvSpPr>
          <p:cNvPr id="7" name="Text Placeholder 2">
            <a:extLst>
              <a:ext uri="{FF2B5EF4-FFF2-40B4-BE49-F238E27FC236}">
                <a16:creationId xmlns:a16="http://schemas.microsoft.com/office/drawing/2014/main" id="{50756217-1A06-A843-9FB6-8D6D49D10703}"/>
              </a:ext>
            </a:extLst>
          </p:cNvPr>
          <p:cNvSpPr txBox="1">
            <a:spLocks/>
          </p:cNvSpPr>
          <p:nvPr/>
        </p:nvSpPr>
        <p:spPr>
          <a:xfrm>
            <a:off x="1227581" y="6228106"/>
            <a:ext cx="2700633" cy="528971"/>
          </a:xfrm>
          <a:prstGeom prst="rect">
            <a:avLst/>
          </a:prstGeom>
          <a:noFill/>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100"/>
              <a:t>The Community Learning Through Data Driven Discovery (CLD3) Process</a:t>
            </a:r>
          </a:p>
        </p:txBody>
      </p:sp>
      <p:sp>
        <p:nvSpPr>
          <p:cNvPr id="3" name="Right Arrow 2">
            <a:extLst>
              <a:ext uri="{FF2B5EF4-FFF2-40B4-BE49-F238E27FC236}">
                <a16:creationId xmlns:a16="http://schemas.microsoft.com/office/drawing/2014/main" id="{1A498DB8-49DF-DF44-83A6-28B6DF70821E}"/>
              </a:ext>
            </a:extLst>
          </p:cNvPr>
          <p:cNvSpPr/>
          <p:nvPr/>
        </p:nvSpPr>
        <p:spPr>
          <a:xfrm>
            <a:off x="4680857" y="1970314"/>
            <a:ext cx="751114" cy="4789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F48A498D-F42E-6442-AE17-904160588804}"/>
              </a:ext>
            </a:extLst>
          </p:cNvPr>
          <p:cNvSpPr/>
          <p:nvPr/>
        </p:nvSpPr>
        <p:spPr>
          <a:xfrm>
            <a:off x="2394857" y="3208880"/>
            <a:ext cx="587829" cy="3625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214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1F06F7-B835-8A4F-99F6-7D3580D50B7B}"/>
              </a:ext>
            </a:extLst>
          </p:cNvPr>
          <p:cNvSpPr>
            <a:spLocks noGrp="1"/>
          </p:cNvSpPr>
          <p:nvPr>
            <p:ph type="body" sz="quarter" idx="13"/>
          </p:nvPr>
        </p:nvSpPr>
        <p:spPr/>
        <p:txBody>
          <a:bodyPr/>
          <a:lstStyle/>
          <a:p>
            <a:r>
              <a:rPr lang="en-US" dirty="0"/>
              <a:t>EQUITY OF ACCESS TO BROADBAND</a:t>
            </a:r>
          </a:p>
          <a:p>
            <a:endParaRPr lang="en-US" dirty="0"/>
          </a:p>
        </p:txBody>
      </p:sp>
      <p:sp>
        <p:nvSpPr>
          <p:cNvPr id="3" name="Text Placeholder 2">
            <a:extLst>
              <a:ext uri="{FF2B5EF4-FFF2-40B4-BE49-F238E27FC236}">
                <a16:creationId xmlns:a16="http://schemas.microsoft.com/office/drawing/2014/main" id="{94A0F13A-CC2C-004D-BA66-9EC86723BDDB}"/>
              </a:ext>
            </a:extLst>
          </p:cNvPr>
          <p:cNvSpPr>
            <a:spLocks noGrp="1"/>
          </p:cNvSpPr>
          <p:nvPr>
            <p:ph type="body" sz="quarter" idx="14"/>
          </p:nvPr>
        </p:nvSpPr>
        <p:spPr/>
        <p:txBody>
          <a:bodyPr/>
          <a:lstStyle/>
          <a:p>
            <a:r>
              <a:rPr lang="en-US" dirty="0"/>
              <a:t>Multiple Measures to Tell the Story</a:t>
            </a:r>
          </a:p>
          <a:p>
            <a:endParaRPr lang="en-US" dirty="0"/>
          </a:p>
        </p:txBody>
      </p:sp>
      <p:sp>
        <p:nvSpPr>
          <p:cNvPr id="4" name="Text Placeholder 3">
            <a:extLst>
              <a:ext uri="{FF2B5EF4-FFF2-40B4-BE49-F238E27FC236}">
                <a16:creationId xmlns:a16="http://schemas.microsoft.com/office/drawing/2014/main" id="{5F808632-6D8A-F741-8B62-F215A03FA4AE}"/>
              </a:ext>
            </a:extLst>
          </p:cNvPr>
          <p:cNvSpPr>
            <a:spLocks noGrp="1"/>
          </p:cNvSpPr>
          <p:nvPr>
            <p:ph type="body" sz="quarter" idx="15"/>
          </p:nvPr>
        </p:nvSpPr>
        <p:spPr>
          <a:xfrm>
            <a:off x="1347712" y="1588019"/>
            <a:ext cx="3905253" cy="4007148"/>
          </a:xfrm>
        </p:spPr>
        <p:txBody>
          <a:bodyPr/>
          <a:lstStyle/>
          <a:p>
            <a:pPr>
              <a:spcAft>
                <a:spcPts val="600"/>
              </a:spcAft>
            </a:pPr>
            <a:r>
              <a:rPr lang="en-US" dirty="0"/>
              <a:t>Average download speeds (from Ookla) are relatively high across Arlington with the slowest average still above 100Mb (the newer standard for “broadband”)</a:t>
            </a:r>
          </a:p>
          <a:p>
            <a:pPr>
              <a:spcAft>
                <a:spcPts val="600"/>
              </a:spcAft>
            </a:pPr>
            <a:r>
              <a:rPr lang="en-US" dirty="0"/>
              <a:t>Ookla data only recently made available in 600-meter squares that we translated to block groups</a:t>
            </a:r>
          </a:p>
        </p:txBody>
      </p:sp>
      <p:pic>
        <p:nvPicPr>
          <p:cNvPr id="6" name="Picture 5" descr="Graphical user interface&#10;&#10;Description automatically generated">
            <a:extLst>
              <a:ext uri="{FF2B5EF4-FFF2-40B4-BE49-F238E27FC236}">
                <a16:creationId xmlns:a16="http://schemas.microsoft.com/office/drawing/2014/main" id="{46AA6EC4-B8A7-BC4A-938F-C886DED1642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0002" y="945218"/>
            <a:ext cx="4536069" cy="5292751"/>
          </a:xfrm>
          <a:prstGeom prst="rect">
            <a:avLst/>
          </a:prstGeom>
          <a:ln>
            <a:solidFill>
              <a:srgbClr val="000D3D"/>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2976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10;&#10;Description automatically generated">
            <a:extLst>
              <a:ext uri="{FF2B5EF4-FFF2-40B4-BE49-F238E27FC236}">
                <a16:creationId xmlns:a16="http://schemas.microsoft.com/office/drawing/2014/main" id="{AEE237F1-3262-4044-9A39-8F1CAAA77A6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0002" y="945217"/>
            <a:ext cx="4536069" cy="5310913"/>
          </a:xfrm>
          <a:prstGeom prst="rect">
            <a:avLst/>
          </a:prstGeom>
          <a:ln>
            <a:solidFill>
              <a:srgbClr val="000D3D"/>
            </a:solidFill>
          </a:ln>
          <a:effectLst>
            <a:outerShdw blurRad="50800" dist="38100" dir="2700000" algn="tl" rotWithShape="0">
              <a:prstClr val="black">
                <a:alpha val="40000"/>
              </a:prstClr>
            </a:outerShdw>
          </a:effectLst>
        </p:spPr>
      </p:pic>
      <p:sp>
        <p:nvSpPr>
          <p:cNvPr id="2" name="Text Placeholder 1">
            <a:extLst>
              <a:ext uri="{FF2B5EF4-FFF2-40B4-BE49-F238E27FC236}">
                <a16:creationId xmlns:a16="http://schemas.microsoft.com/office/drawing/2014/main" id="{EB1F06F7-B835-8A4F-99F6-7D3580D50B7B}"/>
              </a:ext>
            </a:extLst>
          </p:cNvPr>
          <p:cNvSpPr>
            <a:spLocks noGrp="1"/>
          </p:cNvSpPr>
          <p:nvPr>
            <p:ph type="body" sz="quarter" idx="13"/>
          </p:nvPr>
        </p:nvSpPr>
        <p:spPr/>
        <p:txBody>
          <a:bodyPr>
            <a:normAutofit lnSpcReduction="10000"/>
          </a:bodyPr>
          <a:lstStyle/>
          <a:p>
            <a:r>
              <a:rPr lang="en-US"/>
              <a:t>EQUITY OF ACCESS TO BROADBAND</a:t>
            </a:r>
          </a:p>
        </p:txBody>
      </p:sp>
      <p:sp>
        <p:nvSpPr>
          <p:cNvPr id="3" name="Text Placeholder 2">
            <a:extLst>
              <a:ext uri="{FF2B5EF4-FFF2-40B4-BE49-F238E27FC236}">
                <a16:creationId xmlns:a16="http://schemas.microsoft.com/office/drawing/2014/main" id="{94A0F13A-CC2C-004D-BA66-9EC86723BDDB}"/>
              </a:ext>
            </a:extLst>
          </p:cNvPr>
          <p:cNvSpPr>
            <a:spLocks noGrp="1"/>
          </p:cNvSpPr>
          <p:nvPr>
            <p:ph type="body" sz="quarter" idx="14"/>
          </p:nvPr>
        </p:nvSpPr>
        <p:spPr/>
        <p:txBody>
          <a:bodyPr/>
          <a:lstStyle/>
          <a:p>
            <a:r>
              <a:rPr lang="en-US"/>
              <a:t>Multiple Measures to Tell the Story</a:t>
            </a:r>
          </a:p>
        </p:txBody>
      </p:sp>
      <p:sp>
        <p:nvSpPr>
          <p:cNvPr id="4" name="Text Placeholder 3">
            <a:extLst>
              <a:ext uri="{FF2B5EF4-FFF2-40B4-BE49-F238E27FC236}">
                <a16:creationId xmlns:a16="http://schemas.microsoft.com/office/drawing/2014/main" id="{5F808632-6D8A-F741-8B62-F215A03FA4AE}"/>
              </a:ext>
            </a:extLst>
          </p:cNvPr>
          <p:cNvSpPr>
            <a:spLocks noGrp="1"/>
          </p:cNvSpPr>
          <p:nvPr>
            <p:ph type="body" sz="quarter" idx="15"/>
          </p:nvPr>
        </p:nvSpPr>
        <p:spPr>
          <a:xfrm>
            <a:off x="1280214" y="2019850"/>
            <a:ext cx="3905253" cy="3999266"/>
          </a:xfrm>
        </p:spPr>
        <p:txBody>
          <a:bodyPr vert="horz" lIns="91440" tIns="45720" rIns="91440" bIns="45720" rtlCol="0" anchor="t">
            <a:normAutofit/>
          </a:bodyPr>
          <a:lstStyle/>
          <a:p>
            <a:pPr>
              <a:spcAft>
                <a:spcPts val="600"/>
              </a:spcAft>
            </a:pPr>
            <a:r>
              <a:rPr lang="en-US" dirty="0">
                <a:latin typeface="Avenir Book"/>
              </a:rPr>
              <a:t>However, specific areas can be identified that have a significantly lower level of broadband adoption than the rest of Arlington</a:t>
            </a:r>
          </a:p>
        </p:txBody>
      </p:sp>
      <p:sp>
        <p:nvSpPr>
          <p:cNvPr id="5" name="Oval 4">
            <a:extLst>
              <a:ext uri="{FF2B5EF4-FFF2-40B4-BE49-F238E27FC236}">
                <a16:creationId xmlns:a16="http://schemas.microsoft.com/office/drawing/2014/main" id="{75753DFD-6EFB-F240-B80F-57B64FA0FBD1}"/>
              </a:ext>
            </a:extLst>
          </p:cNvPr>
          <p:cNvSpPr/>
          <p:nvPr/>
        </p:nvSpPr>
        <p:spPr>
          <a:xfrm>
            <a:off x="7196537" y="3429000"/>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7605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a:extLst>
              <a:ext uri="{FF2B5EF4-FFF2-40B4-BE49-F238E27FC236}">
                <a16:creationId xmlns:a16="http://schemas.microsoft.com/office/drawing/2014/main" id="{0F777FCB-5A1D-AF47-9EF4-DCA746309E8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0002" y="945218"/>
            <a:ext cx="4536069" cy="5364465"/>
          </a:xfrm>
          <a:prstGeom prst="rect">
            <a:avLst/>
          </a:prstGeom>
          <a:ln>
            <a:solidFill>
              <a:srgbClr val="000D3D"/>
            </a:solidFill>
          </a:ln>
          <a:effectLst>
            <a:outerShdw blurRad="50800" dist="38100" dir="2700000" algn="tl" rotWithShape="0">
              <a:prstClr val="black">
                <a:alpha val="40000"/>
              </a:prstClr>
            </a:outerShdw>
          </a:effectLst>
        </p:spPr>
      </p:pic>
      <p:sp>
        <p:nvSpPr>
          <p:cNvPr id="2" name="Text Placeholder 1">
            <a:extLst>
              <a:ext uri="{FF2B5EF4-FFF2-40B4-BE49-F238E27FC236}">
                <a16:creationId xmlns:a16="http://schemas.microsoft.com/office/drawing/2014/main" id="{EB1F06F7-B835-8A4F-99F6-7D3580D50B7B}"/>
              </a:ext>
            </a:extLst>
          </p:cNvPr>
          <p:cNvSpPr>
            <a:spLocks noGrp="1"/>
          </p:cNvSpPr>
          <p:nvPr>
            <p:ph type="body" sz="quarter" idx="13"/>
          </p:nvPr>
        </p:nvSpPr>
        <p:spPr/>
        <p:txBody>
          <a:bodyPr>
            <a:normAutofit lnSpcReduction="10000"/>
          </a:bodyPr>
          <a:lstStyle/>
          <a:p>
            <a:r>
              <a:rPr lang="en-US"/>
              <a:t>EQUITY OF ACCESS TO BROADBAND</a:t>
            </a:r>
          </a:p>
        </p:txBody>
      </p:sp>
      <p:sp>
        <p:nvSpPr>
          <p:cNvPr id="3" name="Text Placeholder 2">
            <a:extLst>
              <a:ext uri="{FF2B5EF4-FFF2-40B4-BE49-F238E27FC236}">
                <a16:creationId xmlns:a16="http://schemas.microsoft.com/office/drawing/2014/main" id="{94A0F13A-CC2C-004D-BA66-9EC86723BDDB}"/>
              </a:ext>
            </a:extLst>
          </p:cNvPr>
          <p:cNvSpPr>
            <a:spLocks noGrp="1"/>
          </p:cNvSpPr>
          <p:nvPr>
            <p:ph type="body" sz="quarter" idx="14"/>
          </p:nvPr>
        </p:nvSpPr>
        <p:spPr/>
        <p:txBody>
          <a:bodyPr/>
          <a:lstStyle/>
          <a:p>
            <a:r>
              <a:rPr lang="en-US"/>
              <a:t>Multiple Measures to Tell the Story</a:t>
            </a:r>
          </a:p>
        </p:txBody>
      </p:sp>
      <p:sp>
        <p:nvSpPr>
          <p:cNvPr id="4" name="Text Placeholder 3">
            <a:extLst>
              <a:ext uri="{FF2B5EF4-FFF2-40B4-BE49-F238E27FC236}">
                <a16:creationId xmlns:a16="http://schemas.microsoft.com/office/drawing/2014/main" id="{5F808632-6D8A-F741-8B62-F215A03FA4AE}"/>
              </a:ext>
            </a:extLst>
          </p:cNvPr>
          <p:cNvSpPr>
            <a:spLocks noGrp="1"/>
          </p:cNvSpPr>
          <p:nvPr>
            <p:ph type="body" sz="quarter" idx="15"/>
          </p:nvPr>
        </p:nvSpPr>
        <p:spPr>
          <a:xfrm>
            <a:off x="1280214" y="1727377"/>
            <a:ext cx="3905253" cy="3975617"/>
          </a:xfrm>
        </p:spPr>
        <p:txBody>
          <a:bodyPr vert="horz" lIns="91440" tIns="45720" rIns="91440" bIns="45720" rtlCol="0" anchor="t">
            <a:normAutofit fontScale="92500" lnSpcReduction="10000"/>
          </a:bodyPr>
          <a:lstStyle/>
          <a:p>
            <a:pPr>
              <a:spcAft>
                <a:spcPts val="600"/>
              </a:spcAft>
            </a:pPr>
            <a:r>
              <a:rPr lang="en-US" sz="2000" dirty="0">
                <a:latin typeface="Avenir Book"/>
              </a:rPr>
              <a:t>Calculated % or household income vs cost of 100Mb/s in every block group</a:t>
            </a:r>
          </a:p>
          <a:p>
            <a:pPr>
              <a:spcAft>
                <a:spcPts val="600"/>
              </a:spcAft>
            </a:pPr>
            <a:r>
              <a:rPr lang="en-US" sz="2000" dirty="0">
                <a:latin typeface="Avenir Book"/>
              </a:rPr>
              <a:t>Scraped cost of every level of data service for every census block</a:t>
            </a:r>
          </a:p>
          <a:p>
            <a:pPr>
              <a:spcAft>
                <a:spcPts val="600"/>
              </a:spcAft>
            </a:pPr>
            <a:r>
              <a:rPr lang="en-US" sz="2000" dirty="0">
                <a:latin typeface="Avenir Book"/>
              </a:rPr>
              <a:t>These areas of lowest broadband adoption appear to directly correlate with the areas having the highest ratio of household income to the cost of broadband, indicating an economic issue, as opposed to an issue of availability.</a:t>
            </a:r>
          </a:p>
        </p:txBody>
      </p:sp>
      <p:sp>
        <p:nvSpPr>
          <p:cNvPr id="6" name="Oval 5">
            <a:extLst>
              <a:ext uri="{FF2B5EF4-FFF2-40B4-BE49-F238E27FC236}">
                <a16:creationId xmlns:a16="http://schemas.microsoft.com/office/drawing/2014/main" id="{65825053-2138-704D-8B55-39E4A1543791}"/>
              </a:ext>
            </a:extLst>
          </p:cNvPr>
          <p:cNvSpPr/>
          <p:nvPr/>
        </p:nvSpPr>
        <p:spPr>
          <a:xfrm>
            <a:off x="7196537" y="3429000"/>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80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20C3AA-E8C0-0740-9D2A-A5C203160F90}"/>
              </a:ext>
            </a:extLst>
          </p:cNvPr>
          <p:cNvSpPr>
            <a:spLocks noGrp="1"/>
          </p:cNvSpPr>
          <p:nvPr>
            <p:ph type="body" sz="quarter" idx="13"/>
          </p:nvPr>
        </p:nvSpPr>
        <p:spPr/>
        <p:txBody>
          <a:bodyPr>
            <a:normAutofit lnSpcReduction="10000"/>
          </a:bodyPr>
          <a:lstStyle/>
          <a:p>
            <a:r>
              <a:rPr lang="en-US"/>
              <a:t>EQUITY OF ACCESS TO BROADBAND</a:t>
            </a:r>
          </a:p>
        </p:txBody>
      </p:sp>
      <p:sp>
        <p:nvSpPr>
          <p:cNvPr id="3" name="Text Placeholder 2">
            <a:extLst>
              <a:ext uri="{FF2B5EF4-FFF2-40B4-BE49-F238E27FC236}">
                <a16:creationId xmlns:a16="http://schemas.microsoft.com/office/drawing/2014/main" id="{08AEEDEB-C91B-BB43-8844-13DCBF63380E}"/>
              </a:ext>
            </a:extLst>
          </p:cNvPr>
          <p:cNvSpPr>
            <a:spLocks noGrp="1"/>
          </p:cNvSpPr>
          <p:nvPr>
            <p:ph type="body" sz="quarter" idx="14"/>
          </p:nvPr>
        </p:nvSpPr>
        <p:spPr>
          <a:xfrm>
            <a:off x="887183" y="838883"/>
            <a:ext cx="10575925" cy="650875"/>
          </a:xfrm>
        </p:spPr>
        <p:txBody>
          <a:bodyPr>
            <a:normAutofit lnSpcReduction="10000"/>
          </a:bodyPr>
          <a:lstStyle/>
          <a:p>
            <a:r>
              <a:rPr lang="en-US"/>
              <a:t>The Digital Equity Index (DEI)</a:t>
            </a:r>
            <a:br>
              <a:rPr lang="en-US"/>
            </a:br>
            <a:r>
              <a:rPr lang="en-US" sz="2000"/>
              <a:t>Combine these with other socio-economic variables to create completely new metric</a:t>
            </a:r>
            <a:endParaRPr lang="en-US"/>
          </a:p>
        </p:txBody>
      </p:sp>
      <p:pic>
        <p:nvPicPr>
          <p:cNvPr id="5" name="Picture 4" descr="Graphical user interface&#10;&#10;Description automatically generated">
            <a:extLst>
              <a:ext uri="{FF2B5EF4-FFF2-40B4-BE49-F238E27FC236}">
                <a16:creationId xmlns:a16="http://schemas.microsoft.com/office/drawing/2014/main" id="{DD645BF4-A1DE-9E4C-B687-A7EF1FEDD64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28790" b="36656"/>
          <a:stretch/>
        </p:blipFill>
        <p:spPr>
          <a:xfrm>
            <a:off x="951945" y="1730829"/>
            <a:ext cx="4536069" cy="1828800"/>
          </a:xfrm>
          <a:prstGeom prst="rect">
            <a:avLst/>
          </a:prstGeom>
          <a:ln>
            <a:solidFill>
              <a:srgbClr val="000D3D"/>
            </a:solidFill>
          </a:ln>
          <a:effectLst>
            <a:outerShdw blurRad="50800" dist="38100" dir="2700000" algn="tl" rotWithShape="0">
              <a:prstClr val="black">
                <a:alpha val="40000"/>
              </a:prstClr>
            </a:outerShdw>
          </a:effectLst>
        </p:spPr>
      </p:pic>
      <p:pic>
        <p:nvPicPr>
          <p:cNvPr id="6" name="Picture 5" descr="Graphical user interface&#10;&#10;Description automatically generated">
            <a:extLst>
              <a:ext uri="{FF2B5EF4-FFF2-40B4-BE49-F238E27FC236}">
                <a16:creationId xmlns:a16="http://schemas.microsoft.com/office/drawing/2014/main" id="{86B00847-2393-DF49-B540-A02151F764D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t="28452" b="37116"/>
          <a:stretch/>
        </p:blipFill>
        <p:spPr>
          <a:xfrm>
            <a:off x="5995609" y="1730829"/>
            <a:ext cx="4536069" cy="1828800"/>
          </a:xfrm>
          <a:prstGeom prst="rect">
            <a:avLst/>
          </a:prstGeom>
          <a:ln>
            <a:solidFill>
              <a:srgbClr val="000D3D"/>
            </a:solidFill>
          </a:ln>
          <a:effectLst>
            <a:outerShdw blurRad="50800" dist="38100" dir="2700000" algn="tl" rotWithShape="0">
              <a:prstClr val="black">
                <a:alpha val="40000"/>
              </a:prstClr>
            </a:outerShdw>
          </a:effectLst>
        </p:spPr>
      </p:pic>
      <p:sp>
        <p:nvSpPr>
          <p:cNvPr id="7" name="Oval 6">
            <a:extLst>
              <a:ext uri="{FF2B5EF4-FFF2-40B4-BE49-F238E27FC236}">
                <a16:creationId xmlns:a16="http://schemas.microsoft.com/office/drawing/2014/main" id="{9196D81D-2D72-A647-9647-05F5D9F4F3A6}"/>
              </a:ext>
            </a:extLst>
          </p:cNvPr>
          <p:cNvSpPr/>
          <p:nvPr/>
        </p:nvSpPr>
        <p:spPr>
          <a:xfrm>
            <a:off x="7102144" y="2704011"/>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BC6F9E5-AAA0-3648-8BD1-3B88567A9F96}"/>
              </a:ext>
            </a:extLst>
          </p:cNvPr>
          <p:cNvSpPr/>
          <p:nvPr/>
        </p:nvSpPr>
        <p:spPr>
          <a:xfrm>
            <a:off x="2062834" y="2679841"/>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Graphical user interface, application&#10;&#10;Description automatically generated">
            <a:extLst>
              <a:ext uri="{FF2B5EF4-FFF2-40B4-BE49-F238E27FC236}">
                <a16:creationId xmlns:a16="http://schemas.microsoft.com/office/drawing/2014/main" id="{FCF8A818-BDE0-FE4F-B251-D6FCF55C6B5D}"/>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t="28408" b="37501"/>
          <a:stretch/>
        </p:blipFill>
        <p:spPr>
          <a:xfrm>
            <a:off x="951945" y="4025376"/>
            <a:ext cx="4536069" cy="1828800"/>
          </a:xfrm>
          <a:prstGeom prst="rect">
            <a:avLst/>
          </a:prstGeom>
          <a:ln>
            <a:solidFill>
              <a:srgbClr val="000D3D"/>
            </a:solidFill>
          </a:ln>
          <a:effectLst>
            <a:outerShdw blurRad="50800" dist="38100" dir="2700000" algn="tl" rotWithShape="0">
              <a:prstClr val="black">
                <a:alpha val="40000"/>
              </a:prstClr>
            </a:outerShdw>
          </a:effectLst>
        </p:spPr>
      </p:pic>
      <p:sp>
        <p:nvSpPr>
          <p:cNvPr id="10" name="Oval 9">
            <a:extLst>
              <a:ext uri="{FF2B5EF4-FFF2-40B4-BE49-F238E27FC236}">
                <a16:creationId xmlns:a16="http://schemas.microsoft.com/office/drawing/2014/main" id="{3E904C28-12E8-8D49-85B4-6731AE79470F}"/>
              </a:ext>
            </a:extLst>
          </p:cNvPr>
          <p:cNvSpPr/>
          <p:nvPr/>
        </p:nvSpPr>
        <p:spPr>
          <a:xfrm>
            <a:off x="2052190" y="4969806"/>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Diagram&#10;&#10;Description automatically generated">
            <a:extLst>
              <a:ext uri="{FF2B5EF4-FFF2-40B4-BE49-F238E27FC236}">
                <a16:creationId xmlns:a16="http://schemas.microsoft.com/office/drawing/2014/main" id="{A73137AA-282D-564D-A810-1D2B491B097A}"/>
              </a:ext>
            </a:extLst>
          </p:cNvPr>
          <p:cNvPicPr>
            <a:picLocks noChangeAspect="1"/>
          </p:cNvPicPr>
          <p:nvPr/>
        </p:nvPicPr>
        <p:blipFill rotWithShape="1">
          <a:blip r:embed="rId6"/>
          <a:srcRect l="492" t="1738" r="3299" b="1495"/>
          <a:stretch/>
        </p:blipFill>
        <p:spPr>
          <a:xfrm>
            <a:off x="6651734" y="4320945"/>
            <a:ext cx="4536069" cy="1828800"/>
          </a:xfrm>
          <a:prstGeom prst="rect">
            <a:avLst/>
          </a:prstGeom>
          <a:ln>
            <a:solidFill>
              <a:srgbClr val="000D3D"/>
            </a:solidFill>
          </a:ln>
          <a:effectLst>
            <a:outerShdw blurRad="50800" dist="38100" dir="2700000" algn="tl" rotWithShape="0">
              <a:prstClr val="black">
                <a:alpha val="40000"/>
              </a:prstClr>
            </a:outerShdw>
          </a:effectLst>
        </p:spPr>
      </p:pic>
      <p:sp>
        <p:nvSpPr>
          <p:cNvPr id="15" name="Oval 14">
            <a:extLst>
              <a:ext uri="{FF2B5EF4-FFF2-40B4-BE49-F238E27FC236}">
                <a16:creationId xmlns:a16="http://schemas.microsoft.com/office/drawing/2014/main" id="{7E17AA6E-3DCD-A845-A512-CA3D20FE5CF7}"/>
              </a:ext>
            </a:extLst>
          </p:cNvPr>
          <p:cNvSpPr/>
          <p:nvPr/>
        </p:nvSpPr>
        <p:spPr>
          <a:xfrm>
            <a:off x="7618115" y="5282970"/>
            <a:ext cx="572373" cy="5723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09F14809-76B4-EC40-84CA-20B00AB01313}"/>
              </a:ext>
            </a:extLst>
          </p:cNvPr>
          <p:cNvSpPr/>
          <p:nvPr/>
        </p:nvSpPr>
        <p:spPr>
          <a:xfrm rot="2005047">
            <a:off x="5622545" y="3669114"/>
            <a:ext cx="746129" cy="712524"/>
          </a:xfrm>
          <a:prstGeom prst="rightArrow">
            <a:avLst/>
          </a:prstGeom>
          <a:solidFill>
            <a:srgbClr val="E57200"/>
          </a:solidFill>
          <a:ln>
            <a:solidFill>
              <a:srgbClr val="000D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DF628BC-429C-D340-8735-12D08BAFE962}"/>
              </a:ext>
            </a:extLst>
          </p:cNvPr>
          <p:cNvSpPr/>
          <p:nvPr/>
        </p:nvSpPr>
        <p:spPr>
          <a:xfrm>
            <a:off x="838199" y="1526177"/>
            <a:ext cx="409303" cy="409303"/>
          </a:xfrm>
          <a:prstGeom prst="ellipse">
            <a:avLst/>
          </a:prstGeom>
          <a:solidFill>
            <a:srgbClr val="000D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8" name="Oval 17">
            <a:extLst>
              <a:ext uri="{FF2B5EF4-FFF2-40B4-BE49-F238E27FC236}">
                <a16:creationId xmlns:a16="http://schemas.microsoft.com/office/drawing/2014/main" id="{7E27AB80-1D88-2245-BC1B-CA0950453A7D}"/>
              </a:ext>
            </a:extLst>
          </p:cNvPr>
          <p:cNvSpPr/>
          <p:nvPr/>
        </p:nvSpPr>
        <p:spPr>
          <a:xfrm>
            <a:off x="5881862" y="1526177"/>
            <a:ext cx="409303" cy="409303"/>
          </a:xfrm>
          <a:prstGeom prst="ellipse">
            <a:avLst/>
          </a:prstGeom>
          <a:solidFill>
            <a:srgbClr val="000D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9" name="Oval 18">
            <a:extLst>
              <a:ext uri="{FF2B5EF4-FFF2-40B4-BE49-F238E27FC236}">
                <a16:creationId xmlns:a16="http://schemas.microsoft.com/office/drawing/2014/main" id="{4BAB18CC-47A6-0245-981C-766CAF5C4C91}"/>
              </a:ext>
            </a:extLst>
          </p:cNvPr>
          <p:cNvSpPr/>
          <p:nvPr/>
        </p:nvSpPr>
        <p:spPr>
          <a:xfrm>
            <a:off x="838199" y="4090784"/>
            <a:ext cx="409303" cy="409303"/>
          </a:xfrm>
          <a:prstGeom prst="ellipse">
            <a:avLst/>
          </a:prstGeom>
          <a:solidFill>
            <a:srgbClr val="000D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20" name="Oval 19">
            <a:extLst>
              <a:ext uri="{FF2B5EF4-FFF2-40B4-BE49-F238E27FC236}">
                <a16:creationId xmlns:a16="http://schemas.microsoft.com/office/drawing/2014/main" id="{F228AE31-F3CB-5945-8857-9C0EA3F18CC5}"/>
              </a:ext>
            </a:extLst>
          </p:cNvPr>
          <p:cNvSpPr/>
          <p:nvPr/>
        </p:nvSpPr>
        <p:spPr>
          <a:xfrm>
            <a:off x="6549923" y="4090784"/>
            <a:ext cx="409303" cy="409303"/>
          </a:xfrm>
          <a:prstGeom prst="ellipse">
            <a:avLst/>
          </a:prstGeom>
          <a:solidFill>
            <a:srgbClr val="000D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4</a:t>
            </a:r>
          </a:p>
        </p:txBody>
      </p:sp>
    </p:spTree>
    <p:extLst>
      <p:ext uri="{BB962C8B-B14F-4D97-AF65-F5344CB8AC3E}">
        <p14:creationId xmlns:p14="http://schemas.microsoft.com/office/powerpoint/2010/main" val="1129635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22C58B-4803-1048-9F7B-DAFFCE353463}"/>
              </a:ext>
            </a:extLst>
          </p:cNvPr>
          <p:cNvSpPr>
            <a:spLocks noGrp="1"/>
          </p:cNvSpPr>
          <p:nvPr>
            <p:ph type="body" sz="quarter" idx="13"/>
          </p:nvPr>
        </p:nvSpPr>
        <p:spPr/>
        <p:txBody>
          <a:bodyPr>
            <a:normAutofit lnSpcReduction="10000"/>
          </a:bodyPr>
          <a:lstStyle/>
          <a:p>
            <a:r>
              <a:rPr lang="en-US" dirty="0"/>
              <a:t>GEOGRAPHIES FOR EQUITY ANALYSIS</a:t>
            </a:r>
          </a:p>
        </p:txBody>
      </p:sp>
      <p:sp>
        <p:nvSpPr>
          <p:cNvPr id="3" name="Text Placeholder 2">
            <a:extLst>
              <a:ext uri="{FF2B5EF4-FFF2-40B4-BE49-F238E27FC236}">
                <a16:creationId xmlns:a16="http://schemas.microsoft.com/office/drawing/2014/main" id="{1897D29E-2D3A-784E-AB4F-DD7F7FFC13F7}"/>
              </a:ext>
            </a:extLst>
          </p:cNvPr>
          <p:cNvSpPr>
            <a:spLocks noGrp="1"/>
          </p:cNvSpPr>
          <p:nvPr>
            <p:ph type="body" sz="quarter" idx="14"/>
          </p:nvPr>
        </p:nvSpPr>
        <p:spPr/>
        <p:txBody>
          <a:bodyPr/>
          <a:lstStyle/>
          <a:p>
            <a:r>
              <a:rPr lang="en-US" sz="2400" dirty="0"/>
              <a:t>ACS Block Group Demographics Translated to Arlington Civic Associations</a:t>
            </a:r>
          </a:p>
        </p:txBody>
      </p:sp>
      <p:sp>
        <p:nvSpPr>
          <p:cNvPr id="6" name="Title 1">
            <a:extLst>
              <a:ext uri="{FF2B5EF4-FFF2-40B4-BE49-F238E27FC236}">
                <a16:creationId xmlns:a16="http://schemas.microsoft.com/office/drawing/2014/main" id="{C41E52CB-1DB8-2A47-A737-2B2CDE4A1D55}"/>
              </a:ext>
            </a:extLst>
          </p:cNvPr>
          <p:cNvSpPr txBox="1">
            <a:spLocks/>
          </p:cNvSpPr>
          <p:nvPr/>
        </p:nvSpPr>
        <p:spPr>
          <a:xfrm>
            <a:off x="482010" y="5665012"/>
            <a:ext cx="11227980" cy="785532"/>
          </a:xfrm>
          <a:prstGeom prst="rect">
            <a:avLst/>
          </a:prstGeom>
        </p:spPr>
        <p:txBody>
          <a:bodyPr vert="horz" wrap="square" lIns="55449" tIns="27725" rIns="55449" bIns="27725" rtlCol="0" anchor="ctr">
            <a:normAutofit/>
          </a:bodyPr>
          <a:lstStyle>
            <a:lvl1pPr>
              <a:defRPr sz="5750" b="1" i="0">
                <a:solidFill>
                  <a:srgbClr val="000D3D"/>
                </a:solidFill>
                <a:latin typeface="Impact"/>
                <a:ea typeface="+mj-ea"/>
                <a:cs typeface="Impact"/>
              </a:defRPr>
            </a:lvl1pPr>
          </a:lstStyle>
          <a:p>
            <a:pPr algn="ctr"/>
            <a:r>
              <a:rPr lang="en-US" sz="1698" dirty="0">
                <a:solidFill>
                  <a:schemeClr val="tx1"/>
                </a:solidFill>
                <a:latin typeface="+mj-lt"/>
                <a:cs typeface="+mj-cs"/>
              </a:rPr>
              <a:t>Census </a:t>
            </a:r>
            <a:r>
              <a:rPr lang="en-US" sz="1698" u="sng" dirty="0">
                <a:solidFill>
                  <a:schemeClr val="tx1"/>
                </a:solidFill>
                <a:latin typeface="+mj-lt"/>
                <a:cs typeface="+mj-cs"/>
              </a:rPr>
              <a:t>Demographics</a:t>
            </a:r>
            <a:r>
              <a:rPr lang="en-US" sz="1698" dirty="0">
                <a:solidFill>
                  <a:schemeClr val="tx1"/>
                </a:solidFill>
                <a:latin typeface="+mj-lt"/>
                <a:cs typeface="+mj-cs"/>
              </a:rPr>
              <a:t> Redistributed + Relative </a:t>
            </a:r>
            <a:r>
              <a:rPr lang="en-US" sz="1698" u="sng" dirty="0">
                <a:solidFill>
                  <a:schemeClr val="tx1"/>
                </a:solidFill>
                <a:latin typeface="+mj-lt"/>
                <a:cs typeface="+mj-cs"/>
              </a:rPr>
              <a:t>Primary Care Physician Access </a:t>
            </a:r>
            <a:r>
              <a:rPr lang="en-US" sz="1698" dirty="0">
                <a:solidFill>
                  <a:schemeClr val="tx1"/>
                </a:solidFill>
                <a:latin typeface="+mj-lt"/>
                <a:cs typeface="+mj-cs"/>
              </a:rPr>
              <a:t>(Catchment Area)</a:t>
            </a:r>
            <a:br>
              <a:rPr lang="en-US" sz="1698" dirty="0">
                <a:solidFill>
                  <a:schemeClr val="tx1"/>
                </a:solidFill>
                <a:latin typeface="+mj-lt"/>
                <a:cs typeface="+mj-cs"/>
              </a:rPr>
            </a:br>
            <a:r>
              <a:rPr lang="en-US" sz="1698" dirty="0">
                <a:solidFill>
                  <a:schemeClr val="tx1"/>
                </a:solidFill>
                <a:latin typeface="+mj-lt"/>
                <a:cs typeface="+mj-cs"/>
              </a:rPr>
              <a:t>for Arlington Civic Associations</a:t>
            </a:r>
          </a:p>
        </p:txBody>
      </p:sp>
      <p:pic>
        <p:nvPicPr>
          <p:cNvPr id="8" name="Content Placeholder 9" descr="Map&#10;&#10;Description automatically generated">
            <a:extLst>
              <a:ext uri="{FF2B5EF4-FFF2-40B4-BE49-F238E27FC236}">
                <a16:creationId xmlns:a16="http://schemas.microsoft.com/office/drawing/2014/main" id="{02E2EB72-ABDD-6E41-A7C4-2A9C58FE574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60084" y="1321484"/>
            <a:ext cx="4980793" cy="4227396"/>
          </a:xfrm>
          <a:prstGeom prst="rect">
            <a:avLst/>
          </a:prstGeom>
        </p:spPr>
      </p:pic>
      <p:pic>
        <p:nvPicPr>
          <p:cNvPr id="9" name="Picture 8" descr="Chart&#10;&#10;Description automatically generated">
            <a:extLst>
              <a:ext uri="{FF2B5EF4-FFF2-40B4-BE49-F238E27FC236}">
                <a16:creationId xmlns:a16="http://schemas.microsoft.com/office/drawing/2014/main" id="{A414BE1B-ECA6-9445-835E-FB13B8A273A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40075" y="1321484"/>
            <a:ext cx="4251113" cy="4227396"/>
          </a:xfrm>
          <a:prstGeom prst="rect">
            <a:avLst/>
          </a:prstGeom>
        </p:spPr>
      </p:pic>
      <p:sp>
        <p:nvSpPr>
          <p:cNvPr id="10" name="Oval 9">
            <a:extLst>
              <a:ext uri="{FF2B5EF4-FFF2-40B4-BE49-F238E27FC236}">
                <a16:creationId xmlns:a16="http://schemas.microsoft.com/office/drawing/2014/main" id="{8E6E0952-2020-754D-B8A9-979E3D1289A4}"/>
              </a:ext>
            </a:extLst>
          </p:cNvPr>
          <p:cNvSpPr/>
          <p:nvPr/>
        </p:nvSpPr>
        <p:spPr>
          <a:xfrm>
            <a:off x="2546317" y="2865071"/>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11" name="Oval 10">
            <a:extLst>
              <a:ext uri="{FF2B5EF4-FFF2-40B4-BE49-F238E27FC236}">
                <a16:creationId xmlns:a16="http://schemas.microsoft.com/office/drawing/2014/main" id="{55D965C3-BD78-B04E-A1BD-5FF585653DD6}"/>
              </a:ext>
            </a:extLst>
          </p:cNvPr>
          <p:cNvSpPr/>
          <p:nvPr/>
        </p:nvSpPr>
        <p:spPr>
          <a:xfrm>
            <a:off x="8072516" y="2938756"/>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12" name="Oval 11">
            <a:extLst>
              <a:ext uri="{FF2B5EF4-FFF2-40B4-BE49-F238E27FC236}">
                <a16:creationId xmlns:a16="http://schemas.microsoft.com/office/drawing/2014/main" id="{EFF10F4E-6718-454F-B15D-48D1806760D9}"/>
              </a:ext>
            </a:extLst>
          </p:cNvPr>
          <p:cNvSpPr/>
          <p:nvPr/>
        </p:nvSpPr>
        <p:spPr>
          <a:xfrm>
            <a:off x="2342755" y="2615301"/>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13" name="Oval 12">
            <a:extLst>
              <a:ext uri="{FF2B5EF4-FFF2-40B4-BE49-F238E27FC236}">
                <a16:creationId xmlns:a16="http://schemas.microsoft.com/office/drawing/2014/main" id="{DD1ED802-91AF-ED45-A96C-747B5E364913}"/>
              </a:ext>
            </a:extLst>
          </p:cNvPr>
          <p:cNvSpPr/>
          <p:nvPr/>
        </p:nvSpPr>
        <p:spPr>
          <a:xfrm>
            <a:off x="7767793" y="2569094"/>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14" name="Oval 13">
            <a:extLst>
              <a:ext uri="{FF2B5EF4-FFF2-40B4-BE49-F238E27FC236}">
                <a16:creationId xmlns:a16="http://schemas.microsoft.com/office/drawing/2014/main" id="{21A285C2-8DD0-424C-96C9-A1C48055A1E9}"/>
              </a:ext>
            </a:extLst>
          </p:cNvPr>
          <p:cNvSpPr/>
          <p:nvPr/>
        </p:nvSpPr>
        <p:spPr>
          <a:xfrm>
            <a:off x="3886342" y="3835434"/>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15" name="Oval 14">
            <a:extLst>
              <a:ext uri="{FF2B5EF4-FFF2-40B4-BE49-F238E27FC236}">
                <a16:creationId xmlns:a16="http://schemas.microsoft.com/office/drawing/2014/main" id="{3D6226D7-4E58-7C42-9A9A-5B6FAF3F4179}"/>
              </a:ext>
            </a:extLst>
          </p:cNvPr>
          <p:cNvSpPr/>
          <p:nvPr/>
        </p:nvSpPr>
        <p:spPr>
          <a:xfrm>
            <a:off x="9385064" y="3835434"/>
            <a:ext cx="489554" cy="4895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cxnSp>
        <p:nvCxnSpPr>
          <p:cNvPr id="16" name="Straight Arrow Connector 15">
            <a:extLst>
              <a:ext uri="{FF2B5EF4-FFF2-40B4-BE49-F238E27FC236}">
                <a16:creationId xmlns:a16="http://schemas.microsoft.com/office/drawing/2014/main" id="{6A19A24E-B8B5-E24B-A376-66A1656B6CB4}"/>
              </a:ext>
            </a:extLst>
          </p:cNvPr>
          <p:cNvCxnSpPr/>
          <p:nvPr/>
        </p:nvCxnSpPr>
        <p:spPr>
          <a:xfrm flipH="1">
            <a:off x="8257347" y="1875977"/>
            <a:ext cx="2356595" cy="8317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FF794C-5C97-2549-97E0-6E87AEE7FF11}"/>
              </a:ext>
            </a:extLst>
          </p:cNvPr>
          <p:cNvCxnSpPr>
            <a:cxnSpLocks/>
          </p:cNvCxnSpPr>
          <p:nvPr/>
        </p:nvCxnSpPr>
        <p:spPr>
          <a:xfrm flipH="1">
            <a:off x="9870767" y="2107016"/>
            <a:ext cx="835590" cy="186016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E3800A2-8F02-124D-B95D-DCC50C7B3771}"/>
              </a:ext>
            </a:extLst>
          </p:cNvPr>
          <p:cNvSpPr txBox="1"/>
          <p:nvPr/>
        </p:nvSpPr>
        <p:spPr>
          <a:xfrm>
            <a:off x="10693420" y="1680009"/>
            <a:ext cx="1016570" cy="1268745"/>
          </a:xfrm>
          <a:prstGeom prst="rect">
            <a:avLst/>
          </a:prstGeom>
          <a:noFill/>
        </p:spPr>
        <p:txBody>
          <a:bodyPr wrap="square" rtlCol="0">
            <a:spAutoFit/>
          </a:bodyPr>
          <a:lstStyle/>
          <a:p>
            <a:r>
              <a:rPr lang="en-US" sz="1092" dirty="0"/>
              <a:t>Need Civic Association Household Income Variable as Well (Coming Soon!)</a:t>
            </a:r>
          </a:p>
        </p:txBody>
      </p:sp>
    </p:spTree>
    <p:extLst>
      <p:ext uri="{BB962C8B-B14F-4D97-AF65-F5344CB8AC3E}">
        <p14:creationId xmlns:p14="http://schemas.microsoft.com/office/powerpoint/2010/main" val="2031148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A860C2-20D2-C34B-9309-D6AE22F24653}"/>
              </a:ext>
            </a:extLst>
          </p:cNvPr>
          <p:cNvSpPr>
            <a:spLocks noGrp="1"/>
          </p:cNvSpPr>
          <p:nvPr>
            <p:ph type="body" sz="quarter" idx="13"/>
          </p:nvPr>
        </p:nvSpPr>
        <p:spPr/>
        <p:txBody>
          <a:bodyPr>
            <a:normAutofit lnSpcReduction="10000"/>
          </a:bodyPr>
          <a:lstStyle/>
          <a:p>
            <a:r>
              <a:rPr lang="en-US"/>
              <a:t>GEOGRAPHIES FOR EQUITY ANALYSIS</a:t>
            </a:r>
          </a:p>
        </p:txBody>
      </p:sp>
      <p:sp>
        <p:nvSpPr>
          <p:cNvPr id="3" name="Text Placeholder 2">
            <a:extLst>
              <a:ext uri="{FF2B5EF4-FFF2-40B4-BE49-F238E27FC236}">
                <a16:creationId xmlns:a16="http://schemas.microsoft.com/office/drawing/2014/main" id="{A0420202-D305-0649-80A3-8D870813C661}"/>
              </a:ext>
            </a:extLst>
          </p:cNvPr>
          <p:cNvSpPr>
            <a:spLocks noGrp="1"/>
          </p:cNvSpPr>
          <p:nvPr>
            <p:ph type="body" sz="quarter" idx="14"/>
          </p:nvPr>
        </p:nvSpPr>
        <p:spPr/>
        <p:txBody>
          <a:bodyPr/>
          <a:lstStyle/>
          <a:p>
            <a:r>
              <a:rPr lang="en-US" b="1"/>
              <a:t>Creating data and metrics in geographies that matter locally</a:t>
            </a:r>
          </a:p>
        </p:txBody>
      </p:sp>
      <p:sp>
        <p:nvSpPr>
          <p:cNvPr id="5" name="object 3">
            <a:extLst>
              <a:ext uri="{FF2B5EF4-FFF2-40B4-BE49-F238E27FC236}">
                <a16:creationId xmlns:a16="http://schemas.microsoft.com/office/drawing/2014/main" id="{4509D0C4-4C64-A04F-8D08-B179B55CC7A2}"/>
              </a:ext>
            </a:extLst>
          </p:cNvPr>
          <p:cNvSpPr/>
          <p:nvPr/>
        </p:nvSpPr>
        <p:spPr>
          <a:xfrm>
            <a:off x="1114696" y="3751003"/>
            <a:ext cx="3724041" cy="2197985"/>
          </a:xfrm>
          <a:prstGeom prst="rect">
            <a:avLst/>
          </a:prstGeom>
          <a:blipFill>
            <a:blip r:embed="rId2" cstate="print">
              <a:extLst>
                <a:ext uri="{28A0092B-C50C-407E-A947-70E740481C1C}">
                  <a14:useLocalDpi xmlns:a14="http://schemas.microsoft.com/office/drawing/2010/main"/>
                </a:ext>
              </a:extLst>
            </a:blip>
            <a:stretch>
              <a:fillRect/>
            </a:stretch>
          </a:blipFill>
          <a:ln>
            <a:solidFill>
              <a:srgbClr val="000D3D"/>
            </a:solidFill>
          </a:ln>
          <a:effectLst>
            <a:outerShdw blurRad="50800" dist="38100" dir="2700000" algn="tl" rotWithShape="0">
              <a:prstClr val="black">
                <a:alpha val="40000"/>
              </a:prstClr>
            </a:outerShdw>
          </a:effectLst>
        </p:spPr>
        <p:txBody>
          <a:bodyPr wrap="square" lIns="0" tIns="0" rIns="0" bIns="0" rtlCol="0"/>
          <a:lstStyle/>
          <a:p>
            <a:endParaRPr sz="1092"/>
          </a:p>
        </p:txBody>
      </p:sp>
      <p:pic>
        <p:nvPicPr>
          <p:cNvPr id="6" name="Content Placeholder 9" descr="Map&#10;&#10;Description automatically generated">
            <a:extLst>
              <a:ext uri="{FF2B5EF4-FFF2-40B4-BE49-F238E27FC236}">
                <a16:creationId xmlns:a16="http://schemas.microsoft.com/office/drawing/2014/main" id="{2235ADCC-C44D-F446-B669-67A1B4F146B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301262" y="1321484"/>
            <a:ext cx="3388310" cy="2875793"/>
          </a:xfrm>
          <a:prstGeom prst="rect">
            <a:avLst/>
          </a:prstGeom>
        </p:spPr>
      </p:pic>
      <p:pic>
        <p:nvPicPr>
          <p:cNvPr id="7" name="Picture 6" descr="Chart&#10;&#10;Description automatically generated">
            <a:extLst>
              <a:ext uri="{FF2B5EF4-FFF2-40B4-BE49-F238E27FC236}">
                <a16:creationId xmlns:a16="http://schemas.microsoft.com/office/drawing/2014/main" id="{B242E068-1D14-7A48-A46B-412A7154D3C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05129" y="3471864"/>
            <a:ext cx="2891927" cy="2875793"/>
          </a:xfrm>
          <a:prstGeom prst="rect">
            <a:avLst/>
          </a:prstGeom>
        </p:spPr>
      </p:pic>
      <p:sp>
        <p:nvSpPr>
          <p:cNvPr id="8" name="object 3">
            <a:extLst>
              <a:ext uri="{FF2B5EF4-FFF2-40B4-BE49-F238E27FC236}">
                <a16:creationId xmlns:a16="http://schemas.microsoft.com/office/drawing/2014/main" id="{89D40C0B-D7F5-9E45-AB51-DEA8CFEF06EB}"/>
              </a:ext>
            </a:extLst>
          </p:cNvPr>
          <p:cNvSpPr/>
          <p:nvPr/>
        </p:nvSpPr>
        <p:spPr>
          <a:xfrm>
            <a:off x="1114696" y="1923567"/>
            <a:ext cx="3724041" cy="1614955"/>
          </a:xfrm>
          <a:prstGeom prst="rect">
            <a:avLst/>
          </a:prstGeom>
          <a:blipFill>
            <a:blip r:embed="rId5" cstate="print">
              <a:extLst>
                <a:ext uri="{28A0092B-C50C-407E-A947-70E740481C1C}">
                  <a14:useLocalDpi xmlns:a14="http://schemas.microsoft.com/office/drawing/2010/main"/>
                </a:ext>
              </a:extLst>
            </a:blip>
            <a:stretch>
              <a:fillRect/>
            </a:stretch>
          </a:blipFill>
          <a:ln>
            <a:solidFill>
              <a:srgbClr val="000D3D"/>
            </a:solidFill>
          </a:ln>
          <a:effectLst>
            <a:outerShdw blurRad="50800" dist="38100" dir="2700000" algn="tl" rotWithShape="0">
              <a:prstClr val="black">
                <a:alpha val="40000"/>
              </a:prstClr>
            </a:outerShdw>
          </a:effectLst>
        </p:spPr>
        <p:txBody>
          <a:bodyPr wrap="square" lIns="0" tIns="0" rIns="0" bIns="0" rtlCol="0"/>
          <a:lstStyle/>
          <a:p>
            <a:endParaRPr sz="1092"/>
          </a:p>
        </p:txBody>
      </p:sp>
      <p:sp>
        <p:nvSpPr>
          <p:cNvPr id="9" name="Rectangle 8">
            <a:extLst>
              <a:ext uri="{FF2B5EF4-FFF2-40B4-BE49-F238E27FC236}">
                <a16:creationId xmlns:a16="http://schemas.microsoft.com/office/drawing/2014/main" id="{EDB45674-5C4D-6F46-9505-EFCA1AB8AA88}"/>
              </a:ext>
            </a:extLst>
          </p:cNvPr>
          <p:cNvSpPr/>
          <p:nvPr/>
        </p:nvSpPr>
        <p:spPr>
          <a:xfrm>
            <a:off x="1114696" y="1595632"/>
            <a:ext cx="3749553" cy="276999"/>
          </a:xfrm>
          <a:prstGeom prst="rect">
            <a:avLst/>
          </a:prstGeom>
        </p:spPr>
        <p:txBody>
          <a:bodyPr wrap="none">
            <a:spAutoFit/>
          </a:bodyPr>
          <a:lstStyle/>
          <a:p>
            <a:r>
              <a:rPr lang="en-US" sz="1200"/>
              <a:t>Translation of Census Demographics to New Geographies</a:t>
            </a:r>
          </a:p>
        </p:txBody>
      </p:sp>
      <p:sp>
        <p:nvSpPr>
          <p:cNvPr id="10" name="Rectangle 9">
            <a:extLst>
              <a:ext uri="{FF2B5EF4-FFF2-40B4-BE49-F238E27FC236}">
                <a16:creationId xmlns:a16="http://schemas.microsoft.com/office/drawing/2014/main" id="{95A9B23F-C8E4-4E41-8970-CBB87D1F581E}"/>
              </a:ext>
            </a:extLst>
          </p:cNvPr>
          <p:cNvSpPr/>
          <p:nvPr/>
        </p:nvSpPr>
        <p:spPr>
          <a:xfrm>
            <a:off x="5595164" y="2084713"/>
            <a:ext cx="1894114" cy="646331"/>
          </a:xfrm>
          <a:prstGeom prst="rect">
            <a:avLst/>
          </a:prstGeom>
        </p:spPr>
        <p:txBody>
          <a:bodyPr wrap="square">
            <a:spAutoFit/>
          </a:bodyPr>
          <a:lstStyle/>
          <a:p>
            <a:pPr algn="r"/>
            <a:r>
              <a:rPr lang="en-US" sz="1200"/>
              <a:t>Enabling Analysis by Neighborhood, rather than Census Geographies</a:t>
            </a:r>
          </a:p>
        </p:txBody>
      </p:sp>
      <p:sp>
        <p:nvSpPr>
          <p:cNvPr id="11" name="Down Arrow 10">
            <a:extLst>
              <a:ext uri="{FF2B5EF4-FFF2-40B4-BE49-F238E27FC236}">
                <a16:creationId xmlns:a16="http://schemas.microsoft.com/office/drawing/2014/main" id="{677E91AA-5BC9-9247-92F8-D6B86EC5ECC0}"/>
              </a:ext>
            </a:extLst>
          </p:cNvPr>
          <p:cNvSpPr/>
          <p:nvPr/>
        </p:nvSpPr>
        <p:spPr>
          <a:xfrm>
            <a:off x="6592389" y="2891246"/>
            <a:ext cx="358703" cy="383177"/>
          </a:xfrm>
          <a:prstGeom prst="downArrow">
            <a:avLst/>
          </a:prstGeom>
          <a:solidFill>
            <a:srgbClr val="E57200"/>
          </a:solidFill>
          <a:ln>
            <a:solidFill>
              <a:srgbClr val="000D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457B5BD4-F5DC-364C-B955-B5E04D332700}"/>
              </a:ext>
            </a:extLst>
          </p:cNvPr>
          <p:cNvSpPr/>
          <p:nvPr/>
        </p:nvSpPr>
        <p:spPr>
          <a:xfrm rot="16200000">
            <a:off x="7647107" y="2275022"/>
            <a:ext cx="358703" cy="383177"/>
          </a:xfrm>
          <a:prstGeom prst="downArrow">
            <a:avLst/>
          </a:prstGeom>
          <a:solidFill>
            <a:srgbClr val="E57200"/>
          </a:solidFill>
          <a:ln>
            <a:solidFill>
              <a:srgbClr val="000D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1421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A860C2-20D2-C34B-9309-D6AE22F24653}"/>
              </a:ext>
            </a:extLst>
          </p:cNvPr>
          <p:cNvSpPr>
            <a:spLocks noGrp="1"/>
          </p:cNvSpPr>
          <p:nvPr>
            <p:ph type="body" sz="quarter" idx="13"/>
          </p:nvPr>
        </p:nvSpPr>
        <p:spPr/>
        <p:txBody>
          <a:bodyPr>
            <a:normAutofit lnSpcReduction="10000"/>
          </a:bodyPr>
          <a:lstStyle/>
          <a:p>
            <a:r>
              <a:rPr lang="en-US"/>
              <a:t>GEOGRAPHIES FOR EQUITY ANALYSIS</a:t>
            </a:r>
          </a:p>
        </p:txBody>
      </p:sp>
      <p:sp>
        <p:nvSpPr>
          <p:cNvPr id="3" name="Text Placeholder 2">
            <a:extLst>
              <a:ext uri="{FF2B5EF4-FFF2-40B4-BE49-F238E27FC236}">
                <a16:creationId xmlns:a16="http://schemas.microsoft.com/office/drawing/2014/main" id="{A0420202-D305-0649-80A3-8D870813C661}"/>
              </a:ext>
            </a:extLst>
          </p:cNvPr>
          <p:cNvSpPr>
            <a:spLocks noGrp="1"/>
          </p:cNvSpPr>
          <p:nvPr>
            <p:ph type="body" sz="quarter" idx="14"/>
          </p:nvPr>
        </p:nvSpPr>
        <p:spPr/>
        <p:txBody>
          <a:bodyPr/>
          <a:lstStyle/>
          <a:p>
            <a:r>
              <a:rPr lang="en-US" b="1" dirty="0"/>
              <a:t>Creating open-source tools for dataset creation</a:t>
            </a:r>
          </a:p>
        </p:txBody>
      </p:sp>
      <p:pic>
        <p:nvPicPr>
          <p:cNvPr id="4" name="Picture 3">
            <a:extLst>
              <a:ext uri="{FF2B5EF4-FFF2-40B4-BE49-F238E27FC236}">
                <a16:creationId xmlns:a16="http://schemas.microsoft.com/office/drawing/2014/main" id="{F07668D1-C334-7175-86A9-662463E351D4}"/>
              </a:ext>
            </a:extLst>
          </p:cNvPr>
          <p:cNvPicPr>
            <a:picLocks noChangeAspect="1"/>
          </p:cNvPicPr>
          <p:nvPr/>
        </p:nvPicPr>
        <p:blipFill>
          <a:blip r:embed="rId2"/>
          <a:stretch>
            <a:fillRect/>
          </a:stretch>
        </p:blipFill>
        <p:spPr>
          <a:xfrm>
            <a:off x="2288945" y="1321484"/>
            <a:ext cx="7772400" cy="4758360"/>
          </a:xfrm>
          <a:prstGeom prst="rect">
            <a:avLst/>
          </a:prstGeom>
          <a:ln>
            <a:solidFill>
              <a:schemeClr val="accent1"/>
            </a:solidFill>
          </a:ln>
        </p:spPr>
      </p:pic>
    </p:spTree>
    <p:extLst>
      <p:ext uri="{BB962C8B-B14F-4D97-AF65-F5344CB8AC3E}">
        <p14:creationId xmlns:p14="http://schemas.microsoft.com/office/powerpoint/2010/main" val="808398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76FAA1-CA24-95BF-A581-22B62CF56524}"/>
              </a:ext>
            </a:extLst>
          </p:cNvPr>
          <p:cNvSpPr>
            <a:spLocks noGrp="1"/>
          </p:cNvSpPr>
          <p:nvPr>
            <p:ph type="body" sz="quarter" idx="13"/>
          </p:nvPr>
        </p:nvSpPr>
        <p:spPr>
          <a:xfrm>
            <a:off x="838199" y="225915"/>
            <a:ext cx="10575924" cy="650875"/>
          </a:xfrm>
        </p:spPr>
        <p:txBody>
          <a:bodyPr>
            <a:normAutofit lnSpcReduction="10000"/>
          </a:bodyPr>
          <a:lstStyle/>
          <a:p>
            <a:r>
              <a:rPr lang="en-US"/>
              <a:t>Data in action: data stories</a:t>
            </a:r>
          </a:p>
        </p:txBody>
      </p:sp>
      <p:sp>
        <p:nvSpPr>
          <p:cNvPr id="4" name="Text Placeholder 3">
            <a:extLst>
              <a:ext uri="{FF2B5EF4-FFF2-40B4-BE49-F238E27FC236}">
                <a16:creationId xmlns:a16="http://schemas.microsoft.com/office/drawing/2014/main" id="{2920A96C-7601-D453-BAA4-B47C2D57F707}"/>
              </a:ext>
            </a:extLst>
          </p:cNvPr>
          <p:cNvSpPr>
            <a:spLocks noGrp="1"/>
          </p:cNvSpPr>
          <p:nvPr>
            <p:ph type="body" sz="quarter" idx="15"/>
          </p:nvPr>
        </p:nvSpPr>
        <p:spPr>
          <a:xfrm>
            <a:off x="838199" y="1140728"/>
            <a:ext cx="5023760" cy="4808537"/>
          </a:xfrm>
        </p:spPr>
        <p:txBody>
          <a:bodyPr/>
          <a:lstStyle/>
          <a:p>
            <a:r>
              <a:rPr lang="en-US"/>
              <a:t>Applies the Social Impact Data Commons to real local issues</a:t>
            </a:r>
          </a:p>
          <a:p>
            <a:r>
              <a:rPr lang="en-US"/>
              <a:t>How can measures be triangulated to tell a story?</a:t>
            </a:r>
          </a:p>
          <a:p>
            <a:pPr lvl="1"/>
            <a:r>
              <a:rPr lang="en-US"/>
              <a:t>Access to broadband: Multiple measures tell the story in Arlington</a:t>
            </a:r>
          </a:p>
          <a:p>
            <a:pPr lvl="1"/>
            <a:r>
              <a:rPr lang="en-US"/>
              <a:t>Health care: Is access to urgent care equitable in the National Capital Region?</a:t>
            </a:r>
          </a:p>
          <a:p>
            <a:pPr lvl="1"/>
            <a:r>
              <a:rPr lang="en-US"/>
              <a:t>Business diversity: How do measures of equity change over space and time in Fairfax?</a:t>
            </a:r>
          </a:p>
          <a:p>
            <a:r>
              <a:rPr lang="en-US"/>
              <a:t>Available on the </a:t>
            </a:r>
            <a:r>
              <a:rPr lang="en-US">
                <a:hlinkClick r:id="rId2"/>
              </a:rPr>
              <a:t>Social Impact Data Commons website</a:t>
            </a:r>
            <a:endParaRPr lang="en-US"/>
          </a:p>
        </p:txBody>
      </p:sp>
      <p:pic>
        <p:nvPicPr>
          <p:cNvPr id="6" name="Picture 5" descr="Diagram&#10;&#10;Description automatically generated">
            <a:extLst>
              <a:ext uri="{FF2B5EF4-FFF2-40B4-BE49-F238E27FC236}">
                <a16:creationId xmlns:a16="http://schemas.microsoft.com/office/drawing/2014/main" id="{2684293F-1CE5-1B1D-9369-3E3692904A87}"/>
              </a:ext>
            </a:extLst>
          </p:cNvPr>
          <p:cNvPicPr>
            <a:picLocks noChangeAspect="1"/>
          </p:cNvPicPr>
          <p:nvPr/>
        </p:nvPicPr>
        <p:blipFill>
          <a:blip r:embed="rId3"/>
          <a:stretch>
            <a:fillRect/>
          </a:stretch>
        </p:blipFill>
        <p:spPr>
          <a:xfrm>
            <a:off x="6008913" y="838884"/>
            <a:ext cx="5454193" cy="5374320"/>
          </a:xfrm>
          <a:prstGeom prst="rect">
            <a:avLst/>
          </a:prstGeom>
        </p:spPr>
      </p:pic>
    </p:spTree>
    <p:extLst>
      <p:ext uri="{BB962C8B-B14F-4D97-AF65-F5344CB8AC3E}">
        <p14:creationId xmlns:p14="http://schemas.microsoft.com/office/powerpoint/2010/main" val="2687496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1BE64C-7700-5A47-A640-524281478E97}"/>
              </a:ext>
            </a:extLst>
          </p:cNvPr>
          <p:cNvSpPr>
            <a:spLocks noGrp="1"/>
          </p:cNvSpPr>
          <p:nvPr>
            <p:ph type="body" sz="quarter" idx="13"/>
          </p:nvPr>
        </p:nvSpPr>
        <p:spPr/>
        <p:txBody>
          <a:bodyPr/>
          <a:lstStyle/>
          <a:p>
            <a:r>
              <a:rPr lang="en-US"/>
              <a:t>DATA COMMONS GENERALIZED ARCHITECTURE</a:t>
            </a:r>
          </a:p>
        </p:txBody>
      </p:sp>
      <p:sp>
        <p:nvSpPr>
          <p:cNvPr id="3" name="Text Placeholder 2">
            <a:extLst>
              <a:ext uri="{FF2B5EF4-FFF2-40B4-BE49-F238E27FC236}">
                <a16:creationId xmlns:a16="http://schemas.microsoft.com/office/drawing/2014/main" id="{75C0EF0E-41D4-364B-8D6C-2F5FB7753D33}"/>
              </a:ext>
            </a:extLst>
          </p:cNvPr>
          <p:cNvSpPr>
            <a:spLocks noGrp="1"/>
          </p:cNvSpPr>
          <p:nvPr>
            <p:ph type="body" sz="quarter" idx="14"/>
          </p:nvPr>
        </p:nvSpPr>
        <p:spPr/>
        <p:txBody>
          <a:bodyPr/>
          <a:lstStyle/>
          <a:p>
            <a:r>
              <a:rPr lang="en-US"/>
              <a:t>Modular, Sustainable, Expandable</a:t>
            </a:r>
          </a:p>
        </p:txBody>
      </p:sp>
      <p:sp>
        <p:nvSpPr>
          <p:cNvPr id="5" name="object 6">
            <a:extLst>
              <a:ext uri="{FF2B5EF4-FFF2-40B4-BE49-F238E27FC236}">
                <a16:creationId xmlns:a16="http://schemas.microsoft.com/office/drawing/2014/main" id="{F1091DAE-D430-1542-8E75-CE7C07E441BC}"/>
              </a:ext>
            </a:extLst>
          </p:cNvPr>
          <p:cNvSpPr/>
          <p:nvPr/>
        </p:nvSpPr>
        <p:spPr>
          <a:xfrm>
            <a:off x="1148450" y="1427620"/>
            <a:ext cx="10053390" cy="4802007"/>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sz="1092"/>
          </a:p>
        </p:txBody>
      </p:sp>
    </p:spTree>
    <p:extLst>
      <p:ext uri="{BB962C8B-B14F-4D97-AF65-F5344CB8AC3E}">
        <p14:creationId xmlns:p14="http://schemas.microsoft.com/office/powerpoint/2010/main" val="424806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A720FF-6FDE-BF31-58E6-1FA04AF08F46}"/>
              </a:ext>
            </a:extLst>
          </p:cNvPr>
          <p:cNvSpPr>
            <a:spLocks noGrp="1"/>
          </p:cNvSpPr>
          <p:nvPr>
            <p:ph type="body" sz="quarter" idx="13"/>
          </p:nvPr>
        </p:nvSpPr>
        <p:spPr/>
        <p:txBody>
          <a:bodyPr>
            <a:normAutofit lnSpcReduction="10000"/>
          </a:bodyPr>
          <a:lstStyle/>
          <a:p>
            <a:r>
              <a:rPr lang="en-US"/>
              <a:t>Data Repository Example: </a:t>
            </a:r>
            <a:r>
              <a:rPr lang="en-US">
                <a:hlinkClick r:id="rId2"/>
              </a:rPr>
              <a:t>Health</a:t>
            </a:r>
            <a:endParaRPr lang="en-US"/>
          </a:p>
          <a:p>
            <a:endParaRPr lang="en-US"/>
          </a:p>
        </p:txBody>
      </p:sp>
      <p:pic>
        <p:nvPicPr>
          <p:cNvPr id="6" name="Picture 5" descr="Graphical user interface, text, application, email&#10;&#10;Description automatically generated">
            <a:extLst>
              <a:ext uri="{FF2B5EF4-FFF2-40B4-BE49-F238E27FC236}">
                <a16:creationId xmlns:a16="http://schemas.microsoft.com/office/drawing/2014/main" id="{BBAE0C88-4812-03DF-DD87-A4AE14F8E4A7}"/>
              </a:ext>
            </a:extLst>
          </p:cNvPr>
          <p:cNvPicPr>
            <a:picLocks noChangeAspect="1"/>
          </p:cNvPicPr>
          <p:nvPr/>
        </p:nvPicPr>
        <p:blipFill>
          <a:blip r:embed="rId3"/>
          <a:stretch>
            <a:fillRect/>
          </a:stretch>
        </p:blipFill>
        <p:spPr>
          <a:xfrm>
            <a:off x="685488" y="995624"/>
            <a:ext cx="10821023" cy="5208324"/>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CB3FB4A2-EE47-7073-A4FF-59A0C8DFA04F}"/>
                  </a:ext>
                </a:extLst>
              </p14:cNvPr>
              <p14:cNvContentPartPr/>
              <p14:nvPr/>
            </p14:nvContentPartPr>
            <p14:xfrm>
              <a:off x="5057983" y="2555640"/>
              <a:ext cx="736560" cy="9720"/>
            </p14:xfrm>
          </p:contentPart>
        </mc:Choice>
        <mc:Fallback xmlns="">
          <p:pic>
            <p:nvPicPr>
              <p:cNvPr id="9" name="Ink 8">
                <a:extLst>
                  <a:ext uri="{FF2B5EF4-FFF2-40B4-BE49-F238E27FC236}">
                    <a16:creationId xmlns:a16="http://schemas.microsoft.com/office/drawing/2014/main" id="{CB3FB4A2-EE47-7073-A4FF-59A0C8DFA04F}"/>
                  </a:ext>
                </a:extLst>
              </p:cNvPr>
              <p:cNvPicPr/>
              <p:nvPr/>
            </p:nvPicPr>
            <p:blipFill>
              <a:blip r:embed="rId5"/>
              <a:stretch>
                <a:fillRect/>
              </a:stretch>
            </p:blipFill>
            <p:spPr>
              <a:xfrm>
                <a:off x="5003983" y="2447640"/>
                <a:ext cx="8442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05965FBF-C768-7CE9-F687-9EB13B8A4A25}"/>
                  </a:ext>
                </a:extLst>
              </p14:cNvPr>
              <p14:cNvContentPartPr/>
              <p14:nvPr/>
            </p14:nvContentPartPr>
            <p14:xfrm>
              <a:off x="2010943" y="3260520"/>
              <a:ext cx="388080" cy="9000"/>
            </p14:xfrm>
          </p:contentPart>
        </mc:Choice>
        <mc:Fallback xmlns="">
          <p:pic>
            <p:nvPicPr>
              <p:cNvPr id="10" name="Ink 9">
                <a:extLst>
                  <a:ext uri="{FF2B5EF4-FFF2-40B4-BE49-F238E27FC236}">
                    <a16:creationId xmlns:a16="http://schemas.microsoft.com/office/drawing/2014/main" id="{05965FBF-C768-7CE9-F687-9EB13B8A4A25}"/>
                  </a:ext>
                </a:extLst>
              </p:cNvPr>
              <p:cNvPicPr/>
              <p:nvPr/>
            </p:nvPicPr>
            <p:blipFill>
              <a:blip r:embed="rId7"/>
              <a:stretch>
                <a:fillRect/>
              </a:stretch>
            </p:blipFill>
            <p:spPr>
              <a:xfrm>
                <a:off x="1956993" y="3152520"/>
                <a:ext cx="4956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17EABEF7-C6F5-AE06-268F-78F4BF404A54}"/>
                  </a:ext>
                </a:extLst>
              </p14:cNvPr>
              <p14:cNvContentPartPr/>
              <p14:nvPr/>
            </p14:nvContentPartPr>
            <p14:xfrm>
              <a:off x="2035783" y="3523680"/>
              <a:ext cx="797040" cy="23760"/>
            </p14:xfrm>
          </p:contentPart>
        </mc:Choice>
        <mc:Fallback xmlns="">
          <p:pic>
            <p:nvPicPr>
              <p:cNvPr id="11" name="Ink 10">
                <a:extLst>
                  <a:ext uri="{FF2B5EF4-FFF2-40B4-BE49-F238E27FC236}">
                    <a16:creationId xmlns:a16="http://schemas.microsoft.com/office/drawing/2014/main" id="{17EABEF7-C6F5-AE06-268F-78F4BF404A54}"/>
                  </a:ext>
                </a:extLst>
              </p:cNvPr>
              <p:cNvPicPr/>
              <p:nvPr/>
            </p:nvPicPr>
            <p:blipFill>
              <a:blip r:embed="rId9"/>
              <a:stretch>
                <a:fillRect/>
              </a:stretch>
            </p:blipFill>
            <p:spPr>
              <a:xfrm>
                <a:off x="1981807" y="3415680"/>
                <a:ext cx="904631"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5B77C627-55EB-CAEF-C2DC-50C2613B63A7}"/>
                  </a:ext>
                </a:extLst>
              </p14:cNvPr>
              <p14:cNvContentPartPr/>
              <p14:nvPr/>
            </p14:nvContentPartPr>
            <p14:xfrm>
              <a:off x="1999423" y="3825720"/>
              <a:ext cx="203760" cy="360"/>
            </p14:xfrm>
          </p:contentPart>
        </mc:Choice>
        <mc:Fallback xmlns="">
          <p:pic>
            <p:nvPicPr>
              <p:cNvPr id="12" name="Ink 11">
                <a:extLst>
                  <a:ext uri="{FF2B5EF4-FFF2-40B4-BE49-F238E27FC236}">
                    <a16:creationId xmlns:a16="http://schemas.microsoft.com/office/drawing/2014/main" id="{5B77C627-55EB-CAEF-C2DC-50C2613B63A7}"/>
                  </a:ext>
                </a:extLst>
              </p:cNvPr>
              <p:cNvPicPr/>
              <p:nvPr/>
            </p:nvPicPr>
            <p:blipFill>
              <a:blip r:embed="rId11"/>
              <a:stretch>
                <a:fillRect/>
              </a:stretch>
            </p:blipFill>
            <p:spPr>
              <a:xfrm>
                <a:off x="1945423" y="3717720"/>
                <a:ext cx="311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E0259B01-1137-F135-9504-57D200BF7706}"/>
                  </a:ext>
                </a:extLst>
              </p14:cNvPr>
              <p14:cNvContentPartPr/>
              <p14:nvPr/>
            </p14:nvContentPartPr>
            <p14:xfrm>
              <a:off x="2003383" y="4124160"/>
              <a:ext cx="1032120" cy="29160"/>
            </p14:xfrm>
          </p:contentPart>
        </mc:Choice>
        <mc:Fallback xmlns="">
          <p:pic>
            <p:nvPicPr>
              <p:cNvPr id="13" name="Ink 12">
                <a:extLst>
                  <a:ext uri="{FF2B5EF4-FFF2-40B4-BE49-F238E27FC236}">
                    <a16:creationId xmlns:a16="http://schemas.microsoft.com/office/drawing/2014/main" id="{E0259B01-1137-F135-9504-57D200BF7706}"/>
                  </a:ext>
                </a:extLst>
              </p:cNvPr>
              <p:cNvPicPr/>
              <p:nvPr/>
            </p:nvPicPr>
            <p:blipFill>
              <a:blip r:embed="rId13"/>
              <a:stretch>
                <a:fillRect/>
              </a:stretch>
            </p:blipFill>
            <p:spPr>
              <a:xfrm>
                <a:off x="1949383" y="4017477"/>
                <a:ext cx="1139760" cy="24217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213259CB-1C57-206E-F1D1-C7397B975D31}"/>
                  </a:ext>
                </a:extLst>
              </p14:cNvPr>
              <p14:cNvContentPartPr/>
              <p14:nvPr/>
            </p14:nvContentPartPr>
            <p14:xfrm>
              <a:off x="2037223" y="4436640"/>
              <a:ext cx="1655640" cy="19800"/>
            </p14:xfrm>
          </p:contentPart>
        </mc:Choice>
        <mc:Fallback xmlns="">
          <p:pic>
            <p:nvPicPr>
              <p:cNvPr id="14" name="Ink 13">
                <a:extLst>
                  <a:ext uri="{FF2B5EF4-FFF2-40B4-BE49-F238E27FC236}">
                    <a16:creationId xmlns:a16="http://schemas.microsoft.com/office/drawing/2014/main" id="{213259CB-1C57-206E-F1D1-C7397B975D31}"/>
                  </a:ext>
                </a:extLst>
              </p:cNvPr>
              <p:cNvPicPr/>
              <p:nvPr/>
            </p:nvPicPr>
            <p:blipFill>
              <a:blip r:embed="rId15"/>
              <a:stretch>
                <a:fillRect/>
              </a:stretch>
            </p:blipFill>
            <p:spPr>
              <a:xfrm>
                <a:off x="1983235" y="4330569"/>
                <a:ext cx="1763257" cy="23158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43A44A7C-FC42-1A41-1EBC-DD3B2E30DE2A}"/>
                  </a:ext>
                </a:extLst>
              </p14:cNvPr>
              <p14:cNvContentPartPr/>
              <p14:nvPr/>
            </p14:nvContentPartPr>
            <p14:xfrm>
              <a:off x="2026423" y="4691880"/>
              <a:ext cx="686880" cy="15480"/>
            </p14:xfrm>
          </p:contentPart>
        </mc:Choice>
        <mc:Fallback xmlns="">
          <p:pic>
            <p:nvPicPr>
              <p:cNvPr id="15" name="Ink 14">
                <a:extLst>
                  <a:ext uri="{FF2B5EF4-FFF2-40B4-BE49-F238E27FC236}">
                    <a16:creationId xmlns:a16="http://schemas.microsoft.com/office/drawing/2014/main" id="{43A44A7C-FC42-1A41-1EBC-DD3B2E30DE2A}"/>
                  </a:ext>
                </a:extLst>
              </p:cNvPr>
              <p:cNvPicPr/>
              <p:nvPr/>
            </p:nvPicPr>
            <p:blipFill>
              <a:blip r:embed="rId17"/>
              <a:stretch>
                <a:fillRect/>
              </a:stretch>
            </p:blipFill>
            <p:spPr>
              <a:xfrm>
                <a:off x="1972423" y="4586335"/>
                <a:ext cx="794520" cy="226219"/>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B7A41B54-30E6-964C-66D1-A0B35BD68FD6}"/>
                  </a:ext>
                </a:extLst>
              </p14:cNvPr>
              <p14:cNvContentPartPr/>
              <p14:nvPr/>
            </p14:nvContentPartPr>
            <p14:xfrm>
              <a:off x="1972423" y="5029920"/>
              <a:ext cx="844560" cy="37440"/>
            </p14:xfrm>
          </p:contentPart>
        </mc:Choice>
        <mc:Fallback xmlns="">
          <p:pic>
            <p:nvPicPr>
              <p:cNvPr id="16" name="Ink 15">
                <a:extLst>
                  <a:ext uri="{FF2B5EF4-FFF2-40B4-BE49-F238E27FC236}">
                    <a16:creationId xmlns:a16="http://schemas.microsoft.com/office/drawing/2014/main" id="{B7A41B54-30E6-964C-66D1-A0B35BD68FD6}"/>
                  </a:ext>
                </a:extLst>
              </p:cNvPr>
              <p:cNvPicPr/>
              <p:nvPr/>
            </p:nvPicPr>
            <p:blipFill>
              <a:blip r:embed="rId19"/>
              <a:stretch>
                <a:fillRect/>
              </a:stretch>
            </p:blipFill>
            <p:spPr>
              <a:xfrm>
                <a:off x="1918423" y="4920871"/>
                <a:ext cx="952200" cy="25517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BA2592D8-7D3B-C588-4888-C7E88C2AC800}"/>
                  </a:ext>
                </a:extLst>
              </p14:cNvPr>
              <p14:cNvContentPartPr/>
              <p14:nvPr/>
            </p14:nvContentPartPr>
            <p14:xfrm>
              <a:off x="1992943" y="5599440"/>
              <a:ext cx="521640" cy="360"/>
            </p14:xfrm>
          </p:contentPart>
        </mc:Choice>
        <mc:Fallback xmlns="">
          <p:pic>
            <p:nvPicPr>
              <p:cNvPr id="17" name="Ink 16">
                <a:extLst>
                  <a:ext uri="{FF2B5EF4-FFF2-40B4-BE49-F238E27FC236}">
                    <a16:creationId xmlns:a16="http://schemas.microsoft.com/office/drawing/2014/main" id="{BA2592D8-7D3B-C588-4888-C7E88C2AC800}"/>
                  </a:ext>
                </a:extLst>
              </p:cNvPr>
              <p:cNvPicPr/>
              <p:nvPr/>
            </p:nvPicPr>
            <p:blipFill>
              <a:blip r:embed="rId21"/>
              <a:stretch>
                <a:fillRect/>
              </a:stretch>
            </p:blipFill>
            <p:spPr>
              <a:xfrm>
                <a:off x="1938943" y="5491440"/>
                <a:ext cx="6292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2ADB7079-14C5-877B-6FEE-E6E9E6AE6200}"/>
                  </a:ext>
                </a:extLst>
              </p14:cNvPr>
              <p14:cNvContentPartPr/>
              <p14:nvPr/>
            </p14:nvContentPartPr>
            <p14:xfrm>
              <a:off x="2020303" y="5302080"/>
              <a:ext cx="784440" cy="24480"/>
            </p14:xfrm>
          </p:contentPart>
        </mc:Choice>
        <mc:Fallback xmlns="">
          <p:pic>
            <p:nvPicPr>
              <p:cNvPr id="18" name="Ink 17">
                <a:extLst>
                  <a:ext uri="{FF2B5EF4-FFF2-40B4-BE49-F238E27FC236}">
                    <a16:creationId xmlns:a16="http://schemas.microsoft.com/office/drawing/2014/main" id="{2ADB7079-14C5-877B-6FEE-E6E9E6AE6200}"/>
                  </a:ext>
                </a:extLst>
              </p:cNvPr>
              <p:cNvPicPr/>
              <p:nvPr/>
            </p:nvPicPr>
            <p:blipFill>
              <a:blip r:embed="rId23"/>
              <a:stretch>
                <a:fillRect/>
              </a:stretch>
            </p:blipFill>
            <p:spPr>
              <a:xfrm>
                <a:off x="1966303" y="5194080"/>
                <a:ext cx="8920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68FF1FA9-BEE6-CB73-0C3F-73B839CE2751}"/>
                  </a:ext>
                </a:extLst>
              </p14:cNvPr>
              <p14:cNvContentPartPr/>
              <p14:nvPr/>
            </p14:nvContentPartPr>
            <p14:xfrm>
              <a:off x="2013103" y="5903280"/>
              <a:ext cx="1044000" cy="51480"/>
            </p14:xfrm>
          </p:contentPart>
        </mc:Choice>
        <mc:Fallback xmlns="">
          <p:pic>
            <p:nvPicPr>
              <p:cNvPr id="19" name="Ink 18">
                <a:extLst>
                  <a:ext uri="{FF2B5EF4-FFF2-40B4-BE49-F238E27FC236}">
                    <a16:creationId xmlns:a16="http://schemas.microsoft.com/office/drawing/2014/main" id="{68FF1FA9-BEE6-CB73-0C3F-73B839CE2751}"/>
                  </a:ext>
                </a:extLst>
              </p:cNvPr>
              <p:cNvPicPr/>
              <p:nvPr/>
            </p:nvPicPr>
            <p:blipFill>
              <a:blip r:embed="rId25"/>
              <a:stretch>
                <a:fillRect/>
              </a:stretch>
            </p:blipFill>
            <p:spPr>
              <a:xfrm>
                <a:off x="1959122" y="5795280"/>
                <a:ext cx="1151603" cy="267120"/>
              </a:xfrm>
              <a:prstGeom prst="rect">
                <a:avLst/>
              </a:prstGeom>
            </p:spPr>
          </p:pic>
        </mc:Fallback>
      </mc:AlternateContent>
      <p:pic>
        <p:nvPicPr>
          <p:cNvPr id="22" name="Picture 21" descr="Graphical user interface&#10;&#10;Description automatically generated with low confidence">
            <a:extLst>
              <a:ext uri="{FF2B5EF4-FFF2-40B4-BE49-F238E27FC236}">
                <a16:creationId xmlns:a16="http://schemas.microsoft.com/office/drawing/2014/main" id="{09806735-9295-E823-410F-9B0A33596B4A}"/>
              </a:ext>
            </a:extLst>
          </p:cNvPr>
          <p:cNvPicPr>
            <a:picLocks noChangeAspect="1"/>
          </p:cNvPicPr>
          <p:nvPr/>
        </p:nvPicPr>
        <p:blipFill>
          <a:blip r:embed="rId26"/>
          <a:stretch>
            <a:fillRect/>
          </a:stretch>
        </p:blipFill>
        <p:spPr>
          <a:xfrm>
            <a:off x="5589815" y="2887040"/>
            <a:ext cx="1447800" cy="1320800"/>
          </a:xfrm>
          <a:prstGeom prst="rect">
            <a:avLst/>
          </a:prstGeom>
          <a:ln>
            <a:solidFill>
              <a:schemeClr val="accent1"/>
            </a:solidFill>
          </a:ln>
          <a:effectLst>
            <a:softEdge rad="12700"/>
          </a:effectLst>
        </p:spPr>
      </p:pic>
      <p:cxnSp>
        <p:nvCxnSpPr>
          <p:cNvPr id="26" name="Straight Arrow Connector 25">
            <a:extLst>
              <a:ext uri="{FF2B5EF4-FFF2-40B4-BE49-F238E27FC236}">
                <a16:creationId xmlns:a16="http://schemas.microsoft.com/office/drawing/2014/main" id="{756D583E-915D-2907-165D-8F9699E685D4}"/>
              </a:ext>
            </a:extLst>
          </p:cNvPr>
          <p:cNvCxnSpPr/>
          <p:nvPr/>
        </p:nvCxnSpPr>
        <p:spPr>
          <a:xfrm>
            <a:off x="4005943" y="3260520"/>
            <a:ext cx="1420320" cy="26316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90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3DB192-D4DA-54D8-8D20-2B7441F6CC61}"/>
              </a:ext>
            </a:extLst>
          </p:cNvPr>
          <p:cNvSpPr>
            <a:spLocks noGrp="1"/>
          </p:cNvSpPr>
          <p:nvPr>
            <p:ph type="body" sz="quarter" idx="13"/>
          </p:nvPr>
        </p:nvSpPr>
        <p:spPr/>
        <p:txBody>
          <a:bodyPr lIns="91440" tIns="45720" rIns="91440" bIns="45720" anchor="t"/>
          <a:lstStyle/>
          <a:p>
            <a:r>
              <a:rPr lang="en-US" dirty="0">
                <a:latin typeface="Impact"/>
              </a:rPr>
              <a:t>Standardization &amp; Metadata</a:t>
            </a:r>
            <a:endParaRPr lang="en-US" dirty="0"/>
          </a:p>
        </p:txBody>
      </p:sp>
      <p:sp>
        <p:nvSpPr>
          <p:cNvPr id="4" name="Text Placeholder 3">
            <a:extLst>
              <a:ext uri="{FF2B5EF4-FFF2-40B4-BE49-F238E27FC236}">
                <a16:creationId xmlns:a16="http://schemas.microsoft.com/office/drawing/2014/main" id="{A653CCAC-744B-D328-899F-5F999C0CAB48}"/>
              </a:ext>
            </a:extLst>
          </p:cNvPr>
          <p:cNvSpPr>
            <a:spLocks noGrp="1"/>
          </p:cNvSpPr>
          <p:nvPr>
            <p:ph type="body" sz="quarter" idx="15"/>
          </p:nvPr>
        </p:nvSpPr>
        <p:spPr>
          <a:xfrm>
            <a:off x="887183" y="3359831"/>
            <a:ext cx="4846579" cy="2878138"/>
          </a:xfrm>
        </p:spPr>
        <p:txBody>
          <a:bodyPr lIns="91440" tIns="45720" rIns="91440" bIns="45720" anchor="t"/>
          <a:lstStyle/>
          <a:p>
            <a:pPr marL="0" indent="0" algn="ctr">
              <a:buNone/>
            </a:pPr>
            <a:r>
              <a:rPr lang="en-US" sz="1600" b="1" dirty="0">
                <a:latin typeface="Avenir Book"/>
              </a:rPr>
              <a:t>Standardized Data File Names</a:t>
            </a:r>
            <a:endParaRPr lang="en-US" b="1"/>
          </a:p>
          <a:p>
            <a:r>
              <a:rPr lang="en-US" sz="1600" dirty="0">
                <a:latin typeface="Avenir Book"/>
              </a:rPr>
              <a:t>Coverage: Virginia</a:t>
            </a:r>
          </a:p>
          <a:p>
            <a:r>
              <a:rPr lang="en-US" sz="1600" dirty="0">
                <a:latin typeface="Avenir Book"/>
              </a:rPr>
              <a:t>Resolutions: Health Districts, Counties, Census Tracts</a:t>
            </a:r>
          </a:p>
          <a:p>
            <a:r>
              <a:rPr lang="en-US" sz="1600" dirty="0">
                <a:latin typeface="Avenir Book"/>
              </a:rPr>
              <a:t>Years: 2015 – 2021</a:t>
            </a:r>
            <a:endParaRPr lang="en-US" sz="1600" dirty="0"/>
          </a:p>
          <a:p>
            <a:r>
              <a:rPr lang="en-US" sz="1600" dirty="0">
                <a:latin typeface="Avenir Book"/>
              </a:rPr>
              <a:t>Topic: Employment Access Index</a:t>
            </a:r>
            <a:endParaRPr lang="en-US" sz="1600" dirty="0"/>
          </a:p>
        </p:txBody>
      </p:sp>
      <p:pic>
        <p:nvPicPr>
          <p:cNvPr id="5" name="Picture 4" descr="A screenshot of a computer&#10;&#10;Description automatically generated">
            <a:extLst>
              <a:ext uri="{FF2B5EF4-FFF2-40B4-BE49-F238E27FC236}">
                <a16:creationId xmlns:a16="http://schemas.microsoft.com/office/drawing/2014/main" id="{7A8A057C-6582-3416-CD4B-F708B57E4FEC}"/>
              </a:ext>
            </a:extLst>
          </p:cNvPr>
          <p:cNvPicPr>
            <a:picLocks noChangeAspect="1"/>
          </p:cNvPicPr>
          <p:nvPr/>
        </p:nvPicPr>
        <p:blipFill rotWithShape="1">
          <a:blip r:embed="rId2"/>
          <a:srcRect r="46910" b="284"/>
          <a:stretch/>
        </p:blipFill>
        <p:spPr>
          <a:xfrm>
            <a:off x="886691" y="1176088"/>
            <a:ext cx="4649268" cy="1868849"/>
          </a:xfrm>
          <a:prstGeom prst="rect">
            <a:avLst/>
          </a:prstGeom>
          <a:ln>
            <a:solidFill>
              <a:srgbClr val="4472C4"/>
            </a:solidFill>
          </a:ln>
        </p:spPr>
      </p:pic>
      <p:sp>
        <p:nvSpPr>
          <p:cNvPr id="6" name="Arrow: Down 5">
            <a:extLst>
              <a:ext uri="{FF2B5EF4-FFF2-40B4-BE49-F238E27FC236}">
                <a16:creationId xmlns:a16="http://schemas.microsoft.com/office/drawing/2014/main" id="{F8458B1A-983F-D991-EB61-7A97380BDD28}"/>
              </a:ext>
            </a:extLst>
          </p:cNvPr>
          <p:cNvSpPr/>
          <p:nvPr/>
        </p:nvSpPr>
        <p:spPr>
          <a:xfrm>
            <a:off x="2207490" y="2858655"/>
            <a:ext cx="346364" cy="3694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text on a white background&#10;&#10;Description automatically generated">
            <a:extLst>
              <a:ext uri="{FF2B5EF4-FFF2-40B4-BE49-F238E27FC236}">
                <a16:creationId xmlns:a16="http://schemas.microsoft.com/office/drawing/2014/main" id="{6470958D-97FE-3A86-B364-F36B05F4F44B}"/>
              </a:ext>
            </a:extLst>
          </p:cNvPr>
          <p:cNvPicPr>
            <a:picLocks noChangeAspect="1"/>
          </p:cNvPicPr>
          <p:nvPr/>
        </p:nvPicPr>
        <p:blipFill rotWithShape="1">
          <a:blip r:embed="rId3"/>
          <a:srcRect r="30526" b="-136"/>
          <a:stretch/>
        </p:blipFill>
        <p:spPr>
          <a:xfrm>
            <a:off x="5684982" y="1142118"/>
            <a:ext cx="5930670" cy="5012492"/>
          </a:xfrm>
          <a:prstGeom prst="rect">
            <a:avLst/>
          </a:prstGeom>
        </p:spPr>
      </p:pic>
      <p:sp>
        <p:nvSpPr>
          <p:cNvPr id="8" name="TextBox 7">
            <a:extLst>
              <a:ext uri="{FF2B5EF4-FFF2-40B4-BE49-F238E27FC236}">
                <a16:creationId xmlns:a16="http://schemas.microsoft.com/office/drawing/2014/main" id="{0F63642F-C3A7-95C5-A80F-A2981C8FB826}"/>
              </a:ext>
            </a:extLst>
          </p:cNvPr>
          <p:cNvSpPr txBox="1"/>
          <p:nvPr/>
        </p:nvSpPr>
        <p:spPr>
          <a:xfrm>
            <a:off x="7195127" y="812799"/>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Avenir Book"/>
                <a:cs typeface="Calibri"/>
              </a:rPr>
              <a:t>Full Metadata Record</a:t>
            </a:r>
            <a:endParaRPr lang="en-US" sz="1600" b="1" dirty="0">
              <a:latin typeface="Avenir Book"/>
            </a:endParaRPr>
          </a:p>
        </p:txBody>
      </p:sp>
      <p:sp>
        <p:nvSpPr>
          <p:cNvPr id="9" name="Arrow: Right 8">
            <a:extLst>
              <a:ext uri="{FF2B5EF4-FFF2-40B4-BE49-F238E27FC236}">
                <a16:creationId xmlns:a16="http://schemas.microsoft.com/office/drawing/2014/main" id="{8F3D43BA-6E49-FC05-56FC-D23A29ECBB3E}"/>
              </a:ext>
            </a:extLst>
          </p:cNvPr>
          <p:cNvSpPr/>
          <p:nvPr/>
        </p:nvSpPr>
        <p:spPr>
          <a:xfrm>
            <a:off x="5357090" y="2138217"/>
            <a:ext cx="434110" cy="3186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3C7E26A-D89E-1731-179A-5157F5CE86CC}"/>
              </a:ext>
            </a:extLst>
          </p:cNvPr>
          <p:cNvSpPr txBox="1"/>
          <p:nvPr/>
        </p:nvSpPr>
        <p:spPr>
          <a:xfrm>
            <a:off x="1145309" y="5597236"/>
            <a:ext cx="39254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Avenir Book"/>
              </a:rPr>
              <a:t>Everything must be both</a:t>
            </a:r>
            <a:endParaRPr lang="en-US" dirty="0">
              <a:latin typeface="Calibri" panose="020F0502020204030204"/>
              <a:cs typeface="Calibri" panose="020F0502020204030204"/>
            </a:endParaRPr>
          </a:p>
          <a:p>
            <a:pPr algn="ctr"/>
            <a:r>
              <a:rPr lang="en-US" sz="1600" b="1" u="sng" dirty="0">
                <a:latin typeface="Avenir Book"/>
              </a:rPr>
              <a:t>Machine </a:t>
            </a:r>
            <a:r>
              <a:rPr lang="en-US" sz="1600" b="1" dirty="0">
                <a:latin typeface="Avenir Book"/>
              </a:rPr>
              <a:t>AND </a:t>
            </a:r>
            <a:r>
              <a:rPr lang="en-US" sz="1600" b="1" u="sng" dirty="0">
                <a:latin typeface="Avenir Book"/>
              </a:rPr>
              <a:t>Human </a:t>
            </a:r>
            <a:r>
              <a:rPr lang="en-US" sz="1600" b="1" dirty="0">
                <a:latin typeface="Avenir Book"/>
              </a:rPr>
              <a:t>Readable</a:t>
            </a:r>
            <a:endParaRPr lang="en-US" dirty="0">
              <a:cs typeface="Calibri"/>
            </a:endParaRPr>
          </a:p>
        </p:txBody>
      </p:sp>
    </p:spTree>
    <p:extLst>
      <p:ext uri="{BB962C8B-B14F-4D97-AF65-F5344CB8AC3E}">
        <p14:creationId xmlns:p14="http://schemas.microsoft.com/office/powerpoint/2010/main" val="2017526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DAB2EA-63FB-EBFF-5B1E-95005B4064A4}"/>
              </a:ext>
            </a:extLst>
          </p:cNvPr>
          <p:cNvSpPr>
            <a:spLocks noGrp="1"/>
          </p:cNvSpPr>
          <p:nvPr>
            <p:ph type="body" sz="quarter" idx="13"/>
          </p:nvPr>
        </p:nvSpPr>
        <p:spPr/>
        <p:txBody>
          <a:bodyPr>
            <a:normAutofit lnSpcReduction="10000"/>
          </a:bodyPr>
          <a:lstStyle/>
          <a:p>
            <a:r>
              <a:rPr lang="en-US"/>
              <a:t>Rich and accessible metadata</a:t>
            </a:r>
          </a:p>
        </p:txBody>
      </p:sp>
      <p:sp>
        <p:nvSpPr>
          <p:cNvPr id="4" name="Text Placeholder 3">
            <a:extLst>
              <a:ext uri="{FF2B5EF4-FFF2-40B4-BE49-F238E27FC236}">
                <a16:creationId xmlns:a16="http://schemas.microsoft.com/office/drawing/2014/main" id="{A1ADF69B-625F-1380-88D9-ECAA1B4134C7}"/>
              </a:ext>
            </a:extLst>
          </p:cNvPr>
          <p:cNvSpPr>
            <a:spLocks noGrp="1"/>
          </p:cNvSpPr>
          <p:nvPr>
            <p:ph type="body" sz="quarter" idx="15"/>
          </p:nvPr>
        </p:nvSpPr>
        <p:spPr>
          <a:xfrm>
            <a:off x="8339591" y="1429432"/>
            <a:ext cx="3074533" cy="4808537"/>
          </a:xfrm>
        </p:spPr>
        <p:txBody>
          <a:bodyPr lIns="91440" tIns="45720" rIns="91440" bIns="45720" anchor="t"/>
          <a:lstStyle/>
          <a:p>
            <a:r>
              <a:rPr lang="en-US" dirty="0">
                <a:latin typeface="Avenir Book"/>
              </a:rPr>
              <a:t>Describes and contextualizes measures on the dashboard</a:t>
            </a:r>
          </a:p>
          <a:p>
            <a:r>
              <a:rPr lang="en-US" dirty="0">
                <a:latin typeface="Avenir Book"/>
              </a:rPr>
              <a:t>Adheres to standards (e.g. FAIR)</a:t>
            </a:r>
          </a:p>
          <a:p>
            <a:r>
              <a:rPr lang="en-US">
                <a:latin typeface="Avenir Book"/>
              </a:rPr>
              <a:t>Openly available online as an </a:t>
            </a:r>
            <a:r>
              <a:rPr lang="en-US" dirty="0">
                <a:latin typeface="Avenir Book"/>
                <a:hlinkClick r:id="rId2"/>
              </a:rPr>
              <a:t>interactive data library</a:t>
            </a:r>
          </a:p>
        </p:txBody>
      </p:sp>
      <p:pic>
        <p:nvPicPr>
          <p:cNvPr id="6" name="Picture 5" descr="Table&#10;&#10;Description automatically generated">
            <a:extLst>
              <a:ext uri="{FF2B5EF4-FFF2-40B4-BE49-F238E27FC236}">
                <a16:creationId xmlns:a16="http://schemas.microsoft.com/office/drawing/2014/main" id="{35319E31-5A07-8B8F-44DE-C18D87CEA38A}"/>
              </a:ext>
            </a:extLst>
          </p:cNvPr>
          <p:cNvPicPr>
            <a:picLocks noChangeAspect="1"/>
          </p:cNvPicPr>
          <p:nvPr/>
        </p:nvPicPr>
        <p:blipFill>
          <a:blip r:embed="rId3"/>
          <a:stretch>
            <a:fillRect/>
          </a:stretch>
        </p:blipFill>
        <p:spPr>
          <a:xfrm>
            <a:off x="590991" y="1080184"/>
            <a:ext cx="7748601" cy="4547730"/>
          </a:xfrm>
          <a:prstGeom prst="rect">
            <a:avLst/>
          </a:prstGeom>
        </p:spPr>
      </p:pic>
    </p:spTree>
    <p:extLst>
      <p:ext uri="{BB962C8B-B14F-4D97-AF65-F5344CB8AC3E}">
        <p14:creationId xmlns:p14="http://schemas.microsoft.com/office/powerpoint/2010/main" val="474312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1F06F7-B835-8A4F-99F6-7D3580D50B7B}"/>
              </a:ext>
            </a:extLst>
          </p:cNvPr>
          <p:cNvSpPr>
            <a:spLocks noGrp="1"/>
          </p:cNvSpPr>
          <p:nvPr>
            <p:ph type="body" sz="quarter" idx="13"/>
          </p:nvPr>
        </p:nvSpPr>
        <p:spPr/>
        <p:txBody>
          <a:bodyPr/>
          <a:lstStyle/>
          <a:p>
            <a:r>
              <a:rPr lang="en-US"/>
              <a:t>DATA COMMONS GENERALIZED ARCHITECTURE</a:t>
            </a:r>
          </a:p>
        </p:txBody>
      </p:sp>
      <p:sp>
        <p:nvSpPr>
          <p:cNvPr id="3" name="Text Placeholder 2">
            <a:extLst>
              <a:ext uri="{FF2B5EF4-FFF2-40B4-BE49-F238E27FC236}">
                <a16:creationId xmlns:a16="http://schemas.microsoft.com/office/drawing/2014/main" id="{94A0F13A-CC2C-004D-BA66-9EC86723BDDB}"/>
              </a:ext>
            </a:extLst>
          </p:cNvPr>
          <p:cNvSpPr>
            <a:spLocks noGrp="1"/>
          </p:cNvSpPr>
          <p:nvPr>
            <p:ph type="body" sz="quarter" idx="14"/>
          </p:nvPr>
        </p:nvSpPr>
        <p:spPr>
          <a:xfrm>
            <a:off x="887183" y="838884"/>
            <a:ext cx="10575925" cy="824378"/>
          </a:xfrm>
        </p:spPr>
        <p:txBody>
          <a:bodyPr/>
          <a:lstStyle/>
          <a:p>
            <a:r>
              <a:rPr lang="en-US"/>
              <a:t>Lightweight JavaScript WebApp, Universally Deployable:</a:t>
            </a:r>
            <a:br>
              <a:rPr lang="en-US"/>
            </a:br>
            <a:r>
              <a:rPr lang="en-US" sz="1200"/>
              <a:t>NCR Version (this project: beta): </a:t>
            </a:r>
            <a:r>
              <a:rPr lang="en-US" sz="1200">
                <a:hlinkClick r:id="rId2"/>
              </a:rPr>
              <a:t>https://uva-bi-sdad.github.io/capital_region/</a:t>
            </a:r>
            <a:br>
              <a:rPr lang="en-US" sz="1200"/>
            </a:br>
            <a:r>
              <a:rPr lang="en-US" sz="1200"/>
              <a:t>VDH Version (sister project: deployed, VA only): </a:t>
            </a:r>
            <a:r>
              <a:rPr lang="en-US" sz="1200">
                <a:hlinkClick r:id="rId3"/>
              </a:rPr>
              <a:t>https://uva-bi-sdad.github.io/vdh_rural_health_site/</a:t>
            </a:r>
            <a:endParaRPr lang="en-US" sz="1200"/>
          </a:p>
          <a:p>
            <a:endParaRPr lang="en-US"/>
          </a:p>
          <a:p>
            <a:endParaRPr lang="en-US"/>
          </a:p>
          <a:p>
            <a:endParaRPr lang="en-US"/>
          </a:p>
        </p:txBody>
      </p:sp>
      <p:pic>
        <p:nvPicPr>
          <p:cNvPr id="8" name="Picture 7" descr="Graphical user interface, diagram, application&#10;&#10;Description automatically generated">
            <a:extLst>
              <a:ext uri="{FF2B5EF4-FFF2-40B4-BE49-F238E27FC236}">
                <a16:creationId xmlns:a16="http://schemas.microsoft.com/office/drawing/2014/main" id="{8557B18E-C59D-7843-9C7E-9EFE8D67062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57910" y="1836857"/>
            <a:ext cx="4938090" cy="4326666"/>
          </a:xfrm>
          <a:prstGeom prst="rect">
            <a:avLst/>
          </a:prstGeom>
          <a:ln>
            <a:solidFill>
              <a:schemeClr val="accent1"/>
            </a:solidFill>
          </a:ln>
          <a:effectLst>
            <a:outerShdw blurRad="50800" dist="38100" dir="2700000" algn="tl" rotWithShape="0">
              <a:prstClr val="black">
                <a:alpha val="40000"/>
              </a:prstClr>
            </a:outerShdw>
          </a:effectLst>
        </p:spPr>
      </p:pic>
      <p:pic>
        <p:nvPicPr>
          <p:cNvPr id="9" name="Picture 8" descr="Graphical user interface, application&#10;&#10;Description automatically generated">
            <a:extLst>
              <a:ext uri="{FF2B5EF4-FFF2-40B4-BE49-F238E27FC236}">
                <a16:creationId xmlns:a16="http://schemas.microsoft.com/office/drawing/2014/main" id="{E095261C-D171-C943-9F8B-D091CF9576F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667848" y="1922296"/>
            <a:ext cx="4021910" cy="3378405"/>
          </a:xfrm>
          <a:prstGeom prst="rect">
            <a:avLst/>
          </a:prstGeom>
          <a:ln>
            <a:solidFill>
              <a:schemeClr val="accent1"/>
            </a:solidFill>
          </a:ln>
          <a:effectLst>
            <a:outerShdw blurRad="50800" dist="38100" dir="2700000" algn="tl" rotWithShape="0">
              <a:prstClr val="black">
                <a:alpha val="40000"/>
              </a:prstClr>
            </a:outerShdw>
          </a:effectLst>
        </p:spPr>
      </p:pic>
      <p:pic>
        <p:nvPicPr>
          <p:cNvPr id="10" name="Picture 9" descr="Graphical user interface, diagram&#10;&#10;Description automatically generated">
            <a:extLst>
              <a:ext uri="{FF2B5EF4-FFF2-40B4-BE49-F238E27FC236}">
                <a16:creationId xmlns:a16="http://schemas.microsoft.com/office/drawing/2014/main" id="{D11650AF-F307-7044-AA0E-1EEF87A6416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162151" y="3663228"/>
            <a:ext cx="2933502" cy="2269178"/>
          </a:xfrm>
          <a:prstGeom prst="rect">
            <a:avLst/>
          </a:prstGeom>
          <a:ln>
            <a:solidFill>
              <a:schemeClr val="accent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81466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9E9CCB-2B79-BC4A-A13E-F5DF4BF9B4B2}"/>
              </a:ext>
            </a:extLst>
          </p:cNvPr>
          <p:cNvSpPr>
            <a:spLocks noGrp="1"/>
          </p:cNvSpPr>
          <p:nvPr>
            <p:ph type="body" sz="quarter" idx="13"/>
          </p:nvPr>
        </p:nvSpPr>
        <p:spPr/>
        <p:txBody>
          <a:bodyPr/>
          <a:lstStyle/>
          <a:p>
            <a:r>
              <a:rPr lang="en-US"/>
              <a:t>Two Data Commons Projects</a:t>
            </a:r>
          </a:p>
        </p:txBody>
      </p:sp>
      <p:sp>
        <p:nvSpPr>
          <p:cNvPr id="3" name="Text Placeholder 2">
            <a:extLst>
              <a:ext uri="{FF2B5EF4-FFF2-40B4-BE49-F238E27FC236}">
                <a16:creationId xmlns:a16="http://schemas.microsoft.com/office/drawing/2014/main" id="{0E8C1EA1-7F69-EB42-B4C8-3A0F4D586BB6}"/>
              </a:ext>
            </a:extLst>
          </p:cNvPr>
          <p:cNvSpPr>
            <a:spLocks noGrp="1"/>
          </p:cNvSpPr>
          <p:nvPr>
            <p:ph type="body" sz="quarter" idx="14"/>
          </p:nvPr>
        </p:nvSpPr>
        <p:spPr>
          <a:xfrm>
            <a:off x="887183" y="838884"/>
            <a:ext cx="10575925" cy="1036808"/>
          </a:xfrm>
        </p:spPr>
        <p:txBody>
          <a:bodyPr/>
          <a:lstStyle/>
          <a:p>
            <a:r>
              <a:rPr lang="en-US" sz="1400"/>
              <a:t>1. Social Impact Data Commons to Inform Equitable Growth (Mastercard Center for Inclusive Growth) – National Capital Region</a:t>
            </a:r>
          </a:p>
          <a:p>
            <a:r>
              <a:rPr lang="en-US" sz="1400"/>
              <a:t>2. Data Commons to Support Department of Health Strategic Plans (Virginia Department of Health) – State of Virginia</a:t>
            </a:r>
          </a:p>
          <a:p>
            <a:r>
              <a:rPr lang="en-US" sz="1400" b="1"/>
              <a:t>Both applying the CLD Process to discover data needs</a:t>
            </a:r>
          </a:p>
        </p:txBody>
      </p:sp>
      <p:pic>
        <p:nvPicPr>
          <p:cNvPr id="6" name="Picture 5" descr="Graphical user interface&#10;&#10;Description automatically generated">
            <a:extLst>
              <a:ext uri="{FF2B5EF4-FFF2-40B4-BE49-F238E27FC236}">
                <a16:creationId xmlns:a16="http://schemas.microsoft.com/office/drawing/2014/main" id="{1AC0A7E7-C530-454F-B1B8-7D579D23D0BD}"/>
              </a:ext>
            </a:extLst>
          </p:cNvPr>
          <p:cNvPicPr>
            <a:picLocks noChangeAspect="1"/>
          </p:cNvPicPr>
          <p:nvPr/>
        </p:nvPicPr>
        <p:blipFill>
          <a:blip r:embed="rId2"/>
          <a:stretch>
            <a:fillRect/>
          </a:stretch>
        </p:blipFill>
        <p:spPr>
          <a:xfrm>
            <a:off x="6275755" y="2017351"/>
            <a:ext cx="4791693" cy="3429000"/>
          </a:xfrm>
          <a:prstGeom prst="rect">
            <a:avLst/>
          </a:prstGeom>
          <a:ln>
            <a:solidFill>
              <a:srgbClr val="000D3D"/>
            </a:solidFill>
          </a:ln>
          <a:effectLst>
            <a:outerShdw blurRad="50800" dist="38100" dir="2700000" algn="tl" rotWithShape="0">
              <a:prstClr val="black">
                <a:alpha val="40000"/>
              </a:prstClr>
            </a:outerShdw>
          </a:effectLst>
        </p:spPr>
      </p:pic>
      <p:pic>
        <p:nvPicPr>
          <p:cNvPr id="10" name="Picture 9" descr="Graphical user interface&#10;&#10;Description automatically generated">
            <a:extLst>
              <a:ext uri="{FF2B5EF4-FFF2-40B4-BE49-F238E27FC236}">
                <a16:creationId xmlns:a16="http://schemas.microsoft.com/office/drawing/2014/main" id="{9BB2DCD6-BEEE-064F-A6BA-7BB80057CDA0}"/>
              </a:ext>
            </a:extLst>
          </p:cNvPr>
          <p:cNvPicPr>
            <a:picLocks noChangeAspect="1"/>
          </p:cNvPicPr>
          <p:nvPr/>
        </p:nvPicPr>
        <p:blipFill>
          <a:blip r:embed="rId3"/>
          <a:stretch>
            <a:fillRect/>
          </a:stretch>
        </p:blipFill>
        <p:spPr>
          <a:xfrm>
            <a:off x="1057496" y="2017350"/>
            <a:ext cx="4858750" cy="3429001"/>
          </a:xfrm>
          <a:prstGeom prst="rect">
            <a:avLst/>
          </a:prstGeom>
          <a:ln>
            <a:solidFill>
              <a:srgbClr val="000D3D"/>
            </a:solidFill>
          </a:ln>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94E4D78D-993E-494D-83A8-EB36B48067C2}"/>
              </a:ext>
            </a:extLst>
          </p:cNvPr>
          <p:cNvSpPr/>
          <p:nvPr/>
        </p:nvSpPr>
        <p:spPr>
          <a:xfrm>
            <a:off x="6424351" y="5687978"/>
            <a:ext cx="4494500" cy="338554"/>
          </a:xfrm>
          <a:prstGeom prst="rect">
            <a:avLst/>
          </a:prstGeom>
        </p:spPr>
        <p:txBody>
          <a:bodyPr wrap="none">
            <a:spAutoFit/>
          </a:bodyPr>
          <a:lstStyle/>
          <a:p>
            <a:r>
              <a:rPr lang="en-US" sz="1600"/>
              <a:t>https://uva-bi-sdad.github.io/vdh_rural_health_site</a:t>
            </a:r>
          </a:p>
        </p:txBody>
      </p:sp>
      <p:sp>
        <p:nvSpPr>
          <p:cNvPr id="12" name="Rectangle 11">
            <a:extLst>
              <a:ext uri="{FF2B5EF4-FFF2-40B4-BE49-F238E27FC236}">
                <a16:creationId xmlns:a16="http://schemas.microsoft.com/office/drawing/2014/main" id="{CC3AD3C5-59E1-8443-A42E-D20D12D07090}"/>
              </a:ext>
            </a:extLst>
          </p:cNvPr>
          <p:cNvSpPr/>
          <p:nvPr/>
        </p:nvSpPr>
        <p:spPr>
          <a:xfrm>
            <a:off x="1566954" y="5680562"/>
            <a:ext cx="3839834" cy="338554"/>
          </a:xfrm>
          <a:prstGeom prst="rect">
            <a:avLst/>
          </a:prstGeom>
        </p:spPr>
        <p:txBody>
          <a:bodyPr wrap="none">
            <a:spAutoFit/>
          </a:bodyPr>
          <a:lstStyle/>
          <a:p>
            <a:r>
              <a:rPr lang="en-US" sz="1600"/>
              <a:t>https://uva-bi-sdad.github.io/capital_region</a:t>
            </a:r>
          </a:p>
        </p:txBody>
      </p:sp>
    </p:spTree>
    <p:extLst>
      <p:ext uri="{BB962C8B-B14F-4D97-AF65-F5344CB8AC3E}">
        <p14:creationId xmlns:p14="http://schemas.microsoft.com/office/powerpoint/2010/main" val="2513641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9D44E0-7C8B-5B76-1698-192EEB428492}"/>
              </a:ext>
            </a:extLst>
          </p:cNvPr>
          <p:cNvSpPr>
            <a:spLocks noGrp="1"/>
          </p:cNvSpPr>
          <p:nvPr>
            <p:ph type="body" sz="quarter" idx="13"/>
          </p:nvPr>
        </p:nvSpPr>
        <p:spPr/>
        <p:txBody>
          <a:bodyPr/>
          <a:lstStyle/>
          <a:p>
            <a:r>
              <a:rPr lang="en-US" dirty="0"/>
              <a:t>Specific artifacts of the SIDC project</a:t>
            </a:r>
          </a:p>
        </p:txBody>
      </p:sp>
      <p:sp>
        <p:nvSpPr>
          <p:cNvPr id="4" name="Text Placeholder 3">
            <a:extLst>
              <a:ext uri="{FF2B5EF4-FFF2-40B4-BE49-F238E27FC236}">
                <a16:creationId xmlns:a16="http://schemas.microsoft.com/office/drawing/2014/main" id="{2A39AE7C-05C1-DB97-A940-FAA438E5CE18}"/>
              </a:ext>
            </a:extLst>
          </p:cNvPr>
          <p:cNvSpPr>
            <a:spLocks noGrp="1"/>
          </p:cNvSpPr>
          <p:nvPr>
            <p:ph type="body" sz="quarter" idx="15"/>
          </p:nvPr>
        </p:nvSpPr>
        <p:spPr>
          <a:xfrm>
            <a:off x="887183" y="1007419"/>
            <a:ext cx="10526942" cy="5350293"/>
          </a:xfrm>
        </p:spPr>
        <p:txBody>
          <a:bodyPr/>
          <a:lstStyle/>
          <a:p>
            <a:pPr>
              <a:lnSpc>
                <a:spcPct val="107000"/>
              </a:lnSpc>
              <a:spcBef>
                <a:spcPts val="0"/>
              </a:spcBef>
              <a:spcAft>
                <a:spcPts val="600"/>
              </a:spcAft>
            </a:pP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An </a:t>
            </a:r>
            <a:r>
              <a:rPr lang="en-US" sz="1400" u="sng"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Open-Source Data Dashboard </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(License: CCA 4.0). A lightweight JavaScript-based data dashboard that can run on low-cost/free hosting services like GitHub.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NCR Site</a:t>
            </a:r>
            <a:r>
              <a:rPr lang="en-US" sz="1800" dirty="0">
                <a:latin typeface="Calibri" panose="020F0502020204030204" pitchFamily="34" charset="0"/>
                <a:ea typeface="Arial" panose="020B0604020202020204" pitchFamily="34" charset="0"/>
                <a:cs typeface="Times New Roman" panose="02020603050405020304" pitchFamily="18" charset="0"/>
              </a:rPr>
              <a:t> (</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2"/>
              </a:rPr>
              <a:t>https://uva-bi-sdad.github.io/capital_region</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VDH Site</a:t>
            </a:r>
            <a:r>
              <a:rPr lang="en-US" sz="1800" dirty="0">
                <a:latin typeface="Calibri" panose="020F0502020204030204" pitchFamily="34" charset="0"/>
                <a:ea typeface="Arial" panose="020B0604020202020204" pitchFamily="34" charset="0"/>
                <a:cs typeface="Times New Roman" panose="02020603050405020304" pitchFamily="18" charset="0"/>
              </a:rPr>
              <a:t> (</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3"/>
              </a:rPr>
              <a:t>https://uva-bi-sdad.github.io/vdh_rural_health_site</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600"/>
              </a:spcAft>
            </a:pPr>
            <a:r>
              <a:rPr lang="en-US" sz="1400" u="sng"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 Open-Source Data Repositories </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(License: CCA 4.0). Over 150 datasets are currently hosted in 11 repositories freely accessible via GitHub. (</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4"/>
              </a:rPr>
              <a:t>https://github.com/uva-bi-sdad/sdc.all/tree/main/data</a:t>
            </a: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600"/>
              </a:spcAft>
            </a:pPr>
            <a:r>
              <a:rPr lang="en-US" sz="1400" u="sng"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Open-Source Dataset Tools </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(License: CCA 4.0). Multiple R Packages used to create localized datasets.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Catchment</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 An R package to calculate spatial access and availability 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Bef>
                <a:spcPts val="0"/>
              </a:spcBef>
              <a:spcAft>
                <a:spcPts val="600"/>
              </a:spcAft>
            </a:pP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5"/>
              </a:rPr>
              <a:t>https://uva-bi-sdad.github.io/catchment/articles/introduction.html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Redistribute</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 An R package to redistribute population data to alternate geographies.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Bef>
                <a:spcPts val="0"/>
              </a:spcBef>
              <a:spcAft>
                <a:spcPts val="600"/>
              </a:spcAft>
            </a:pP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6"/>
              </a:rPr>
              <a:t>https://uva-bi-sdad.github.io/redistribute/articles/introduction.html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Food Security Calculator (Sub-County) </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Created, in process of packaging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Census-tract-level family budget calculator</a:t>
            </a: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 Created, in process of packaging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600"/>
              </a:spcAft>
            </a:pPr>
            <a:r>
              <a:rPr lang="en-US" sz="1400" u="sng"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Data Stories and Walkthroughs</a:t>
            </a:r>
            <a:endPar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lvl="1">
              <a:lnSpc>
                <a:spcPct val="107000"/>
              </a:lnSpc>
              <a:spcAft>
                <a:spcPts val="600"/>
              </a:spcAft>
            </a:pP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7"/>
              </a:rPr>
              <a:t>https://uva-bi-sdad.github.io/sdc.intro/health_equity.html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8"/>
              </a:rPr>
              <a:t>https://uva-bi-sdad.github.io/sdc.intro/broadband.html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spcAft>
                <a:spcPts val="600"/>
              </a:spcAft>
            </a:pPr>
            <a:r>
              <a:rPr lang="en-US" sz="1400" u="sng" dirty="0">
                <a:solidFill>
                  <a:srgbClr val="0563C1"/>
                </a:solidFill>
                <a:effectLst/>
                <a:latin typeface="Arial" panose="020B0604020202020204" pitchFamily="34" charset="0"/>
                <a:ea typeface="Arial" panose="020B0604020202020204" pitchFamily="34" charset="0"/>
                <a:cs typeface="Times New Roman" panose="02020603050405020304" pitchFamily="18" charset="0"/>
                <a:hlinkClick r:id="rId9"/>
              </a:rPr>
              <a:t>https://uva-bi-sdad.github.io/sdc.intro/economic_diversity.html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3738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DB95CC-19E0-7763-B3BF-0D0F165F847F}"/>
              </a:ext>
            </a:extLst>
          </p:cNvPr>
          <p:cNvSpPr>
            <a:spLocks noGrp="1"/>
          </p:cNvSpPr>
          <p:nvPr>
            <p:ph type="body" sz="quarter" idx="13"/>
          </p:nvPr>
        </p:nvSpPr>
        <p:spPr/>
        <p:txBody>
          <a:bodyPr vert="horz" lIns="91440" tIns="45720" rIns="91440" bIns="45720" rtlCol="0" anchor="t">
            <a:normAutofit lnSpcReduction="10000"/>
          </a:bodyPr>
          <a:lstStyle/>
          <a:p>
            <a:r>
              <a:rPr lang="en-US">
                <a:latin typeface="Impact"/>
              </a:rPr>
              <a:t>Future Challenges/Opportunities</a:t>
            </a:r>
            <a:endParaRPr lang="en-US"/>
          </a:p>
        </p:txBody>
      </p:sp>
      <p:sp>
        <p:nvSpPr>
          <p:cNvPr id="4" name="Text Placeholder 3">
            <a:extLst>
              <a:ext uri="{FF2B5EF4-FFF2-40B4-BE49-F238E27FC236}">
                <a16:creationId xmlns:a16="http://schemas.microsoft.com/office/drawing/2014/main" id="{64988B6E-1330-37D7-2CE4-2BC051BCC766}"/>
              </a:ext>
            </a:extLst>
          </p:cNvPr>
          <p:cNvSpPr>
            <a:spLocks noGrp="1"/>
          </p:cNvSpPr>
          <p:nvPr>
            <p:ph type="body" sz="quarter" idx="15"/>
          </p:nvPr>
        </p:nvSpPr>
        <p:spPr/>
        <p:txBody>
          <a:bodyPr vert="horz" lIns="91440" tIns="45720" rIns="91440" bIns="45720" rtlCol="0" anchor="t">
            <a:normAutofit/>
          </a:bodyPr>
          <a:lstStyle/>
          <a:p>
            <a:r>
              <a:rPr lang="en-US" sz="3200">
                <a:latin typeface="Avenir Book"/>
              </a:rPr>
              <a:t>Continue Expansion of Data Commons into New Policy Areas and New Geographies (Nationwide)</a:t>
            </a:r>
          </a:p>
          <a:p>
            <a:r>
              <a:rPr lang="en-US" sz="3200">
                <a:latin typeface="Avenir Book"/>
              </a:rPr>
              <a:t>Create New Policy Relevant Indicators</a:t>
            </a:r>
          </a:p>
          <a:p>
            <a:r>
              <a:rPr lang="en-US" sz="3200">
                <a:latin typeface="Avenir Book"/>
              </a:rPr>
              <a:t>Maintain Data Commons on an Ongoing Basis</a:t>
            </a:r>
            <a:endParaRPr lang="en-US" sz="3200"/>
          </a:p>
        </p:txBody>
      </p:sp>
    </p:spTree>
    <p:extLst>
      <p:ext uri="{BB962C8B-B14F-4D97-AF65-F5344CB8AC3E}">
        <p14:creationId xmlns:p14="http://schemas.microsoft.com/office/powerpoint/2010/main" val="4067666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0059B-68FF-9041-8AE1-408CACA2018D}"/>
              </a:ext>
            </a:extLst>
          </p:cNvPr>
          <p:cNvSpPr>
            <a:spLocks noGrp="1"/>
          </p:cNvSpPr>
          <p:nvPr>
            <p:ph type="title"/>
          </p:nvPr>
        </p:nvSpPr>
        <p:spPr/>
        <p:txBody>
          <a:bodyPr/>
          <a:lstStyle/>
          <a:p>
            <a:r>
              <a:rPr lang="en-US"/>
              <a:t>Project Information &amp; Contacts</a:t>
            </a:r>
          </a:p>
        </p:txBody>
      </p:sp>
      <p:sp>
        <p:nvSpPr>
          <p:cNvPr id="4" name="Content Placeholder 3">
            <a:extLst>
              <a:ext uri="{FF2B5EF4-FFF2-40B4-BE49-F238E27FC236}">
                <a16:creationId xmlns:a16="http://schemas.microsoft.com/office/drawing/2014/main" id="{F29D3D6D-58F6-7E40-8D7F-72BD7E3FA097}"/>
              </a:ext>
            </a:extLst>
          </p:cNvPr>
          <p:cNvSpPr txBox="1">
            <a:spLocks noGrp="1"/>
          </p:cNvSpPr>
          <p:nvPr>
            <p:ph idx="1"/>
          </p:nvPr>
        </p:nvSpPr>
        <p:spPr>
          <a:xfrm>
            <a:off x="838200" y="1825625"/>
            <a:ext cx="10515600" cy="4378122"/>
          </a:xfrm>
          <a:prstGeom prst="rect">
            <a:avLst/>
          </a:prstGeom>
          <a:noFill/>
        </p:spPr>
        <p:txBody>
          <a:bodyPr vert="horz" wrap="square" lIns="91440" tIns="45720" rIns="91440" bIns="45720" rtlCol="0" anchor="t">
            <a:spAutoFit/>
          </a:bodyPr>
          <a:lstStyle/>
          <a:p>
            <a:r>
              <a:rPr lang="en-US" sz="2400" dirty="0"/>
              <a:t>Project Information: </a:t>
            </a:r>
          </a:p>
          <a:p>
            <a:pPr lvl="1"/>
            <a:r>
              <a:rPr lang="en-US" sz="2000" dirty="0">
                <a:hlinkClick r:id="rId2"/>
              </a:rPr>
              <a:t>https://uva-bi-sdad.github.io/sdc.intro</a:t>
            </a:r>
            <a:endParaRPr lang="en-US" sz="2000" dirty="0"/>
          </a:p>
          <a:p>
            <a:r>
              <a:rPr lang="en-US" sz="2400" dirty="0"/>
              <a:t>NCR Dashboard: </a:t>
            </a:r>
            <a:endParaRPr lang="en-US" sz="2400" dirty="0">
              <a:cs typeface="Calibri"/>
            </a:endParaRPr>
          </a:p>
          <a:p>
            <a:pPr lvl="1"/>
            <a:r>
              <a:rPr lang="en-US" sz="2000" dirty="0">
                <a:hlinkClick r:id="rId3"/>
              </a:rPr>
              <a:t>https://uva-bi-sdad.github.io/capital_region</a:t>
            </a:r>
            <a:endParaRPr lang="en-US" sz="2000" dirty="0"/>
          </a:p>
          <a:p>
            <a:r>
              <a:rPr lang="en-US" sz="2400" dirty="0"/>
              <a:t>CLD3 Process: </a:t>
            </a:r>
            <a:endParaRPr lang="en-US" sz="2400" dirty="0">
              <a:cs typeface="Calibri"/>
            </a:endParaRPr>
          </a:p>
          <a:p>
            <a:pPr lvl="1"/>
            <a:r>
              <a:rPr lang="en-US" sz="2000" dirty="0">
                <a:hlinkClick r:id="rId4"/>
              </a:rPr>
              <a:t>https://datascienceforthepublicgood.org/economic-mobility/research-framework</a:t>
            </a:r>
            <a:endParaRPr lang="en-US" sz="2000" dirty="0"/>
          </a:p>
          <a:p>
            <a:r>
              <a:rPr lang="en-US" sz="2400" dirty="0">
                <a:cs typeface="Calibri"/>
              </a:rPr>
              <a:t>SIDC Measures and Metadata</a:t>
            </a:r>
            <a:endParaRPr lang="en-US" sz="2400" dirty="0"/>
          </a:p>
          <a:p>
            <a:pPr lvl="1">
              <a:spcBef>
                <a:spcPts val="1000"/>
              </a:spcBef>
            </a:pPr>
            <a:r>
              <a:rPr lang="en-US" sz="2000" dirty="0">
                <a:cs typeface="Calibri"/>
                <a:hlinkClick r:id="rId5"/>
              </a:rPr>
              <a:t>https://uva-bi-sdad.github.io/sdc.metadata/</a:t>
            </a:r>
          </a:p>
          <a:p>
            <a:r>
              <a:rPr lang="en-US" sz="2400" dirty="0"/>
              <a:t>Contacts:</a:t>
            </a:r>
            <a:endParaRPr lang="en-US" sz="2400" dirty="0">
              <a:cs typeface="Calibri"/>
            </a:endParaRPr>
          </a:p>
          <a:p>
            <a:pPr lvl="1"/>
            <a:r>
              <a:rPr lang="en-US" sz="2000" dirty="0"/>
              <a:t>Dr. Aaron Schroeder, Principal Investigator, ads7fg@virginia.edu</a:t>
            </a:r>
            <a:endParaRPr lang="en-US" sz="2000" dirty="0">
              <a:cs typeface="Calibri"/>
            </a:endParaRPr>
          </a:p>
          <a:p>
            <a:pPr lvl="1"/>
            <a:r>
              <a:rPr lang="en-US" sz="2000" dirty="0"/>
              <a:t>Dr. Stephanie Shipp, Co-Principal Investigator, sss5sc@virginia.edu</a:t>
            </a:r>
            <a:endParaRPr lang="en-US" sz="2000" dirty="0">
              <a:cs typeface="Calibri"/>
            </a:endParaRPr>
          </a:p>
        </p:txBody>
      </p:sp>
    </p:spTree>
    <p:extLst>
      <p:ext uri="{BB962C8B-B14F-4D97-AF65-F5344CB8AC3E}">
        <p14:creationId xmlns:p14="http://schemas.microsoft.com/office/powerpoint/2010/main" val="3668428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48AD9A-70FB-4210-B2A4-E88B92222022}">
  <ds:schemaRefs>
    <ds:schemaRef ds:uri="http://schemas.microsoft.com/sharepoint/v3/contenttype/forms"/>
  </ds:schemaRefs>
</ds:datastoreItem>
</file>

<file path=customXml/itemProps2.xml><?xml version="1.0" encoding="utf-8"?>
<ds:datastoreItem xmlns:ds="http://schemas.openxmlformats.org/officeDocument/2006/customXml" ds:itemID="{6A03D2A0-77B6-44E6-B388-9A482481F4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2657dd-b8a5-4c99-8d51-b0b9d254c989"/>
    <ds:schemaRef ds:uri="5ba80a41-9917-4a22-8f13-cb051ddce6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TotalTime>
  <Words>1197</Words>
  <Application>Microsoft Macintosh PowerPoint</Application>
  <PresentationFormat>Widescreen</PresentationFormat>
  <Paragraphs>116</Paragraphs>
  <Slides>21</Slides>
  <Notes>1</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21</vt:i4>
      </vt:variant>
    </vt:vector>
  </HeadingPairs>
  <TitlesOfParts>
    <vt:vector size="34" baseType="lpstr">
      <vt:lpstr>Arial</vt:lpstr>
      <vt:lpstr>Avenir</vt:lpstr>
      <vt:lpstr>Avenir Book</vt:lpstr>
      <vt:lpstr>Avenir-Book</vt:lpstr>
      <vt:lpstr>Calibri</vt:lpstr>
      <vt:lpstr>Calibri Light</vt:lpstr>
      <vt:lpstr>Impact</vt:lpstr>
      <vt:lpstr>Office Theme</vt:lpstr>
      <vt:lpstr>1_Office Theme</vt:lpstr>
      <vt:lpstr>2_Office Theme</vt:lpstr>
      <vt:lpstr>1_Office Theme</vt:lpstr>
      <vt:lpstr>2_Office Theme</vt:lpstr>
      <vt:lpstr>Office Theme</vt:lpstr>
      <vt:lpstr>Supporting Equity-Informed Decision-Making at the Local Level DATA - APPLICATIONS - TOOLS - METHODS Dr. Aaron D. Schroeder Social &amp; Decision Analytics Division Biocomplexity Institute, University of Virginia </vt:lpstr>
      <vt:lpstr>Social Impact Data Commons</vt:lpstr>
      <vt:lpstr>Social Impact Data Commons </vt:lpstr>
      <vt:lpstr>The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Information &amp; Contacts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Social Impact Data Commons</dc:title>
  <dc:creator>Schroeder, Aaron (ads7fg)</dc:creator>
  <cp:lastModifiedBy>Schroeder, Aaron (ads7fg)</cp:lastModifiedBy>
  <cp:revision>165</cp:revision>
  <dcterms:created xsi:type="dcterms:W3CDTF">2022-09-23T08:51:03Z</dcterms:created>
  <dcterms:modified xsi:type="dcterms:W3CDTF">2026-10-06T17:53:53Z</dcterms:modified>
</cp:coreProperties>
</file>